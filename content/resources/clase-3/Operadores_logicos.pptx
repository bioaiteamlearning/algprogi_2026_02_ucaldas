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Oswald SemiBold"/>
      <p:regular r:id="rId21"/>
      <p:bold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FF767C-62E9-41DE-BEA6-8AFFFE5E26D4}">
  <a:tblStyle styleId="{5EFF767C-62E9-41DE-BEA6-8AFFFE5E26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OswaldSemiBold-regular.fntdata"/><Relationship Id="rId22" Type="http://schemas.openxmlformats.org/officeDocument/2006/relationships/font" Target="fonts/OswaldSemiBold-bold.fntdata"/><Relationship Id="rId23" Type="http://schemas.openxmlformats.org/officeDocument/2006/relationships/font" Target="fonts/Oswald-regular.fntdata"/><Relationship Id="rId24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earn.microsoft.com/es-es/dotnet/csharp/language-reference/builtin-types/built-in-types" TargetMode="Externa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336f53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277336f53e2_0_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7336f53e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277336f53e2_0_1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7336f53e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277336f53e2_0_2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7336f53e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77336f53e2_0_3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7336f53e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277336f53e2_0_48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7336f53e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Los operadores lógicos sirven para comprobar la veracidad o falsedad de enunciados, normalmente formados por más de una sentencia o comparación, suelen estar acompañados de operadores relacionales</a:t>
            </a:r>
            <a:endParaRPr/>
          </a:p>
        </p:txBody>
      </p:sp>
      <p:sp>
        <p:nvSpPr>
          <p:cNvPr id="130" name="Google Shape;130;g277336f53e2_0_59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7336f53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277336f53e2_0_73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7336f53e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277336f53e2_0_86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7336f53e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277336f53e2_0_10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7336f53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277336f53e2_0_113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7336f53e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277336f53e2_0_127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7336f53e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277336f53e2_0_14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7336f53e2_0_15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77336f53e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El operador </a:t>
            </a:r>
            <a:r>
              <a:rPr lang="es" sz="1000">
                <a:solidFill>
                  <a:srgbClr val="161616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 de desigualdad devuelve </a:t>
            </a:r>
            <a:r>
              <a:rPr lang="es" sz="1000">
                <a:solidFill>
                  <a:srgbClr val="16161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 si sus operandos no son iguales, </a:t>
            </a:r>
            <a:r>
              <a:rPr lang="es" sz="1000">
                <a:solidFill>
                  <a:srgbClr val="16161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 de lo contrario. Para los operandos de los </a:t>
            </a:r>
            <a:r>
              <a:rPr lang="es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2"/>
              </a:rPr>
              <a:t>tipos integrados</a:t>
            </a: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, la expresión </a:t>
            </a:r>
            <a:r>
              <a:rPr lang="es" sz="1000">
                <a:solidFill>
                  <a:srgbClr val="161616"/>
                </a:solidFill>
                <a:latin typeface="Courier New"/>
                <a:ea typeface="Courier New"/>
                <a:cs typeface="Courier New"/>
                <a:sym typeface="Courier New"/>
              </a:rPr>
              <a:t>x != y</a:t>
            </a:r>
            <a:r>
              <a:rPr lang="es" sz="1200">
                <a:solidFill>
                  <a:srgbClr val="161616"/>
                </a:solidFill>
                <a:highlight>
                  <a:srgbClr val="FFFFFF"/>
                </a:highlight>
              </a:rPr>
              <a:t> genera el mismo resultado que la expresión </a:t>
            </a:r>
            <a:r>
              <a:rPr lang="es" sz="1000">
                <a:solidFill>
                  <a:srgbClr val="161616"/>
                </a:solidFill>
                <a:latin typeface="Courier New"/>
                <a:ea typeface="Courier New"/>
                <a:cs typeface="Courier New"/>
                <a:sym typeface="Courier New"/>
              </a:rPr>
              <a:t>!(x == y)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7336f53e2_0_17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277336f53e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primero la solución es False por prioridad se ejecuta primero la negación y después la desigualdad al ser iguales el resultado es false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La segunda es falso también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019241" y="2404455"/>
            <a:ext cx="3105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6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93803" y="1937785"/>
            <a:ext cx="77565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734798"/>
            <a:ext cx="4307100" cy="50400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10482" l="0" r="0" t="0"/>
          <a:stretch/>
        </p:blipFill>
        <p:spPr>
          <a:xfrm>
            <a:off x="834709" y="200959"/>
            <a:ext cx="2033856" cy="49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62" name="Google Shape;62;p14"/>
          <p:cNvPicPr preferRelativeResize="0"/>
          <p:nvPr/>
        </p:nvPicPr>
        <p:blipFill rotWithShape="1">
          <a:blip r:embed="rId3">
            <a:alphaModFix/>
          </a:blip>
          <a:srcRect b="10523" l="0" r="0" t="12268"/>
          <a:stretch/>
        </p:blipFill>
        <p:spPr>
          <a:xfrm>
            <a:off x="0" y="0"/>
            <a:ext cx="902858" cy="69708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868566" y="272244"/>
            <a:ext cx="1438500" cy="424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hyperlink" Target="https://www.google.com/doodles/george-booles-200th-birthday" TargetMode="External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499246" y="4017169"/>
            <a:ext cx="5644991" cy="112633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294208"/>
            <a:ext cx="1042035" cy="3849529"/>
          </a:xfrm>
          <a:custGeom>
            <a:rect b="b" l="l" r="r" t="t"/>
            <a:pathLst>
              <a:path extrusionOk="0" h="5132705" w="1389380">
                <a:moveTo>
                  <a:pt x="0" y="0"/>
                </a:moveTo>
                <a:lnTo>
                  <a:pt x="1389061" y="0"/>
                </a:lnTo>
                <a:lnTo>
                  <a:pt x="1389061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651646" y="4163615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2190" t="0"/>
          <a:stretch/>
        </p:blipFill>
        <p:spPr>
          <a:xfrm>
            <a:off x="1416113" y="1790531"/>
            <a:ext cx="7728133" cy="15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343150" y="1096766"/>
            <a:ext cx="6800850" cy="114648"/>
          </a:xfrm>
          <a:custGeom>
            <a:rect b="b" l="l" r="r" t="t"/>
            <a:pathLst>
              <a:path extrusionOk="0" h="344805" w="9067800">
                <a:moveTo>
                  <a:pt x="0" y="0"/>
                </a:moveTo>
                <a:lnTo>
                  <a:pt x="9067799" y="0"/>
                </a:lnTo>
                <a:lnTo>
                  <a:pt x="9067799" y="344486"/>
                </a:lnTo>
                <a:lnTo>
                  <a:pt x="0" y="344486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17577" l="0" r="0" t="17297"/>
          <a:stretch/>
        </p:blipFill>
        <p:spPr>
          <a:xfrm>
            <a:off x="2650060" y="133594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834341" y="274031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755816" y="349313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499246" y="4451747"/>
            <a:ext cx="5644991" cy="69457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40568" y="4580578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37719" y="943096"/>
            <a:ext cx="83115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/>
              <a:t>Programación I - Clase 3</a:t>
            </a:r>
            <a:endParaRPr sz="4500"/>
          </a:p>
        </p:txBody>
      </p:sp>
      <p:sp>
        <p:nvSpPr>
          <p:cNvPr id="84" name="Google Shape;84;p16"/>
          <p:cNvSpPr txBox="1"/>
          <p:nvPr/>
        </p:nvSpPr>
        <p:spPr>
          <a:xfrm>
            <a:off x="714244" y="2069156"/>
            <a:ext cx="77586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12700" marR="0" rtl="0" algn="ctr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 Sebastian Piña Duran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Universidad de Caldas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703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johan.duran@ucaldas.edu.co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86250" y="154388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270531" y="294825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192006" y="370106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707250" y="1281953"/>
            <a:ext cx="1134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829181" y="2067263"/>
            <a:ext cx="5985300" cy="19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Aritméticos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Relacionales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Unarios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Jerarquía de Operadores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06293">
            <a:off x="4921048" y="1108553"/>
            <a:ext cx="3087571" cy="308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96169" y="1776300"/>
            <a:ext cx="59763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-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Son símbolos que indican una operación (función) sobre una o más variables.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-"/>
            </a:pPr>
            <a:r>
              <a:rPr b="0" i="0" lang="es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Producen un valor.</a:t>
            </a:r>
            <a:endParaRPr b="0"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rebuchet MS"/>
              <a:buChar char="-"/>
            </a:pPr>
            <a:r>
              <a:rPr b="0" i="0" lang="es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Las variables sobre las que actúa se denominan operandos.</a:t>
            </a:r>
            <a:endParaRPr b="0"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768919" y="1136475"/>
            <a:ext cx="2421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Operadores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4019" y="1681463"/>
            <a:ext cx="2243007" cy="2243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665325" y="2148235"/>
            <a:ext cx="781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4500"/>
              <a:t>Operadores Lógicos</a:t>
            </a:r>
            <a:endParaRPr sz="4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758531" y="1294200"/>
            <a:ext cx="73986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-"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Producen un resultado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Verdadero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o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Falso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Sí 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No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o </a:t>
            </a:r>
            <a:r>
              <a:rPr b="1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5375" y="2087391"/>
            <a:ext cx="6893719" cy="205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802444" y="1426697"/>
            <a:ext cx="73986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‘Y’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 ➜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872775" y="3864047"/>
            <a:ext cx="73986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operador ‘Y’ lógico (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) devuelve 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sólo si los dos operandos son 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872775" y="1303425"/>
            <a:ext cx="73986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‘Y’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 ➜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872775" y="1303425"/>
            <a:ext cx="73986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‘O’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||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||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||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||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872775" y="3864047"/>
            <a:ext cx="73986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operador lógico ‘O’ (||) devuelve el valor 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si uno o ambos operandos son 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872775" y="1303425"/>
            <a:ext cx="73986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‘O’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||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||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||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|| 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872775" y="1303425"/>
            <a:ext cx="7398600" cy="1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‘!’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!true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!false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Operadores Lógicos</a:t>
            </a:r>
            <a:endParaRPr b="0" i="0" sz="1500" u="none" cap="none" strike="noStrike">
              <a:solidFill>
                <a:srgbClr val="0038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872775" y="1303425"/>
            <a:ext cx="7398600" cy="1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‘!’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!true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!false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872775" y="3416091"/>
            <a:ext cx="73986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 operador de negación lógico (!) invierte el significado del operando.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6330919" y="2758613"/>
            <a:ext cx="2461320" cy="1808244"/>
          </a:xfrm>
          <a:prstGeom prst="cloud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Los operadores lógicos tienen su origen teórico en los inicios del siglo 19 por George Boole </a:t>
            </a:r>
            <a:endParaRPr b="0" i="0" sz="12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644944" y="897563"/>
            <a:ext cx="43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Otro operador  Lógico</a:t>
            </a:r>
            <a:endParaRPr/>
          </a:p>
        </p:txBody>
      </p:sp>
      <p:graphicFrame>
        <p:nvGraphicFramePr>
          <p:cNvPr id="236" name="Google Shape;236;p27"/>
          <p:cNvGraphicFramePr/>
          <p:nvPr/>
        </p:nvGraphicFramePr>
        <p:xfrm>
          <a:off x="1348481" y="15495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{5EFF767C-62E9-41DE-BEA6-8AFFFE5E26D4}</a:tableStyleId>
              </a:tblPr>
              <a:tblGrid>
                <a:gridCol w="2119450"/>
                <a:gridCol w="1663700"/>
                <a:gridCol w="2668725"/>
              </a:tblGrid>
              <a:tr h="53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s" sz="1700" u="none" cap="none" strike="noStrike"/>
                        <a:t>Simbolo/Operador</a:t>
                      </a:r>
                      <a:endParaRPr b="1" sz="1700" u="none" cap="none" strike="noStrike"/>
                    </a:p>
                  </a:txBody>
                  <a:tcPr marT="68575" marB="68575" marR="68575" marL="6857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s" sz="1700" u="none" cap="none" strike="noStrike"/>
                        <a:t>Lectura</a:t>
                      </a:r>
                      <a:endParaRPr b="1" sz="1700" u="none" cap="none" strike="noStrike"/>
                    </a:p>
                  </a:txBody>
                  <a:tcPr marT="68575" marB="68575" marR="68575" marL="6857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s" sz="1700" u="none" cap="none" strike="noStrike"/>
                        <a:t>Significado</a:t>
                      </a:r>
                      <a:endParaRPr b="1" sz="1700" u="none" cap="none" strike="noStrike"/>
                    </a:p>
                  </a:txBody>
                  <a:tcPr marT="68575" marB="68575" marR="68575" marL="68575" anchor="ctr">
                    <a:solidFill>
                      <a:srgbClr val="CCCCCC"/>
                    </a:solidFill>
                  </a:tcPr>
                </a:tc>
              </a:tr>
              <a:tr h="429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/>
                        <a:t>^</a:t>
                      </a:r>
                      <a:endParaRPr sz="1700" u="none" cap="none" strike="noStrike"/>
                    </a:p>
                  </a:txBody>
                  <a:tcPr marT="68575" marB="68575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/>
                        <a:t>XOR</a:t>
                      </a:r>
                      <a:endParaRPr sz="1700" u="none" cap="none" strike="noStrike"/>
                    </a:p>
                  </a:txBody>
                  <a:tcPr marT="68575" marB="68575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/>
                        <a:t>Desigualdad</a:t>
                      </a:r>
                      <a:endParaRPr sz="1700" u="none" cap="none" strike="noStrike"/>
                    </a:p>
                  </a:txBody>
                  <a:tcPr marT="68575" marB="68575" marR="68575" marL="68575" anchor="ctr"/>
                </a:tc>
              </a:tr>
            </a:tbl>
          </a:graphicData>
        </a:graphic>
      </p:graphicFrame>
      <p:sp>
        <p:nvSpPr>
          <p:cNvPr id="237" name="Google Shape;237;p27"/>
          <p:cNvSpPr txBox="1"/>
          <p:nvPr/>
        </p:nvSpPr>
        <p:spPr>
          <a:xfrm>
            <a:off x="311438" y="2654588"/>
            <a:ext cx="49344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AFAA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Ejemplos Operador ‘XOR’</a:t>
            </a:r>
            <a:endParaRPr b="0" i="0" sz="2100" u="none" cap="none" strike="noStrike">
              <a:solidFill>
                <a:srgbClr val="00AFA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^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true ➜ false</a:t>
            </a:r>
            <a:endParaRPr b="0" i="0" sz="2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^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false ➜ true</a:t>
            </a:r>
            <a:endParaRPr b="0" i="0" sz="2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^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true ➜ true</a:t>
            </a:r>
            <a:endParaRPr b="0" i="0" sz="2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^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false ➜ false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275" y="3913894"/>
            <a:ext cx="1118851" cy="111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6542194" y="4148963"/>
            <a:ext cx="225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Bicentenario de George Boole (google.com)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0" y="0"/>
            <a:ext cx="4447500" cy="8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5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/>
          <p:nvPr/>
        </p:nvSpPr>
        <p:spPr>
          <a:xfrm>
            <a:off x="685125" y="954131"/>
            <a:ext cx="3571020" cy="1225584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type="title"/>
          </p:nvPr>
        </p:nvSpPr>
        <p:spPr>
          <a:xfrm>
            <a:off x="1150690" y="1313243"/>
            <a:ext cx="31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Ahora te toca a tí</a:t>
            </a:r>
            <a:endParaRPr/>
          </a:p>
        </p:txBody>
      </p:sp>
      <p:pic>
        <p:nvPicPr>
          <p:cNvPr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56" y="1851619"/>
            <a:ext cx="1337624" cy="133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 txBox="1"/>
          <p:nvPr/>
        </p:nvSpPr>
        <p:spPr>
          <a:xfrm>
            <a:off x="1790175" y="2595600"/>
            <a:ext cx="5193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1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^ !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!(false </a:t>
            </a:r>
            <a:r>
              <a:rPr b="1" i="0" lang="e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true)</a:t>
            </a:r>
            <a:r>
              <a:rPr b="1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true </a:t>
            </a:r>
            <a:r>
              <a:rPr b="0" i="0" lang="e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➜</a:t>
            </a:r>
            <a:r>
              <a:rPr b="0" i="0" lang="e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7605" y="122213"/>
            <a:ext cx="1337624" cy="133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 txBox="1"/>
          <p:nvPr/>
        </p:nvSpPr>
        <p:spPr>
          <a:xfrm>
            <a:off x="7375650" y="1070906"/>
            <a:ext cx="163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Tienen 10 min</a:t>
            </a:r>
            <a:endParaRPr b="0" i="0" sz="11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0" y="0"/>
            <a:ext cx="4426500" cy="84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8"/>
          <p:cNvPicPr preferRelativeResize="0"/>
          <p:nvPr/>
        </p:nvPicPr>
        <p:blipFill rotWithShape="1">
          <a:blip r:embed="rId5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