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Oswald SemiBold"/>
      <p:regular r:id="rId27"/>
      <p:bold r:id="rId28"/>
    </p:embeddedFont>
    <p:embeddedFont>
      <p:font typeface="Oswald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OswaldSemiBold-regular.fntdata"/><Relationship Id="rId28" Type="http://schemas.openxmlformats.org/officeDocument/2006/relationships/font" Target="fonts/OswaldSemiBold-bold.fntdata"/><Relationship Id="rId29" Type="http://schemas.openxmlformats.org/officeDocument/2006/relationships/font" Target="fonts/Oswald-regular.fntdata"/><Relationship Id="rId30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1c5b8a3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2a1c5b8a36b_0_0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1c5b8a36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" name="Google Shape;78;g2a1c5b8a36b_0_11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1c5b8a36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2a1c5b8a36b_0_22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1c5b8a36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2a1c5b8a36b_0_3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1c5b8a36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2a1c5b8a36b_0_46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1c5b8a36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2a1c5b8a36b_0_62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a1c5b8a36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2a1c5b8a36b_0_8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a1c5b8a36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2a1c5b8a36b_0_103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a1c5b8a36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2a1c5b8a36b_0_124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1c5b8a36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2a1c5b8a36b_0_138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a1c5b8a36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2a1c5b8a36b_0_15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1c5b8a36b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g2a1c5b8a36b_0_172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a1c5b8a36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2a1c5b8a36b_0_189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a1c5b8a36b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2a1c5b8a36b_0_207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a1c5b8a36b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2a1c5b8a36b_0_225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a1c5b8a36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2a1c5b8a36b_0_236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a1c5b8a36b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2a1c5b8a36b_0_249:notes"/>
          <p:cNvSpPr/>
          <p:nvPr>
            <p:ph idx="2" type="sldImg"/>
          </p:nvPr>
        </p:nvSpPr>
        <p:spPr>
          <a:xfrm>
            <a:off x="2143125" y="685800"/>
            <a:ext cx="2572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3019241" y="2404455"/>
            <a:ext cx="31056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600">
                <a:solidFill>
                  <a:srgbClr val="00AE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93803" y="1937785"/>
            <a:ext cx="7756500" cy="29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888888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734798"/>
            <a:ext cx="4307100" cy="50400"/>
          </a:xfrm>
          <a:prstGeom prst="rect">
            <a:avLst/>
          </a:prstGeom>
          <a:solidFill>
            <a:srgbClr val="FDD90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2">
            <a:alphaModFix/>
          </a:blip>
          <a:srcRect b="10482" l="0" r="0" t="0"/>
          <a:stretch/>
        </p:blipFill>
        <p:spPr>
          <a:xfrm>
            <a:off x="834709" y="200959"/>
            <a:ext cx="2033856" cy="498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TRA – Observatorio de Transparencia Umanizales" id="62" name="Google Shape;62;p14"/>
          <p:cNvPicPr preferRelativeResize="0"/>
          <p:nvPr/>
        </p:nvPicPr>
        <p:blipFill rotWithShape="1">
          <a:blip r:embed="rId3">
            <a:alphaModFix/>
          </a:blip>
          <a:srcRect b="10523" l="0" r="0" t="12268"/>
          <a:stretch/>
        </p:blipFill>
        <p:spPr>
          <a:xfrm>
            <a:off x="0" y="0"/>
            <a:ext cx="902858" cy="69708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2868566" y="272244"/>
            <a:ext cx="1438500" cy="424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2.png"/><Relationship Id="rId7" Type="http://schemas.openxmlformats.org/officeDocument/2006/relationships/image" Target="../media/image10.png"/><Relationship Id="rId8" Type="http://schemas.openxmlformats.org/officeDocument/2006/relationships/image" Target="../media/image9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11.png"/><Relationship Id="rId7" Type="http://schemas.openxmlformats.org/officeDocument/2006/relationships/image" Target="../media/image30.png"/><Relationship Id="rId8" Type="http://schemas.openxmlformats.org/officeDocument/2006/relationships/image" Target="../media/image19.png"/><Relationship Id="rId9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3499246" y="4017169"/>
            <a:ext cx="5644991" cy="1126331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1294208"/>
            <a:ext cx="1042035" cy="3849529"/>
          </a:xfrm>
          <a:custGeom>
            <a:rect b="b" l="l" r="r" t="t"/>
            <a:pathLst>
              <a:path extrusionOk="0" h="5132705" w="1389380">
                <a:moveTo>
                  <a:pt x="0" y="0"/>
                </a:moveTo>
                <a:lnTo>
                  <a:pt x="1389061" y="0"/>
                </a:lnTo>
                <a:lnTo>
                  <a:pt x="1389061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651646" y="4163615"/>
            <a:ext cx="289559" cy="288131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2190" t="0"/>
          <a:stretch/>
        </p:blipFill>
        <p:spPr>
          <a:xfrm>
            <a:off x="1416113" y="1790531"/>
            <a:ext cx="7728133" cy="156243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/>
          <p:nvPr/>
        </p:nvSpPr>
        <p:spPr>
          <a:xfrm>
            <a:off x="2343150" y="1096766"/>
            <a:ext cx="6800850" cy="114648"/>
          </a:xfrm>
          <a:custGeom>
            <a:rect b="b" l="l" r="r" t="t"/>
            <a:pathLst>
              <a:path extrusionOk="0" h="344805" w="9067800">
                <a:moveTo>
                  <a:pt x="0" y="0"/>
                </a:moveTo>
                <a:lnTo>
                  <a:pt x="9067799" y="0"/>
                </a:lnTo>
                <a:lnTo>
                  <a:pt x="9067799" y="344486"/>
                </a:lnTo>
                <a:lnTo>
                  <a:pt x="0" y="344486"/>
                </a:lnTo>
                <a:lnTo>
                  <a:pt x="0" y="0"/>
                </a:lnTo>
                <a:close/>
              </a:path>
            </a:pathLst>
          </a:cu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4">
            <a:alphaModFix/>
          </a:blip>
          <a:srcRect b="17577" l="0" r="0" t="17297"/>
          <a:stretch/>
        </p:blipFill>
        <p:spPr>
          <a:xfrm>
            <a:off x="2650060" y="133594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4834341" y="274031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755816" y="349313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499246" y="4451747"/>
            <a:ext cx="5644991" cy="694571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640568" y="4580578"/>
            <a:ext cx="289559" cy="288131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 txBox="1"/>
          <p:nvPr>
            <p:ph type="title"/>
          </p:nvPr>
        </p:nvSpPr>
        <p:spPr>
          <a:xfrm>
            <a:off x="1236356" y="1123894"/>
            <a:ext cx="6714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" sz="4500">
                <a:latin typeface="Roboto"/>
                <a:ea typeface="Roboto"/>
                <a:cs typeface="Roboto"/>
                <a:sym typeface="Roboto"/>
              </a:rPr>
              <a:t>Programación I - Clase 10</a:t>
            </a:r>
            <a:endParaRPr b="1" sz="4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14244" y="2240606"/>
            <a:ext cx="7758600" cy="16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75">
            <a:spAutoFit/>
          </a:bodyPr>
          <a:lstStyle/>
          <a:p>
            <a:pPr indent="0" lvl="0" marL="12700" marR="0" rtl="0" algn="ctr">
              <a:lnSpc>
                <a:spcPct val="10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Johan Sebastian Piña Duran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0" lang="e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Universidad de Caldas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842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marR="0" rtl="0" algn="ctr">
              <a:lnSpc>
                <a:spcPct val="703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i="0" lang="es" sz="2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johan.duran@ucaldas.edu.co</a:t>
            </a:r>
            <a:endParaRPr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5" name="Google Shape;85;p16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86250" y="154388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2270531" y="294825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192006" y="370106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877725" y="1415363"/>
            <a:ext cx="23589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" sz="2800">
                <a:latin typeface="Roboto"/>
                <a:ea typeface="Roboto"/>
                <a:cs typeface="Roboto"/>
                <a:sym typeface="Roboto"/>
              </a:rPr>
              <a:t>Agenda</a:t>
            </a:r>
            <a:endParaRPr b="1" sz="2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549581" y="2085938"/>
            <a:ext cx="49713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984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oboto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Introducción a </a:t>
            </a:r>
            <a:r>
              <a:rPr lang="es" sz="2100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0" i="0" lang="e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rreglos </a:t>
            </a:r>
            <a:r>
              <a:rPr lang="es" sz="2100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0" i="0" lang="e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idimensionales</a:t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oboto"/>
              <a:buAutoNum type="arabicPeriod"/>
            </a:pPr>
            <a:r>
              <a:rPr b="0" i="0" lang="e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Conceptos </a:t>
            </a:r>
            <a:r>
              <a:rPr lang="es" sz="2100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0" i="0" lang="e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ásicos</a:t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Roboto"/>
              <a:buAutoNum type="arabicPeriod"/>
            </a:pPr>
            <a:r>
              <a:rPr b="0" i="0" lang="es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Sintaxis y Declaración</a:t>
            </a:r>
            <a:endParaRPr b="0" i="0" sz="21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AutoNum type="arabicPeriod"/>
            </a:pPr>
            <a:r>
              <a:rPr b="0" i="0" lang="es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Ejemplos </a:t>
            </a:r>
            <a:r>
              <a:rPr lang="es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Matrices</a:t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7912" y="1415363"/>
            <a:ext cx="2257988" cy="2257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1280344" y="1909481"/>
            <a:ext cx="6680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" sz="4500">
                <a:latin typeface="Roboto"/>
                <a:ea typeface="Roboto"/>
                <a:cs typeface="Roboto"/>
                <a:sym typeface="Roboto"/>
              </a:rPr>
              <a:t>Introducción a Arreglos Bidimensionales</a:t>
            </a:r>
            <a:endParaRPr b="1" sz="4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822431" y="1169250"/>
            <a:ext cx="4890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¿Qué son los arreglos Bidimensionales?</a:t>
            </a:r>
            <a:endParaRPr b="1" i="0" sz="19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822431" y="1781184"/>
            <a:ext cx="7754700" cy="17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 arreglo bidimensional es una estructura que almacena datos en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dos dimensiones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generalmente en filas y columnas.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 término “arreglo bidimensional” se utiliza a menudo como sinónimo de matrices. 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muchos lenguajes de programación, como Python, C o Java, puedes implementar matrices utilizando arreglos bidimensionales.</a:t>
            </a:r>
            <a:endParaRPr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144" y="3534459"/>
            <a:ext cx="4543327" cy="1242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/>
          <p:nvPr/>
        </p:nvSpPr>
        <p:spPr>
          <a:xfrm>
            <a:off x="5504906" y="3312525"/>
            <a:ext cx="2304072" cy="1369116"/>
          </a:xfrm>
          <a:prstGeom prst="cloud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Roboto"/>
                <a:ea typeface="Roboto"/>
                <a:cs typeface="Roboto"/>
                <a:sym typeface="Roboto"/>
              </a:rPr>
              <a:t>Los códigos QR son matrices que mediante la representación de blanco y negro (0 y 1) muestran información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20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592669" y="1039547"/>
            <a:ext cx="726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¿</a:t>
            </a:r>
            <a:r>
              <a:rPr b="1" lang="es" sz="1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En dónde</a:t>
            </a: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s" sz="1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encontramos</a:t>
            </a: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 arreglos Bidimensionales?</a:t>
            </a:r>
            <a:endParaRPr b="1" i="0" sz="19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5206" y="3613088"/>
            <a:ext cx="1369143" cy="1369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3581" y="4009556"/>
            <a:ext cx="1004813" cy="1004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363" y="1838438"/>
            <a:ext cx="3571744" cy="1545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03364" y="1611394"/>
            <a:ext cx="3297093" cy="1655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7957" y="3755392"/>
            <a:ext cx="2030475" cy="1084537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0"/>
          <p:cNvSpPr txBox="1"/>
          <p:nvPr/>
        </p:nvSpPr>
        <p:spPr>
          <a:xfrm>
            <a:off x="758138" y="1503638"/>
            <a:ext cx="112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Imagenes</a:t>
            </a:r>
            <a:endParaRPr b="1" i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7185000" y="1294200"/>
            <a:ext cx="112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Tablas</a:t>
            </a:r>
            <a:endParaRPr b="1" i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3581381" y="3312525"/>
            <a:ext cx="1122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Código QR</a:t>
            </a:r>
            <a:endParaRPr b="1" i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486525" y="1106635"/>
            <a:ext cx="481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s" sz="20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Arreglos</a:t>
            </a:r>
            <a:r>
              <a:rPr b="1" i="0" lang="es" sz="20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 vs </a:t>
            </a:r>
            <a:r>
              <a:rPr b="1" lang="es" sz="20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Matrices</a:t>
            </a:r>
            <a:endParaRPr b="1" i="0" sz="20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869344" y="1675491"/>
            <a:ext cx="2811600" cy="22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</a:t>
            </a:r>
            <a:endParaRPr b="1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Una dimensión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Datos de un solo tipo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s" sz="1500">
                <a:solidFill>
                  <a:srgbClr val="00AFAA"/>
                </a:solidFill>
                <a:latin typeface="Roboto"/>
                <a:ea typeface="Roboto"/>
                <a:cs typeface="Roboto"/>
                <a:sym typeface="Roboto"/>
              </a:rPr>
              <a:t>Operaciones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como suma, resta, multiplicación por un escalar, producto punto y longitud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s" sz="1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Datos secuenciales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5662369" y="1675491"/>
            <a:ext cx="28116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Matriz</a:t>
            </a:r>
            <a:endParaRPr b="1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Dos dimensiones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Datos de un solo tipo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lang="es" sz="1500">
                <a:solidFill>
                  <a:srgbClr val="00AFAA"/>
                </a:solidFill>
                <a:latin typeface="Roboto"/>
                <a:ea typeface="Roboto"/>
                <a:cs typeface="Roboto"/>
                <a:sym typeface="Roboto"/>
              </a:rPr>
              <a:t>Operaciones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como suma, resta, multiplicación por un escalar, multiplicación por matrices, transposición, cálculo de determinantes e inversión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</a:t>
            </a:r>
            <a:r>
              <a:rPr b="1" lang="es" sz="15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Representación de imágenes</a:t>
            </a:r>
            <a:endParaRPr b="1" sz="1500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• Relación entre datos</a:t>
            </a:r>
            <a:endParaRPr sz="1500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4166" y="2343101"/>
            <a:ext cx="1091607" cy="109160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2544506" y="4507200"/>
            <a:ext cx="389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Estructuras de datos </a:t>
            </a:r>
            <a:r>
              <a:rPr b="1" lang="es" sz="1600">
                <a:latin typeface="Roboto"/>
                <a:ea typeface="Roboto"/>
                <a:cs typeface="Roboto"/>
                <a:sym typeface="Roboto"/>
              </a:rPr>
              <a:t>estáticas</a:t>
            </a:r>
            <a:endParaRPr b="1" i="0" sz="16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3984" y="504471"/>
            <a:ext cx="961912" cy="96191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1704488" y="1871569"/>
            <a:ext cx="4647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</a:t>
            </a:r>
            <a:r>
              <a:rPr b="1"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</a:t>
            </a: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las matrices son estructuras homogéneas, lo que significa que todos sus elementos deben ser del mismo tipo.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649575" y="1160025"/>
            <a:ext cx="481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s" sz="20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Matrices en Java y Python</a:t>
            </a:r>
            <a:endParaRPr b="1" i="0" sz="20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8" name="Google Shape;188;p22"/>
          <p:cNvPicPr preferRelativeResize="0"/>
          <p:nvPr/>
        </p:nvPicPr>
        <p:blipFill rotWithShape="1">
          <a:blip r:embed="rId5">
            <a:alphaModFix/>
          </a:blip>
          <a:srcRect b="10307" l="2975" r="4026" t="12311"/>
          <a:stretch/>
        </p:blipFill>
        <p:spPr>
          <a:xfrm>
            <a:off x="439538" y="3834844"/>
            <a:ext cx="1356264" cy="50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066" y="1812263"/>
            <a:ext cx="803199" cy="78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9106" y="3098678"/>
            <a:ext cx="577124" cy="57559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Introducción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674806" y="3005550"/>
            <a:ext cx="46767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 </a:t>
            </a:r>
            <a:r>
              <a:rPr b="1"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Python </a:t>
            </a: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 la biblioteca NumPy, es posible tener matrices que contengan diferentes tipos de datos. Estas matrices se denominan “</a:t>
            </a:r>
            <a:r>
              <a:rPr b="1"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matrices heterogéneas</a:t>
            </a: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 o “</a:t>
            </a:r>
            <a:r>
              <a:rPr b="1"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matrices estructuradas</a:t>
            </a: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”.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62641" y="1587900"/>
            <a:ext cx="2044596" cy="1148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62644" y="2916169"/>
            <a:ext cx="2044594" cy="114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23"/>
          <p:cNvPicPr preferRelativeResize="0"/>
          <p:nvPr/>
        </p:nvPicPr>
        <p:blipFill rotWithShape="1">
          <a:blip r:embed="rId3">
            <a:alphaModFix/>
          </a:blip>
          <a:srcRect b="17577" l="0" r="0" t="17297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0387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>
            <p:ph type="title"/>
          </p:nvPr>
        </p:nvSpPr>
        <p:spPr>
          <a:xfrm>
            <a:off x="1231763" y="2052516"/>
            <a:ext cx="6680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" sz="4500"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1" i="1" sz="2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4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24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4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542231" y="1120200"/>
            <a:ext cx="33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Elementos de un</a:t>
            </a:r>
            <a:r>
              <a:rPr b="1" lang="es" sz="1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 Matriz</a:t>
            </a:r>
            <a:endParaRPr b="1" i="0" sz="19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42231" y="1689619"/>
            <a:ext cx="4067700" cy="6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Filas</a:t>
            </a:r>
            <a:r>
              <a:rPr b="1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serie de elementos dispuestos horizontalmente.</a:t>
            </a:r>
            <a:endParaRPr b="1" i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6633206" y="1008900"/>
            <a:ext cx="12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Matriz A</a:t>
            </a:r>
            <a:endParaRPr b="1" i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056" y="2208813"/>
            <a:ext cx="4306818" cy="18671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25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5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542231" y="1120200"/>
            <a:ext cx="33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Elementos de un</a:t>
            </a:r>
            <a:r>
              <a:rPr b="1" lang="es" sz="1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 Matriz</a:t>
            </a:r>
            <a:endParaRPr b="1" i="0" sz="19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5"/>
          <p:cNvSpPr txBox="1"/>
          <p:nvPr/>
        </p:nvSpPr>
        <p:spPr>
          <a:xfrm>
            <a:off x="542231" y="1689619"/>
            <a:ext cx="4067700" cy="13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Filas</a:t>
            </a:r>
            <a:r>
              <a:rPr b="1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serie de elementos dispuestos horizontalmente.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Columnas: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serie de elementos dispuestos verticalmente.</a:t>
            </a:r>
            <a:endParaRPr b="1" i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25"/>
          <p:cNvSpPr txBox="1"/>
          <p:nvPr/>
        </p:nvSpPr>
        <p:spPr>
          <a:xfrm>
            <a:off x="6633206" y="1008900"/>
            <a:ext cx="12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Matriz A</a:t>
            </a:r>
            <a:endParaRPr b="1" i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6" name="Google Shape;2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656" y="1708425"/>
            <a:ext cx="4305621" cy="2351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26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542231" y="1120200"/>
            <a:ext cx="33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Elementos de un</a:t>
            </a:r>
            <a:r>
              <a:rPr b="1" lang="es" sz="1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 Matriz</a:t>
            </a:r>
            <a:endParaRPr b="1" i="0" sz="19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6"/>
          <p:cNvSpPr txBox="1"/>
          <p:nvPr/>
        </p:nvSpPr>
        <p:spPr>
          <a:xfrm>
            <a:off x="542231" y="1689619"/>
            <a:ext cx="40677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Filas</a:t>
            </a:r>
            <a:r>
              <a:rPr b="1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serie de elementos dispuestos horizontalmente.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Columnas: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serie de elementos dispuestos verticalmente.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Indices: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referente a cada fila y columna de la matriz. Cada posición tiene una pareja de índices </a:t>
            </a:r>
            <a:r>
              <a:rPr b="1" lang="es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[fil][col]</a:t>
            </a:r>
            <a:endParaRPr b="1"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Cada fila y columna tiene un número de índice que indica su posición horizontal y vertical en la matriz.</a:t>
            </a:r>
            <a:endParaRPr b="1" i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6"/>
          <p:cNvSpPr txBox="1"/>
          <p:nvPr/>
        </p:nvSpPr>
        <p:spPr>
          <a:xfrm>
            <a:off x="6633206" y="1008900"/>
            <a:ext cx="12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Matriz A</a:t>
            </a:r>
            <a:endParaRPr b="1" i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4" name="Google Shape;26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656" y="1714641"/>
            <a:ext cx="4305621" cy="2339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27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7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" name="Google Shape;278;p27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7"/>
          <p:cNvSpPr txBox="1"/>
          <p:nvPr/>
        </p:nvSpPr>
        <p:spPr>
          <a:xfrm>
            <a:off x="542231" y="1063050"/>
            <a:ext cx="334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Elementos de un</a:t>
            </a:r>
            <a:r>
              <a:rPr b="1" lang="es" sz="1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a Matriz</a:t>
            </a:r>
            <a:endParaRPr b="1" i="0" sz="19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542231" y="1632469"/>
            <a:ext cx="7712700" cy="10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Posición y Tamaño: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la matriz contiene elementos cuya posición está marcada por A(mxn) donde m es la cantidad de filas y n la cantidad de columnas.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 = número de filas,	 n = número de columnas</a:t>
            </a:r>
            <a:endParaRPr b="1" i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27"/>
          <p:cNvSpPr txBox="1"/>
          <p:nvPr/>
        </p:nvSpPr>
        <p:spPr>
          <a:xfrm>
            <a:off x="1272825" y="3117206"/>
            <a:ext cx="113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Matriz A</a:t>
            </a:r>
            <a:endParaRPr b="1" i="1"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2" name="Google Shape;282;p27"/>
          <p:cNvPicPr preferRelativeResize="0"/>
          <p:nvPr/>
        </p:nvPicPr>
        <p:blipFill rotWithShape="1">
          <a:blip r:embed="rId4">
            <a:alphaModFix/>
          </a:blip>
          <a:srcRect b="9329" l="0" r="0" t="0"/>
          <a:stretch/>
        </p:blipFill>
        <p:spPr>
          <a:xfrm>
            <a:off x="3017194" y="2738400"/>
            <a:ext cx="3419439" cy="225789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749972" y="3668100"/>
            <a:ext cx="16596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 filas = 2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# columnas = 4</a:t>
            </a:r>
            <a:endParaRPr sz="1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8"/>
          <p:cNvSpPr/>
          <p:nvPr/>
        </p:nvSpPr>
        <p:spPr>
          <a:xfrm>
            <a:off x="380288" y="4614150"/>
            <a:ext cx="1134300" cy="219600"/>
          </a:xfrm>
          <a:prstGeom prst="ellipse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8"/>
          <p:cNvSpPr/>
          <p:nvPr/>
        </p:nvSpPr>
        <p:spPr>
          <a:xfrm>
            <a:off x="6529425" y="1502119"/>
            <a:ext cx="2485500" cy="2697900"/>
          </a:xfrm>
          <a:prstGeom prst="roundRect">
            <a:avLst>
              <a:gd fmla="val 7213" name="adj"/>
            </a:avLst>
          </a:prstGeom>
          <a:solidFill>
            <a:srgbClr val="A4C2F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8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6888806" y="4742270"/>
            <a:ext cx="2257996" cy="401725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8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8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296" name="Google Shape;296;p28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8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Sintaxis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28"/>
          <p:cNvSpPr/>
          <p:nvPr/>
        </p:nvSpPr>
        <p:spPr>
          <a:xfrm>
            <a:off x="6965655" y="4833749"/>
            <a:ext cx="219100" cy="219940"/>
          </a:xfrm>
          <a:custGeom>
            <a:rect b="b" l="l" r="r" t="t"/>
            <a:pathLst>
              <a:path extrusionOk="0" h="384175" w="386079">
                <a:moveTo>
                  <a:pt x="0" y="0"/>
                </a:moveTo>
                <a:lnTo>
                  <a:pt x="385762" y="0"/>
                </a:lnTo>
                <a:lnTo>
                  <a:pt x="385762" y="384174"/>
                </a:lnTo>
                <a:lnTo>
                  <a:pt x="0" y="38417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 txBox="1"/>
          <p:nvPr/>
        </p:nvSpPr>
        <p:spPr>
          <a:xfrm>
            <a:off x="6570319" y="1562006"/>
            <a:ext cx="2381100" cy="24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Completa la siguiente información:</a:t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4000" lvl="0" marL="3429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 (# filas)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40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 (# columnas)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40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Cantidad de posiciones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40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Pareja de índices de los números en rojo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540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es" sz="1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Fila y columna de los números en rojo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1" name="Google Shape;30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547" y="3693994"/>
            <a:ext cx="1048275" cy="104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950" y="1019325"/>
            <a:ext cx="6129469" cy="366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9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29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9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9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 txBox="1"/>
          <p:nvPr/>
        </p:nvSpPr>
        <p:spPr>
          <a:xfrm>
            <a:off x="735713" y="1185009"/>
            <a:ext cx="74559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60350" lvl="0" marL="34290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una matriz tiene un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 de filas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igual a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entonces sus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índices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(lado izquierdo)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serán los enteros {0, 1, … , m-2, m-1}.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0350" lvl="0" marL="342900" rtl="0" algn="just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una matriz tiene un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 de columnas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igual a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entonces sus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índices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(lado derecho) serán los enteros {0, 1, … , n-2, n-1}.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0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30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23" name="Google Shape;323;p30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0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0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0"/>
          <p:cNvSpPr txBox="1"/>
          <p:nvPr/>
        </p:nvSpPr>
        <p:spPr>
          <a:xfrm>
            <a:off x="735713" y="1185009"/>
            <a:ext cx="74559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60350" lvl="0" marL="34290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una matriz tiene un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 de filas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igual a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entonces sus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índices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(lado izquierdo)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serán los enteros {0, 1, … , m-2, m-1}.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0350" lvl="0" marL="342900" rtl="0" algn="just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 una matriz tiene un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 de columnas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igual a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entonces sus </a:t>
            </a:r>
            <a:r>
              <a:rPr b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índices </a:t>
            </a:r>
            <a:r>
              <a:rPr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(lado derecho) serán los enteros {0, 1, … , n-2, n-1}.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7" name="Google Shape;32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7181" y="2561700"/>
            <a:ext cx="1886662" cy="244231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 txBox="1"/>
          <p:nvPr/>
        </p:nvSpPr>
        <p:spPr>
          <a:xfrm>
            <a:off x="3802069" y="2628019"/>
            <a:ext cx="4714800" cy="2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(m x n) =</a:t>
            </a:r>
            <a:r>
              <a:rPr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s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(4 x 3)</a:t>
            </a:r>
            <a:endParaRPr i="1" sz="15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Indices de filas = </a:t>
            </a:r>
            <a:r>
              <a:rPr i="1" lang="es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{0, 1, 2, 3}</a:t>
            </a:r>
            <a:endParaRPr i="1" sz="15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110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Indices de columnas = </a:t>
            </a:r>
            <a:r>
              <a:rPr i="1" lang="es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{0, 1, 2}</a:t>
            </a:r>
            <a:endParaRPr i="1" sz="15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110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Cantidad de elementos/posiciones = </a:t>
            </a:r>
            <a:r>
              <a:rPr i="1" lang="es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12</a:t>
            </a:r>
            <a:endParaRPr i="1" sz="15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110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Número/cantidad de filas =</a:t>
            </a:r>
            <a:r>
              <a:rPr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s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s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{Fil. 1, …, Fil. 4}</a:t>
            </a:r>
            <a:endParaRPr i="1" sz="15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1100"/>
              </a:spcBef>
              <a:spcAft>
                <a:spcPts val="0"/>
              </a:spcAft>
              <a:buNone/>
            </a:pP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Número/cantidad de columnas =</a:t>
            </a:r>
            <a:r>
              <a:rPr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s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=</a:t>
            </a:r>
            <a:r>
              <a:rPr i="1" lang="es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s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{Col. 1, …, Col. 3}</a:t>
            </a:r>
            <a:endParaRPr i="1" sz="15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/>
          <p:nvPr/>
        </p:nvSpPr>
        <p:spPr>
          <a:xfrm>
            <a:off x="0" y="1294208"/>
            <a:ext cx="182403" cy="3849529"/>
          </a:xfrm>
          <a:custGeom>
            <a:rect b="b" l="l" r="r" t="t"/>
            <a:pathLst>
              <a:path extrusionOk="0" h="5132705" w="243204">
                <a:moveTo>
                  <a:pt x="0" y="0"/>
                </a:moveTo>
                <a:lnTo>
                  <a:pt x="242886" y="0"/>
                </a:lnTo>
                <a:lnTo>
                  <a:pt x="242886" y="5132387"/>
                </a:lnTo>
                <a:lnTo>
                  <a:pt x="0" y="5132387"/>
                </a:lnTo>
                <a:lnTo>
                  <a:pt x="0" y="0"/>
                </a:lnTo>
                <a:close/>
              </a:path>
            </a:pathLst>
          </a:custGeom>
          <a:solidFill>
            <a:srgbClr val="64CBC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4" name="Google Shape;334;p31"/>
          <p:cNvPicPr preferRelativeResize="0"/>
          <p:nvPr/>
        </p:nvPicPr>
        <p:blipFill rotWithShape="1">
          <a:blip r:embed="rId3">
            <a:alphaModFix/>
          </a:blip>
          <a:srcRect b="17582" l="0" r="0" t="17296"/>
          <a:stretch/>
        </p:blipFill>
        <p:spPr>
          <a:xfrm>
            <a:off x="0" y="0"/>
            <a:ext cx="2119369" cy="7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1"/>
          <p:cNvSpPr/>
          <p:nvPr/>
        </p:nvSpPr>
        <p:spPr>
          <a:xfrm>
            <a:off x="0" y="845850"/>
            <a:ext cx="2639400" cy="52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2184150" y="130106"/>
            <a:ext cx="1659600" cy="50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003870"/>
                </a:solidFill>
                <a:latin typeface="Oswald"/>
                <a:ea typeface="Oswald"/>
                <a:cs typeface="Oswald"/>
                <a:sym typeface="Oswald"/>
              </a:rPr>
              <a:t>INGENIERÍA DE </a:t>
            </a:r>
            <a:r>
              <a:rPr b="0" i="0" lang="es" sz="1200" u="none" cap="none" strike="noStrike">
                <a:solidFill>
                  <a:srgbClr val="003870"/>
                </a:solidFill>
                <a:latin typeface="Oswald SemiBold"/>
                <a:ea typeface="Oswald SemiBold"/>
                <a:cs typeface="Oswald SemiBold"/>
                <a:sym typeface="Oswald SemiBold"/>
              </a:rPr>
              <a:t>SISTEMAS Y COMPUTACIÓN</a:t>
            </a:r>
            <a:endParaRPr b="0" i="0" sz="1200" u="none" cap="none" strike="noStrike">
              <a:solidFill>
                <a:srgbClr val="003870"/>
              </a:solidFill>
              <a:latin typeface="Oswald SemiBold"/>
              <a:ea typeface="Oswald SemiBold"/>
              <a:cs typeface="Oswald SemiBold"/>
              <a:sym typeface="Oswald SemiBold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2105625" y="205388"/>
            <a:ext cx="21300" cy="339300"/>
          </a:xfrm>
          <a:prstGeom prst="rect">
            <a:avLst/>
          </a:prstGeom>
          <a:solidFill>
            <a:srgbClr val="003870"/>
          </a:solidFill>
          <a:ln cap="flat" cmpd="sng" w="9525">
            <a:solidFill>
              <a:srgbClr val="0038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5121938" y="-2"/>
            <a:ext cx="4026760" cy="382953"/>
          </a:xfrm>
          <a:custGeom>
            <a:rect b="b" l="l" r="r" t="t"/>
            <a:pathLst>
              <a:path extrusionOk="0" h="1501775" w="7526655">
                <a:moveTo>
                  <a:pt x="0" y="0"/>
                </a:moveTo>
                <a:lnTo>
                  <a:pt x="7526337" y="0"/>
                </a:lnTo>
                <a:lnTo>
                  <a:pt x="7526337" y="1501774"/>
                </a:lnTo>
                <a:lnTo>
                  <a:pt x="0" y="1501774"/>
                </a:lnTo>
                <a:lnTo>
                  <a:pt x="0" y="0"/>
                </a:lnTo>
                <a:close/>
              </a:path>
            </a:pathLst>
          </a:custGeom>
          <a:solidFill>
            <a:srgbClr val="00AEA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5164275" y="0"/>
            <a:ext cx="396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i="0" lang="es" sz="1500" u="none" cap="none" strike="noStrike">
                <a:solidFill>
                  <a:srgbClr val="003870"/>
                </a:solidFill>
                <a:latin typeface="Roboto"/>
                <a:ea typeface="Roboto"/>
                <a:cs typeface="Roboto"/>
                <a:sym typeface="Roboto"/>
              </a:rPr>
              <a:t>Conceptos básicos</a:t>
            </a:r>
            <a:endParaRPr b="0" i="0" sz="1500" u="none" cap="none" strike="noStrike">
              <a:solidFill>
                <a:srgbClr val="00387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529331" y="1349053"/>
            <a:ext cx="3760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lang="es" sz="1900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Recordando d</a:t>
            </a:r>
            <a:r>
              <a:rPr b="1" i="0" lang="es" sz="1900" u="none" cap="none" strike="noStrike">
                <a:solidFill>
                  <a:srgbClr val="00AEAA"/>
                </a:solidFill>
                <a:latin typeface="Roboto"/>
                <a:ea typeface="Roboto"/>
                <a:cs typeface="Roboto"/>
                <a:sym typeface="Roboto"/>
              </a:rPr>
              <a:t>imensiones en los Arreglos</a:t>
            </a:r>
            <a:endParaRPr b="1" i="0" sz="1900" u="none" cap="none" strike="noStrike">
              <a:solidFill>
                <a:srgbClr val="00AEA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529331" y="2400806"/>
            <a:ext cx="40221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260350" lvl="0" marL="342900" marR="0" rtl="0" algn="just">
              <a:lnSpc>
                <a:spcPct val="2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Arreglo, vector, matriz unidimensional</a:t>
            </a:r>
            <a:endParaRPr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035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Font typeface="Roboto"/>
              <a:buChar char="●"/>
            </a:pPr>
            <a:r>
              <a:rPr b="1" i="1" lang="es" sz="15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Arreglo bidimensional, matriz 2D</a:t>
            </a:r>
            <a:endParaRPr b="1" i="1" sz="15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035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 tridimensional, matriz 3D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6035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●"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Arreglo N-D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2" name="Google Shape;34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6606" y="637931"/>
            <a:ext cx="1853979" cy="5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1"/>
          <p:cNvSpPr txBox="1"/>
          <p:nvPr/>
        </p:nvSpPr>
        <p:spPr>
          <a:xfrm>
            <a:off x="4805700" y="687563"/>
            <a:ext cx="9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1D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4" name="Google Shape;34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56605" y="1145775"/>
            <a:ext cx="1853982" cy="846384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1"/>
          <p:cNvSpPr txBox="1"/>
          <p:nvPr/>
        </p:nvSpPr>
        <p:spPr>
          <a:xfrm>
            <a:off x="4805700" y="1384210"/>
            <a:ext cx="9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2D</a:t>
            </a:r>
            <a:endParaRPr b="1" i="0" sz="15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6" name="Google Shape;34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66560" y="2044772"/>
            <a:ext cx="1234070" cy="103018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1"/>
          <p:cNvSpPr txBox="1"/>
          <p:nvPr/>
        </p:nvSpPr>
        <p:spPr>
          <a:xfrm>
            <a:off x="4805700" y="3882535"/>
            <a:ext cx="9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N-D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8" name="Google Shape;348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52470" y="3127594"/>
            <a:ext cx="2062256" cy="187935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1"/>
          <p:cNvSpPr txBox="1"/>
          <p:nvPr/>
        </p:nvSpPr>
        <p:spPr>
          <a:xfrm>
            <a:off x="4805700" y="2387016"/>
            <a:ext cx="9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3D</a:t>
            </a:r>
            <a:endParaRPr b="0" i="0" sz="15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