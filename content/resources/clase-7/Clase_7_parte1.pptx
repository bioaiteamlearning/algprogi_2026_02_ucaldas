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Oswald SemiBold"/>
      <p:regular r:id="rId23"/>
      <p:bold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OswaldSemiBold-regular.fntdata"/><Relationship Id="rId24" Type="http://schemas.openxmlformats.org/officeDocument/2006/relationships/font" Target="fonts/OswaldSemiBold-bold.fntdata"/><Relationship Id="rId25" Type="http://schemas.openxmlformats.org/officeDocument/2006/relationships/font" Target="fonts/Oswald-regular.fntdata"/><Relationship Id="rId26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dcc0acb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28dcc0acb3c_0_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dcc0acb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28dcc0acb3c_0_1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dcc0acb3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28dcc0acb3c_0_2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dcc0acb3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8dcc0acb3c_0_3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dcc0acb3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28dcc0acb3c_0_48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8dcc0acb3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28dcc0acb3c_0_59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dcc0acb3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8dcc0acb3c_0_74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8dcc0acb3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28dcc0acb3c_0_88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dcc0acb3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28dcc0acb3c_0_104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8dcc0acb3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28dcc0acb3c_0_12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dcc0acb3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28dcc0acb3c_0_138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dcc0acb3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28dcc0acb3c_0_15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8dcc0acb3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28dcc0acb3c_0_169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8dcc0acb3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28dcc0acb3c_0_183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8dcc0acb3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28dcc0acb3c_0_197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dcc0acb3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28dcc0acb3c_0_21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8dcc0acb3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28dcc0acb3c_0_226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019241" y="2404455"/>
            <a:ext cx="3105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6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93803" y="1937785"/>
            <a:ext cx="77565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734798"/>
            <a:ext cx="4307100" cy="50400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10482" l="0" r="0" t="0"/>
          <a:stretch/>
        </p:blipFill>
        <p:spPr>
          <a:xfrm>
            <a:off x="834709" y="200959"/>
            <a:ext cx="2033856" cy="49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62" name="Google Shape;62;p14"/>
          <p:cNvPicPr preferRelativeResize="0"/>
          <p:nvPr/>
        </p:nvPicPr>
        <p:blipFill rotWithShape="1">
          <a:blip r:embed="rId3">
            <a:alphaModFix/>
          </a:blip>
          <a:srcRect b="10523" l="0" r="0" t="12268"/>
          <a:stretch/>
        </p:blipFill>
        <p:spPr>
          <a:xfrm>
            <a:off x="0" y="0"/>
            <a:ext cx="902858" cy="69708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868566" y="272244"/>
            <a:ext cx="1438500" cy="424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499246" y="4017169"/>
            <a:ext cx="5644991" cy="112633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294208"/>
            <a:ext cx="1042035" cy="3849529"/>
          </a:xfrm>
          <a:custGeom>
            <a:rect b="b" l="l" r="r" t="t"/>
            <a:pathLst>
              <a:path extrusionOk="0" h="5132705" w="1389380">
                <a:moveTo>
                  <a:pt x="0" y="0"/>
                </a:moveTo>
                <a:lnTo>
                  <a:pt x="1389061" y="0"/>
                </a:lnTo>
                <a:lnTo>
                  <a:pt x="1389061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651646" y="4163615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2190" t="0"/>
          <a:stretch/>
        </p:blipFill>
        <p:spPr>
          <a:xfrm>
            <a:off x="1416113" y="1790531"/>
            <a:ext cx="7728133" cy="15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343150" y="1096766"/>
            <a:ext cx="6800850" cy="114648"/>
          </a:xfrm>
          <a:custGeom>
            <a:rect b="b" l="l" r="r" t="t"/>
            <a:pathLst>
              <a:path extrusionOk="0" h="344805" w="9067800">
                <a:moveTo>
                  <a:pt x="0" y="0"/>
                </a:moveTo>
                <a:lnTo>
                  <a:pt x="9067799" y="0"/>
                </a:lnTo>
                <a:lnTo>
                  <a:pt x="9067799" y="344486"/>
                </a:lnTo>
                <a:lnTo>
                  <a:pt x="0" y="344486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17577" l="0" r="0" t="17297"/>
          <a:stretch/>
        </p:blipFill>
        <p:spPr>
          <a:xfrm>
            <a:off x="2650060" y="133594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834341" y="274031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755816" y="349313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499246" y="4451747"/>
            <a:ext cx="5644991" cy="69457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40568" y="4580578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37719" y="1114546"/>
            <a:ext cx="83115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/>
              <a:t>Programación I - Clase 7</a:t>
            </a:r>
            <a:endParaRPr sz="4500"/>
          </a:p>
        </p:txBody>
      </p:sp>
      <p:sp>
        <p:nvSpPr>
          <p:cNvPr id="84" name="Google Shape;84;p16"/>
          <p:cNvSpPr txBox="1"/>
          <p:nvPr/>
        </p:nvSpPr>
        <p:spPr>
          <a:xfrm>
            <a:off x="714244" y="2240606"/>
            <a:ext cx="77586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12700" marR="0" rtl="0" algn="ctr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 Sebastian Piña Duran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de Caldas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703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johan.duran@ucaldas.edu.co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86250" y="154388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270531" y="294825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192006" y="370106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707250" y="1281956"/>
            <a:ext cx="235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2800"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894" y="1500750"/>
            <a:ext cx="2570381" cy="2570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1055925" y="2055300"/>
            <a:ext cx="3833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Continuación ciclos: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AutoNum type="arabicPeriod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AutoNum type="arabicPeriod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While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rebuchet MS"/>
              <a:buAutoNum type="arabicPeriod"/>
            </a:pPr>
            <a:r>
              <a:rPr b="0" i="0" lang="es" sz="2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Do While</a:t>
            </a:r>
            <a:endParaRPr b="0" i="0" sz="2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1287300" y="1812506"/>
            <a:ext cx="668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Foreach</a:t>
            </a:r>
            <a:endParaRPr sz="4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s" sz="45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 resumido)</a:t>
            </a:r>
            <a:endParaRPr sz="4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4">
            <a:alphaModFix/>
          </a:blip>
          <a:srcRect b="0" l="8542" r="5686" t="7123"/>
          <a:stretch/>
        </p:blipFill>
        <p:spPr>
          <a:xfrm>
            <a:off x="1771725" y="1431131"/>
            <a:ext cx="3800513" cy="30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5323950" y="1043475"/>
            <a:ext cx="3378300" cy="920700"/>
          </a:xfrm>
          <a:prstGeom prst="rect">
            <a:avLst/>
          </a:prstGeom>
          <a:noFill/>
          <a:ln cap="flat" cmpd="sng" w="9525">
            <a:solidFill>
              <a:srgbClr val="F22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47CCB1"/>
                </a:solidFill>
                <a:latin typeface="Impact"/>
                <a:ea typeface="Impact"/>
                <a:cs typeface="Impact"/>
                <a:sym typeface="Impact"/>
              </a:rPr>
              <a:t>¡Profesor tape eso que asusta a los niños!</a:t>
            </a:r>
            <a:endParaRPr sz="2700">
              <a:solidFill>
                <a:srgbClr val="47CCB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1287300" y="1812506"/>
            <a:ext cx="668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Foreach</a:t>
            </a:r>
            <a:endParaRPr sz="4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s" sz="45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 resumido)</a:t>
            </a:r>
            <a:endParaRPr sz="4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80825" y="1199888"/>
            <a:ext cx="5243700" cy="407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667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 ciclo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visto anteriormente tiene una variante denominada foreach, el cual no necesita de variable índice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que cuente el número de iteraciones.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Por lo general se emplea para recorrer elementos iterables como strings o arreglos (que veremos más adelante).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sintaxis de un foreach depende del lenguaje de programación, sin embargo, sigue el mismo principio.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67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Permite optimizar procesos que de otra forma serían más complejos de abordar cómo la inspección de cadenas de texto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2875" y="1750239"/>
            <a:ext cx="2857500" cy="195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834263" y="1255154"/>
            <a:ext cx="7258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Java.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Recordemos que un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 una secuencia de tipos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(caracteres).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834263" y="1255154"/>
            <a:ext cx="7258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Java.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Recordemos que un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 una secuencia de tipos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(caracteres).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2413556" y="2477381"/>
            <a:ext cx="4475400" cy="207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una palabra: "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letra: palabra.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toCharArray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2884144" y="3537975"/>
            <a:ext cx="1191300" cy="30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834263" y="1255154"/>
            <a:ext cx="7258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Java.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Recordemos que un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 una secuencia de tipos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(caracteres).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2413556" y="2477381"/>
            <a:ext cx="4475400" cy="207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una palabra: "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letra: palabra.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toCharArray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2884144" y="3537975"/>
            <a:ext cx="1191300" cy="30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423515" y="2441081"/>
            <a:ext cx="1749000" cy="1431600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anchorCtr="0" anchor="t" bIns="68575" lIns="137150" spcFirstLastPara="1" rIns="137150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 define el tipo de dato y se asigna un nombre.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tipo de dato debe coincidir con el objeto a iterar.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834263" y="1255154"/>
            <a:ext cx="7258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Java.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Recordemos que un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 una secuencia de tipos </a:t>
            </a:r>
            <a:r>
              <a:rPr b="1" i="0" lang="e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(caracteres).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2413556" y="2477381"/>
            <a:ext cx="4475400" cy="207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una palabra: "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 =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letra: palabra.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toCharArray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4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4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(letra);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4055494" y="3516188"/>
            <a:ext cx="2228700" cy="30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7143347" y="2412019"/>
            <a:ext cx="1749000" cy="1800900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anchorCtr="0" anchor="t" bIns="68575" lIns="137150" spcFirstLastPara="1" rIns="137150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Después de los dos puntos se agrega el objeto a iterar.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En este caso debemos convertir en secuencias de 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al objeto 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palabra </a:t>
            </a: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Python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826425" y="1330547"/>
            <a:ext cx="749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Python.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Foreach Python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826425" y="1330547"/>
            <a:ext cx="7491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en Python.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Debido a que Python es un lenguaje con tipado débil su sintaxis es más sencilla.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2927831" y="2978738"/>
            <a:ext cx="4428000" cy="100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 = </a:t>
            </a:r>
            <a:r>
              <a:rPr b="1" i="0" lang="es" sz="1400" u="none" cap="none" strike="noStrike">
                <a:solidFill>
                  <a:srgbClr val="47CCB1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4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una palabra: "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CC85C6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 </a:t>
            </a:r>
            <a:r>
              <a:rPr b="1" i="0" lang="es" sz="1400" u="none" cap="none" strike="noStrike">
                <a:solidFill>
                  <a:srgbClr val="CC85C6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palabra: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400" u="none" cap="none" strike="noStrike">
                <a:solidFill>
                  <a:srgbClr val="47CCB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(letra)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799125" y="2738194"/>
            <a:ext cx="1863900" cy="1800900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anchorCtr="0" anchor="t" bIns="68575" lIns="137150" spcFirstLastPara="1" rIns="137150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 asigna un nombre a cada valor y se utiliza la palabra reservada </a:t>
            </a:r>
            <a:r>
              <a:rPr b="1" i="0" lang="e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Finalmente se escribe la variable iterable</a:t>
            </a:r>
            <a:endParaRPr b="0" i="0" sz="1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3358556" y="3392681"/>
            <a:ext cx="1705200" cy="30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1231763" y="1950816"/>
            <a:ext cx="6680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>
                <a:latin typeface="Trebuchet MS"/>
                <a:ea typeface="Trebuchet MS"/>
                <a:cs typeface="Trebuchet MS"/>
                <a:sym typeface="Trebuchet MS"/>
              </a:rPr>
              <a:t>Ejemplos Foreach</a:t>
            </a:r>
            <a:endParaRPr sz="4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Foreach -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724725" y="1199879"/>
            <a:ext cx="749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1. </a:t>
            </a:r>
            <a:r>
              <a:rPr b="0" i="0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 imprimir el número de vocales que tiene la palabra u oración.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9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Foreach -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724725" y="1199879"/>
            <a:ext cx="749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1. </a:t>
            </a:r>
            <a:r>
              <a:rPr b="0" i="0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Recorrer un string ingresado por el usuario e imprimir el número de vocales que tiene la palabra u oración.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724725" y="2041435"/>
            <a:ext cx="7991400" cy="235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 = 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 palabra u oración: "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palabra_s = input.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contVocales = 0;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letra: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palabra_s.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toCharArray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</a:t>
            </a:r>
            <a:r>
              <a:rPr b="1" i="0" lang="es" sz="1200" u="none" cap="none" strike="noStrike">
                <a:solidFill>
                  <a:srgbClr val="94DBF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'a'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|| letra ==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'e'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 ==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'i'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</a:t>
            </a:r>
            <a:r>
              <a:rPr b="1" i="0" lang="es" sz="1200" u="none" cap="none" strike="noStrike">
                <a:solidFill>
                  <a:srgbClr val="94DBF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'o'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</a:t>
            </a:r>
            <a:r>
              <a:rPr b="1" i="0" lang="es" sz="1200" u="none" cap="none" strike="noStrike">
                <a:solidFill>
                  <a:srgbClr val="94DBF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contVocales++;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"El string ingresado tiene "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contVocales +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 vocal(es)"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Foreach -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724725" y="1199879"/>
            <a:ext cx="749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2. </a:t>
            </a:r>
            <a:r>
              <a:rPr b="0" i="0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 e imprimir el número de letras mayúsculas que tiene una palabra u oración.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3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Foreach - Java</a:t>
            </a:r>
            <a:endParaRPr b="0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724725" y="1199879"/>
            <a:ext cx="749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2. </a:t>
            </a:r>
            <a:r>
              <a:rPr b="0" i="0" lang="es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 e imprimir el número de letras mayúsculas que tiene una palabra u oración.</a:t>
            </a:r>
            <a:endParaRPr b="0"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724631" y="1954238"/>
            <a:ext cx="7491300" cy="253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 = 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"Ingrese un palabra u oración: "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palabra_s = input.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contMayus = 0;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letra: palabra_s.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toCharArray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letraMayus = </a:t>
            </a: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.toUpperCase(letra);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s" sz="1200" u="none" cap="none" strike="noStrike">
                <a:solidFill>
                  <a:srgbClr val="499CD5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(letra</a:t>
            </a:r>
            <a:r>
              <a:rPr b="1" i="0" lang="es" sz="1200" u="none" cap="none" strike="noStrike">
                <a:solidFill>
                  <a:srgbClr val="94DBF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 letraMayus &amp;&amp; letra !=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contMayus++;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9C8B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s" sz="1200" u="none" cap="none" strike="noStrike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"El string ingresado tiene "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contMayus +</a:t>
            </a:r>
            <a:r>
              <a:rPr b="1" i="0" lang="es" sz="12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s" sz="1200" u="none" cap="none" strike="noStrike">
                <a:solidFill>
                  <a:srgbClr val="CD9069"/>
                </a:solidFill>
                <a:latin typeface="Courier New"/>
                <a:ea typeface="Courier New"/>
                <a:cs typeface="Courier New"/>
                <a:sym typeface="Courier New"/>
              </a:rPr>
              <a:t>" mayuscula(s)"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2686050" y="3139688"/>
            <a:ext cx="2586300" cy="17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6109725" y="2079338"/>
            <a:ext cx="1964700" cy="1062000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anchorCtr="0" anchor="t" bIns="68575" lIns="137150" spcFirstLastPara="1" rIns="137150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objeto tipo envoltorio o wrapper 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Character </a:t>
            </a: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tiene una función para convertir una letra (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0" i="0" lang="e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) a mayúscula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