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y="6858000" cx="12192000"/>
  <p:notesSz cx="12192000" cy="6858000"/>
  <p:embeddedFontLst>
    <p:embeddedFont>
      <p:font typeface="Roboto"/>
      <p:regular r:id="rId76"/>
      <p:bold r:id="rId77"/>
      <p:italic r:id="rId78"/>
      <p:boldItalic r:id="rId79"/>
    </p:embeddedFont>
    <p:embeddedFont>
      <p:font typeface="Oswald SemiBold"/>
      <p:regular r:id="rId80"/>
      <p:bold r:id="rId81"/>
    </p:embeddedFont>
    <p:embeddedFont>
      <p:font typeface="Oswald"/>
      <p:regular r:id="rId82"/>
      <p:bold r:id="rId83"/>
    </p:embeddedFont>
    <p:embeddedFont>
      <p:font typeface="Cormorant Light"/>
      <p:regular r:id="rId84"/>
      <p:bold r:id="rId85"/>
      <p:italic r:id="rId86"/>
      <p:boldItalic r:id="rId8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88" roundtripDataSignature="AMtx7mjTRYItKYZPJzwdnE3rA4NWFE2o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46C762-B0E9-4AC3-B3C8-79C22AAF4D9D}">
  <a:tblStyle styleId="{1046C762-B0E9-4AC3-B3C8-79C22AAF4D9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font" Target="fonts/Roboto-regular.fntdata"/><Relationship Id="rId77" Type="http://schemas.openxmlformats.org/officeDocument/2006/relationships/font" Target="fonts/Roboto-bold.fntdata"/><Relationship Id="rId78" Type="http://schemas.openxmlformats.org/officeDocument/2006/relationships/font" Target="fonts/Roboto-italic.fntdata"/><Relationship Id="rId79" Type="http://schemas.openxmlformats.org/officeDocument/2006/relationships/font" Target="fonts/Roboto-boldItalic.fntdata"/><Relationship Id="rId80" Type="http://schemas.openxmlformats.org/officeDocument/2006/relationships/font" Target="fonts/OswaldSemiBold-regular.fntdata"/><Relationship Id="rId81" Type="http://schemas.openxmlformats.org/officeDocument/2006/relationships/font" Target="fonts/OswaldSemiBold-bold.fntdata"/><Relationship Id="rId82" Type="http://schemas.openxmlformats.org/officeDocument/2006/relationships/font" Target="fonts/Oswald-regular.fntdata"/><Relationship Id="rId83" Type="http://schemas.openxmlformats.org/officeDocument/2006/relationships/font" Target="fonts/Oswald-bold.fntdata"/><Relationship Id="rId84" Type="http://schemas.openxmlformats.org/officeDocument/2006/relationships/font" Target="fonts/CormorantLight-regular.fntdata"/><Relationship Id="rId85" Type="http://schemas.openxmlformats.org/officeDocument/2006/relationships/font" Target="fonts/CormorantLight-bold.fntdata"/><Relationship Id="rId86" Type="http://schemas.openxmlformats.org/officeDocument/2006/relationships/font" Target="fonts/CormorantLight-italic.fntdata"/><Relationship Id="rId87" Type="http://schemas.openxmlformats.org/officeDocument/2006/relationships/font" Target="fonts/CormorantLight-boldItalic.fntdata"/><Relationship Id="rId88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1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2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dc50864afa_0_29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g1dc50864afa_0_297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dd2b324201_0_5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g1dd2b324201_0_54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e1e69e2135_0_10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1e1e69e2135_0_107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e1393e5aad_0_13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g1e1393e5aad_0_130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e85dc56643_0_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g1e85dc56643_0_6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e85dc56643_0_2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g1e85dc56643_0_28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e1e69e2135_0_18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5" name="Google Shape;275;g1e1e69e2135_0_184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e26dc8783d_0_13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g1e26dc8783d_0_130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e85dc56643_0_9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g1e85dc56643_0_96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1e85dc56643_0_1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g1e85dc56643_0_113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e85dc56643_0_13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2" name="Google Shape;342;g1e85dc56643_0_136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e85dc56643_0_15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9" name="Google Shape;359;g1e85dc56643_0_154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1e85dc56643_0_5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6" name="Google Shape;376;g1e85dc56643_0_56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e85dc56643_0_7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2" name="Google Shape;392;g1e85dc56643_0_75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e85dc56643_0_17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1" name="Google Shape;411;g1e85dc56643_0_173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e26dc8783d_0_16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2" name="Google Shape;432;g1e26dc8783d_0_164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1e26dc8783d_0_17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7" name="Google Shape;447;g1e26dc8783d_0_178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e85dc56643_0_22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3" name="Google Shape;463;g1e85dc56643_0_224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e85dc56643_0_20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2" name="Google Shape;482;g1e85dc56643_0_201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1e85dc56643_0_24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2" name="Google Shape;502;g1e85dc56643_0_244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1e85dc56643_0_26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4" name="Google Shape;524;g1e85dc56643_0_266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2482c1fd208_0_8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3" name="Google Shape;543;g2482c1fd208_0_85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1e85dc56643_0_28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0" name="Google Shape;560;g1e85dc56643_0_288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1e85dc56643_0_30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8" name="Google Shape;578;g1e85dc56643_0_305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1e85dc56643_0_32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4" name="Google Shape;594;g1e85dc56643_0_322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2482c1fd208_0_4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2" name="Google Shape;612;g2482c1fd208_0_48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1e8660ac818_0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9" name="Google Shape;629;g1e8660ac818_0_0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1e8660ac818_0_1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8" name="Google Shape;648;g1e8660ac818_0_17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1e8660ac818_0_64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7" name="Google Shape;667;g1e8660ac818_0_644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1e8660ac818_0_66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4" name="Google Shape;684;g1e8660ac818_0_665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1e8660ac818_0_70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0" name="Google Shape;700;g1e8660ac818_0_701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1e8660ac818_0_68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7" name="Google Shape;717;g1e8660ac818_0_683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1e8660ac818_0_3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3" name="Google Shape;733;g1e8660ac818_0_37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1e8660ac818_0_3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8" name="Google Shape;748;g1e8660ac818_0_314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1e873436327_0_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3" name="Google Shape;763;g1e873436327_0_8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1e8660ac818_0_33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2" name="Google Shape;782;g1e8660ac818_0_330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1e873436327_0_3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7" name="Google Shape;797;g1e873436327_0_31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1e8660ac818_0_34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3" name="Google Shape;813;g1e8660ac818_0_344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1e873436327_0_5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5" name="Google Shape;825;g1e873436327_0_51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1e8660ac818_0_35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1" name="Google Shape;841;g1e8660ac818_0_358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1e873436327_0_6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6" name="Google Shape;856;g1e873436327_0_69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1e8660ac818_0_38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2" name="Google Shape;872;g1e8660ac818_0_386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1e873436327_0_8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7" name="Google Shape;887;g1e873436327_0_87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1e8660ac818_0_40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4" name="Google Shape;904;g1e8660ac818_0_400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1e873436327_0_10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0" name="Google Shape;920;g1e873436327_0_107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e8660ac818_0_37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7" name="Google Shape;937;g1e8660ac818_0_372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1e873436327_0_12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4" name="Google Shape;954;g1e873436327_0_128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1e8660ac818_0_5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0" name="Google Shape;970;g1e8660ac818_0_51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1e8660ac818_0_7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5" name="Google Shape;985;g1e8660ac818_0_79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1e8660ac818_0_10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2" name="Google Shape;1002;g1e8660ac818_0_100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1e8660ac818_0_11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9" name="Google Shape;1019;g1e8660ac818_0_117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1e8660ac818_0_15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6" name="Google Shape;1036;g1e8660ac818_0_155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1e8660ac818_0_43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4" name="Google Shape;1054;g1e8660ac818_0_434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1e8660ac818_0_45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3" name="Google Shape;1073;g1e8660ac818_0_452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1e8660ac818_0_47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2" name="Google Shape;1092;g1e8660ac818_0_471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1e8660ac818_0_49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5" name="Google Shape;1105;g1e8660ac818_0_495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1e873436327_0_17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2" name="Google Shape;1122;g1e873436327_0_177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1e8660ac818_0_60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0" name="Google Shape;1150;g1e8660ac818_0_607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1e8660ac818_0_59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1" name="Google Shape;1171;g1e8660ac818_0_595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1e8660ac818_0_53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4" name="Google Shape;1184;g1e8660ac818_0_537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1e8660ac818_0_57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0" name="Google Shape;1200;g1e8660ac818_0_577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2416319f9fb_1_41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9" name="Google Shape;1219;g2416319f9fb_1_419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2416319f9fb_1_43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5" name="Google Shape;1235;g2416319f9fb_1_437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2416319f9fb_1_45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2" name="Google Shape;1252;g2416319f9fb_1_456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2482c1fd208_0_15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9" name="Google Shape;1269;g2482c1fd208_0_155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g249229a326a_0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6" name="Google Shape;1286;g249229a326a_0_0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3" name="Google Shape;1303;p5:notes"/>
          <p:cNvSpPr/>
          <p:nvPr>
            <p:ph idx="2" type="sldImg"/>
          </p:nvPr>
        </p:nvSpPr>
        <p:spPr>
          <a:xfrm>
            <a:off x="3810000" y="514350"/>
            <a:ext cx="4573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6"/>
          <p:cNvSpPr txBox="1"/>
          <p:nvPr>
            <p:ph type="title"/>
          </p:nvPr>
        </p:nvSpPr>
        <p:spPr>
          <a:xfrm>
            <a:off x="4025654" y="3205940"/>
            <a:ext cx="4140691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>
                <a:solidFill>
                  <a:srgbClr val="00AE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6"/>
          <p:cNvSpPr txBox="1"/>
          <p:nvPr>
            <p:ph idx="1" type="body"/>
          </p:nvPr>
        </p:nvSpPr>
        <p:spPr>
          <a:xfrm>
            <a:off x="925071" y="2583713"/>
            <a:ext cx="10341857" cy="390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46"/>
          <p:cNvSpPr/>
          <p:nvPr/>
        </p:nvSpPr>
        <p:spPr>
          <a:xfrm>
            <a:off x="0" y="979731"/>
            <a:ext cx="5742757" cy="67061"/>
          </a:xfrm>
          <a:prstGeom prst="rect">
            <a:avLst/>
          </a:prstGeom>
          <a:solidFill>
            <a:srgbClr val="FDD9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46"/>
          <p:cNvPicPr preferRelativeResize="0"/>
          <p:nvPr/>
        </p:nvPicPr>
        <p:blipFill rotWithShape="1">
          <a:blip r:embed="rId2">
            <a:alphaModFix/>
          </a:blip>
          <a:srcRect b="10486" l="0" r="0" t="0"/>
          <a:stretch/>
        </p:blipFill>
        <p:spPr>
          <a:xfrm>
            <a:off x="1112945" y="267945"/>
            <a:ext cx="2711809" cy="6643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TRA – Observatorio de Transparencia Umanizales" id="30" name="Google Shape;30;p46"/>
          <p:cNvPicPr preferRelativeResize="0"/>
          <p:nvPr/>
        </p:nvPicPr>
        <p:blipFill rotWithShape="1">
          <a:blip r:embed="rId3">
            <a:alphaModFix/>
          </a:blip>
          <a:srcRect b="10521" l="0" r="0" t="12270"/>
          <a:stretch/>
        </p:blipFill>
        <p:spPr>
          <a:xfrm>
            <a:off x="0" y="0"/>
            <a:ext cx="1203811" cy="92944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6"/>
          <p:cNvSpPr/>
          <p:nvPr/>
        </p:nvSpPr>
        <p:spPr>
          <a:xfrm>
            <a:off x="3824754" y="362992"/>
            <a:ext cx="1918003" cy="56645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7"/>
          <p:cNvSpPr txBox="1"/>
          <p:nvPr>
            <p:ph type="title"/>
          </p:nvPr>
        </p:nvSpPr>
        <p:spPr>
          <a:xfrm>
            <a:off x="4025654" y="3205940"/>
            <a:ext cx="4140691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>
                <a:solidFill>
                  <a:srgbClr val="00AE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7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7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7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47"/>
          <p:cNvSpPr/>
          <p:nvPr/>
        </p:nvSpPr>
        <p:spPr>
          <a:xfrm>
            <a:off x="0" y="979731"/>
            <a:ext cx="5742757" cy="67061"/>
          </a:xfrm>
          <a:prstGeom prst="rect">
            <a:avLst/>
          </a:prstGeom>
          <a:solidFill>
            <a:srgbClr val="FDD9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" name="Google Shape;38;p47"/>
          <p:cNvPicPr preferRelativeResize="0"/>
          <p:nvPr/>
        </p:nvPicPr>
        <p:blipFill rotWithShape="1">
          <a:blip r:embed="rId2">
            <a:alphaModFix/>
          </a:blip>
          <a:srcRect b="10486" l="0" r="0" t="0"/>
          <a:stretch/>
        </p:blipFill>
        <p:spPr>
          <a:xfrm>
            <a:off x="1112945" y="267945"/>
            <a:ext cx="2711809" cy="6643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TRA – Observatorio de Transparencia Umanizales" id="39" name="Google Shape;39;p47"/>
          <p:cNvPicPr preferRelativeResize="0"/>
          <p:nvPr/>
        </p:nvPicPr>
        <p:blipFill rotWithShape="1">
          <a:blip r:embed="rId3">
            <a:alphaModFix/>
          </a:blip>
          <a:srcRect b="10521" l="0" r="0" t="12270"/>
          <a:stretch/>
        </p:blipFill>
        <p:spPr>
          <a:xfrm>
            <a:off x="0" y="0"/>
            <a:ext cx="1203811" cy="929443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7"/>
          <p:cNvSpPr/>
          <p:nvPr/>
        </p:nvSpPr>
        <p:spPr>
          <a:xfrm>
            <a:off x="3824754" y="362992"/>
            <a:ext cx="1918003" cy="56645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OBJECT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f4846aa7dd_0_3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gf4846aa7dd_0_32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4" name="Google Shape;44;gf4846aa7dd_0_32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gf4846aa7dd_0_32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gf4846aa7dd_0_329"/>
          <p:cNvSpPr txBox="1"/>
          <p:nvPr>
            <p:ph idx="12" type="sldNum"/>
          </p:nvPr>
        </p:nvSpPr>
        <p:spPr>
          <a:xfrm>
            <a:off x="8610600" y="635635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13d738efa72_0_77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9" name="Google Shape;49;g13d738efa72_0_77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0" name="Google Shape;50;g13d738efa72_0_77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erpo de texto">
  <p:cSld name="Cuerpo de texto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f4846aa7dd_0_83"/>
          <p:cNvSpPr txBox="1"/>
          <p:nvPr>
            <p:ph type="title"/>
          </p:nvPr>
        </p:nvSpPr>
        <p:spPr>
          <a:xfrm>
            <a:off x="838200" y="12814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FAA"/>
              </a:buClr>
              <a:buSzPts val="3400"/>
              <a:buFont typeface="Arial"/>
              <a:buNone/>
              <a:defRPr sz="3400">
                <a:solidFill>
                  <a:srgbClr val="00AF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f4846aa7dd_0_83"/>
          <p:cNvSpPr txBox="1"/>
          <p:nvPr>
            <p:ph idx="1" type="body"/>
          </p:nvPr>
        </p:nvSpPr>
        <p:spPr>
          <a:xfrm>
            <a:off x="838200" y="2606978"/>
            <a:ext cx="10515600" cy="3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gf4846aa7dd_0_8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">
  <p:cSld name="OBJECT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f4846aa7dd_0_4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gf4846aa7dd_0_43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58" name="Google Shape;58;gf4846aa7dd_0_4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f4846aa7dd_0_4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f4846aa7dd_0_430"/>
          <p:cNvSpPr txBox="1"/>
          <p:nvPr>
            <p:ph idx="12" type="sldNum"/>
          </p:nvPr>
        </p:nvSpPr>
        <p:spPr>
          <a:xfrm>
            <a:off x="8610600" y="635635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8"/>
          <p:cNvSpPr txBox="1"/>
          <p:nvPr>
            <p:ph type="title"/>
          </p:nvPr>
        </p:nvSpPr>
        <p:spPr>
          <a:xfrm>
            <a:off x="4025654" y="3205940"/>
            <a:ext cx="4140691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400">
                <a:solidFill>
                  <a:srgbClr val="00AE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8"/>
          <p:cNvSpPr txBox="1"/>
          <p:nvPr>
            <p:ph idx="1" type="body"/>
          </p:nvPr>
        </p:nvSpPr>
        <p:spPr>
          <a:xfrm>
            <a:off x="911225" y="2583713"/>
            <a:ext cx="4856480" cy="390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8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8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8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8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4">
  <p:cSld name="OBJECT_5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f4846aa7dd_0_75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f4846aa7dd_0_75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71" name="Google Shape;71;gf4846aa7dd_0_75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f4846aa7dd_0_75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f4846aa7dd_0_750"/>
          <p:cNvSpPr txBox="1"/>
          <p:nvPr>
            <p:ph idx="12" type="sldNum"/>
          </p:nvPr>
        </p:nvSpPr>
        <p:spPr>
          <a:xfrm>
            <a:off x="8610600" y="635635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0">
  <p:cSld name="OBJECT_1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3d738efa72_0_19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13d738efa72_0_19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77" name="Google Shape;77;g13d738efa72_0_19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13d738efa72_0_19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g13d738efa72_0_196"/>
          <p:cNvSpPr txBox="1"/>
          <p:nvPr>
            <p:ph idx="12" type="sldNum"/>
          </p:nvPr>
        </p:nvSpPr>
        <p:spPr>
          <a:xfrm>
            <a:off x="8610600" y="635635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1">
  <p:cSld name="OBJECT_12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3d738efa72_0_3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13d738efa72_0_3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83" name="Google Shape;83;g13d738efa72_0_31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g13d738efa72_0_31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13d738efa72_0_318"/>
          <p:cNvSpPr txBox="1"/>
          <p:nvPr>
            <p:ph idx="12" type="sldNum"/>
          </p:nvPr>
        </p:nvSpPr>
        <p:spPr>
          <a:xfrm>
            <a:off x="8610600" y="635635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2">
  <p:cSld name="OBJECT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f4846aa7dd_0_5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f4846aa7dd_0_52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89" name="Google Shape;89;gf4846aa7dd_0_52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f4846aa7dd_0_52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f4846aa7dd_0_524"/>
          <p:cNvSpPr txBox="1"/>
          <p:nvPr>
            <p:ph idx="12" type="sldNum"/>
          </p:nvPr>
        </p:nvSpPr>
        <p:spPr>
          <a:xfrm>
            <a:off x="8610600" y="635635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5">
  <p:cSld name="OBJECT_6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f4846aa7dd_0_117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f4846aa7dd_0_117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95" name="Google Shape;95;gf4846aa7dd_0_117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f4846aa7dd_0_117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f4846aa7dd_0_1178"/>
          <p:cNvSpPr txBox="1"/>
          <p:nvPr>
            <p:ph idx="12" type="sldNum"/>
          </p:nvPr>
        </p:nvSpPr>
        <p:spPr>
          <a:xfrm>
            <a:off x="8610600" y="635635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8">
  <p:cSld name="OBJECT_9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f4846aa7dd_0_19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f4846aa7dd_0_19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01" name="Google Shape;101;gf4846aa7dd_0_192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gf4846aa7dd_0_192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f4846aa7dd_0_1922"/>
          <p:cNvSpPr txBox="1"/>
          <p:nvPr>
            <p:ph idx="12" type="sldNum"/>
          </p:nvPr>
        </p:nvSpPr>
        <p:spPr>
          <a:xfrm>
            <a:off x="8610600" y="635635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7">
  <p:cSld name="OBJECT_8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f4846aa7dd_0_165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f4846aa7dd_0_165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07" name="Google Shape;107;gf4846aa7dd_0_165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f4846aa7dd_0_165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gf4846aa7dd_0_1655"/>
          <p:cNvSpPr txBox="1"/>
          <p:nvPr>
            <p:ph idx="12" type="sldNum"/>
          </p:nvPr>
        </p:nvSpPr>
        <p:spPr>
          <a:xfrm>
            <a:off x="8610600" y="635635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2">
  <p:cSld name="OBJECT_13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d738efa72_0_768"/>
          <p:cNvSpPr txBox="1"/>
          <p:nvPr>
            <p:ph type="title"/>
          </p:nvPr>
        </p:nvSpPr>
        <p:spPr>
          <a:xfrm>
            <a:off x="838200" y="8372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13d738efa72_0_768"/>
          <p:cNvSpPr txBox="1"/>
          <p:nvPr>
            <p:ph idx="1" type="body"/>
          </p:nvPr>
        </p:nvSpPr>
        <p:spPr>
          <a:xfrm>
            <a:off x="838200" y="21629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g13d738efa72_0_76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ormorant Light"/>
                <a:ea typeface="Cormorant Light"/>
                <a:cs typeface="Cormorant Light"/>
                <a:sym typeface="Cormorant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3">
  <p:cSld name="OBJECT_4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f4846aa7dd_0_64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gf4846aa7dd_0_64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17" name="Google Shape;117;gf4846aa7dd_0_64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f4846aa7dd_0_64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f4846aa7dd_0_641"/>
          <p:cNvSpPr txBox="1"/>
          <p:nvPr>
            <p:ph idx="12" type="sldNum"/>
          </p:nvPr>
        </p:nvSpPr>
        <p:spPr>
          <a:xfrm>
            <a:off x="8610600" y="635635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9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9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9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49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9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f4846aa7dd_0_1184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f4846aa7dd_0_1184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gf4846aa7dd_0_1184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30" name="Google Shape;130;gf4846aa7dd_0_1184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1" name="Google Shape;131;gf4846aa7dd_0_1184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32" name="Google Shape;132;gf4846aa7dd_0_118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gf4846aa7dd_0_118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f4846aa7dd_0_1184"/>
          <p:cNvSpPr txBox="1"/>
          <p:nvPr>
            <p:ph idx="12" type="sldNum"/>
          </p:nvPr>
        </p:nvSpPr>
        <p:spPr>
          <a:xfrm>
            <a:off x="8610600" y="635635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6">
  <p:cSld name="OBJECT_7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f4846aa7dd_0_150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gf4846aa7dd_0_150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38" name="Google Shape;138;gf4846aa7dd_0_150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gf4846aa7dd_0_150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gf4846aa7dd_0_1508"/>
          <p:cNvSpPr txBox="1"/>
          <p:nvPr>
            <p:ph idx="12" type="sldNum"/>
          </p:nvPr>
        </p:nvSpPr>
        <p:spPr>
          <a:xfrm>
            <a:off x="8610600" y="635635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9">
  <p:cSld name="OBJECT_10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3d738efa72_0_8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g13d738efa72_0_8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44" name="Google Shape;144;g13d738efa72_0_8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13d738efa72_0_8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g13d738efa72_0_88"/>
          <p:cNvSpPr txBox="1"/>
          <p:nvPr>
            <p:ph idx="12" type="sldNum"/>
          </p:nvPr>
        </p:nvSpPr>
        <p:spPr>
          <a:xfrm>
            <a:off x="8610600" y="6356350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17.xml"/><Relationship Id="rId21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19.xml"/><Relationship Id="rId23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1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/>
          <p:nvPr/>
        </p:nvSpPr>
        <p:spPr>
          <a:xfrm>
            <a:off x="9377361" y="6415087"/>
            <a:ext cx="2814955" cy="443230"/>
          </a:xfrm>
          <a:custGeom>
            <a:rect b="b" l="l" r="r" t="t"/>
            <a:pathLst>
              <a:path extrusionOk="0" h="443229" w="2814954">
                <a:moveTo>
                  <a:pt x="0" y="0"/>
                </a:moveTo>
                <a:lnTo>
                  <a:pt x="2814636" y="0"/>
                </a:lnTo>
                <a:lnTo>
                  <a:pt x="2814636" y="442912"/>
                </a:lnTo>
                <a:lnTo>
                  <a:pt x="0" y="442912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44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44"/>
          <p:cNvSpPr/>
          <p:nvPr/>
        </p:nvSpPr>
        <p:spPr>
          <a:xfrm>
            <a:off x="9501186" y="6510336"/>
            <a:ext cx="252729" cy="252729"/>
          </a:xfrm>
          <a:custGeom>
            <a:rect b="b" l="l" r="r" t="t"/>
            <a:pathLst>
              <a:path extrusionOk="0" h="252729" w="252729">
                <a:moveTo>
                  <a:pt x="0" y="0"/>
                </a:moveTo>
                <a:lnTo>
                  <a:pt x="252411" y="0"/>
                </a:lnTo>
                <a:lnTo>
                  <a:pt x="252411" y="252412"/>
                </a:lnTo>
                <a:lnTo>
                  <a:pt x="0" y="252412"/>
                </a:lnTo>
                <a:lnTo>
                  <a:pt x="0" y="0"/>
                </a:lnTo>
                <a:close/>
              </a:path>
            </a:pathLst>
          </a:custGeom>
          <a:solidFill>
            <a:srgbClr val="FCDE6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44"/>
          <p:cNvSpPr txBox="1"/>
          <p:nvPr>
            <p:ph type="title"/>
          </p:nvPr>
        </p:nvSpPr>
        <p:spPr>
          <a:xfrm>
            <a:off x="4025654" y="3205940"/>
            <a:ext cx="4140691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400" u="none" cap="none" strike="noStrike">
                <a:solidFill>
                  <a:srgbClr val="00AE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4"/>
          <p:cNvSpPr txBox="1"/>
          <p:nvPr>
            <p:ph idx="1" type="body"/>
          </p:nvPr>
        </p:nvSpPr>
        <p:spPr>
          <a:xfrm>
            <a:off x="925071" y="2583713"/>
            <a:ext cx="10341857" cy="3909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4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44"/>
          <p:cNvSpPr/>
          <p:nvPr/>
        </p:nvSpPr>
        <p:spPr>
          <a:xfrm>
            <a:off x="0" y="979731"/>
            <a:ext cx="5742757" cy="67061"/>
          </a:xfrm>
          <a:prstGeom prst="rect">
            <a:avLst/>
          </a:prstGeom>
          <a:solidFill>
            <a:srgbClr val="FDD90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44"/>
          <p:cNvPicPr preferRelativeResize="0"/>
          <p:nvPr/>
        </p:nvPicPr>
        <p:blipFill rotWithShape="1">
          <a:blip r:embed="rId1">
            <a:alphaModFix/>
          </a:blip>
          <a:srcRect b="10486" l="0" r="0" t="0"/>
          <a:stretch/>
        </p:blipFill>
        <p:spPr>
          <a:xfrm>
            <a:off x="1112945" y="267945"/>
            <a:ext cx="2711809" cy="6643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TRA – Observatorio de Transparencia Umanizales" id="16" name="Google Shape;16;p44"/>
          <p:cNvPicPr preferRelativeResize="0"/>
          <p:nvPr/>
        </p:nvPicPr>
        <p:blipFill rotWithShape="1">
          <a:blip r:embed="rId2">
            <a:alphaModFix/>
          </a:blip>
          <a:srcRect b="10521" l="0" r="0" t="12270"/>
          <a:stretch/>
        </p:blipFill>
        <p:spPr>
          <a:xfrm>
            <a:off x="0" y="0"/>
            <a:ext cx="1203811" cy="92944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4"/>
          <p:cNvSpPr/>
          <p:nvPr/>
        </p:nvSpPr>
        <p:spPr>
          <a:xfrm>
            <a:off x="3824754" y="362992"/>
            <a:ext cx="1918003" cy="56645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  <p:sldLayoutId id="2147483666" r:id="rId21"/>
    <p:sldLayoutId id="2147483667" r:id="rId22"/>
    <p:sldLayoutId id="2147483668" r:id="rId23"/>
    <p:sldLayoutId id="2147483669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Relationship Id="rId4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Relationship Id="rId4" Type="http://schemas.openxmlformats.org/officeDocument/2006/relationships/image" Target="../media/image2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Relationship Id="rId4" Type="http://schemas.openxmlformats.org/officeDocument/2006/relationships/image" Target="../media/image2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Relationship Id="rId4" Type="http://schemas.openxmlformats.org/officeDocument/2006/relationships/image" Target="../media/image2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Relationship Id="rId4" Type="http://schemas.openxmlformats.org/officeDocument/2006/relationships/image" Target="../media/image2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7.png"/><Relationship Id="rId4" Type="http://schemas.openxmlformats.org/officeDocument/2006/relationships/image" Target="../media/image30.gif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.png"/><Relationship Id="rId4" Type="http://schemas.openxmlformats.org/officeDocument/2006/relationships/image" Target="../media/image3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.png"/><Relationship Id="rId4" Type="http://schemas.openxmlformats.org/officeDocument/2006/relationships/image" Target="../media/image34.png"/><Relationship Id="rId5" Type="http://schemas.openxmlformats.org/officeDocument/2006/relationships/hyperlink" Target="https://data-flair.training/blogs/array-vs-arraylist-java/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.png"/><Relationship Id="rId4" Type="http://schemas.openxmlformats.org/officeDocument/2006/relationships/hyperlink" Target="https://profile.es/blog/clases-wrapper-envoltorio-en-java/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.png"/><Relationship Id="rId4" Type="http://schemas.openxmlformats.org/officeDocument/2006/relationships/hyperlink" Target="https://profile.es/blog/clases-wrapper-envoltorio-en-java/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.png"/><Relationship Id="rId4" Type="http://schemas.openxmlformats.org/officeDocument/2006/relationships/hyperlink" Target="https://profile.es/blog/clases-wrapper-envoltorio-en-java/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7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7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7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7.png"/><Relationship Id="rId4" Type="http://schemas.openxmlformats.org/officeDocument/2006/relationships/image" Target="../media/image3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7.png"/><Relationship Id="rId4" Type="http://schemas.openxmlformats.org/officeDocument/2006/relationships/image" Target="../media/image36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7.png"/><Relationship Id="rId4" Type="http://schemas.openxmlformats.org/officeDocument/2006/relationships/image" Target="../media/image37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7.png"/><Relationship Id="rId4" Type="http://schemas.openxmlformats.org/officeDocument/2006/relationships/hyperlink" Target="https://colab.research.google.com/drive/1Z1MiJs1DHuIhB4KOU55BALozgGaytVOL?usp=sharing" TargetMode="External"/><Relationship Id="rId5" Type="http://schemas.openxmlformats.org/officeDocument/2006/relationships/hyperlink" Target="https://colab.research.google.com/drive/1O32EK49a4tVKTeuik9ghRAp74IOUluhP?usp=sharing" TargetMode="External"/><Relationship Id="rId6" Type="http://schemas.openxmlformats.org/officeDocument/2006/relationships/hyperlink" Target="https://colab.research.google.com/drive/1O32EK49a4tVKTeuik9ghRAp74IOUluhP?usp=sharing" TargetMode="External"/><Relationship Id="rId7" Type="http://schemas.openxmlformats.org/officeDocument/2006/relationships/hyperlink" Target="https://docs.google.com/document/d/1Ks6Ypmp1mcVEx1VUZeVaVgV-4-_E3KLSx1IXi3nZetc/edit?usp=sharing" TargetMode="External"/><Relationship Id="rId8" Type="http://schemas.openxmlformats.org/officeDocument/2006/relationships/hyperlink" Target="https://docs.google.com/forms/d/e/1FAIpQLSdxVXXBV-e9GWKir4KEaItlgOdAM6Z9JAFyQ37wvXSNkY7QHg/viewform?usp=sf_link" TargetMode="External"/><Relationship Id="rId9" Type="http://schemas.openxmlformats.org/officeDocument/2006/relationships/image" Target="../media/image38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7.png"/><Relationship Id="rId4" Type="http://schemas.openxmlformats.org/officeDocument/2006/relationships/hyperlink" Target="https://www.w3schools.com/java/java_arrays.asp" TargetMode="External"/><Relationship Id="rId5" Type="http://schemas.openxmlformats.org/officeDocument/2006/relationships/hyperlink" Target="https://docs.oracle.com/javase/specs/jls/se7/html/jls-10.html" TargetMode="External"/><Relationship Id="rId6" Type="http://schemas.openxmlformats.org/officeDocument/2006/relationships/hyperlink" Target="https://docs.oracle.com/javase/tutorial/java/nutsandbolts/arrays.html" TargetMode="External"/><Relationship Id="rId7" Type="http://schemas.openxmlformats.org/officeDocument/2006/relationships/hyperlink" Target="https://www.manualweb.net/java/arrays-java/" TargetMode="External"/><Relationship Id="rId8" Type="http://schemas.openxmlformats.org/officeDocument/2006/relationships/hyperlink" Target="https://webs.um.es/ldaniel/iscyp17-18/17-arraysDeEstructurasDatos.html" TargetMode="External"/><Relationship Id="rId9" Type="http://schemas.openxmlformats.org/officeDocument/2006/relationships/hyperlink" Target="https://www.scaler.com/topics/java/array-in-java/" TargetMode="External"/><Relationship Id="rId10" Type="http://schemas.openxmlformats.org/officeDocument/2006/relationships/hyperlink" Target="https://www.w3schools.com/java/java_arraylist.asp" TargetMode="External"/><Relationship Id="rId11" Type="http://schemas.openxmlformats.org/officeDocument/2006/relationships/hyperlink" Target="https://www.w3schools.com/java/java_arrays_multi.asp" TargetMode="External"/><Relationship Id="rId12" Type="http://schemas.openxmlformats.org/officeDocument/2006/relationships/hyperlink" Target="https://personales.unican.es/corcuerp/java/Slides/Arrays.pdf" TargetMode="External"/><Relationship Id="rId13" Type="http://schemas.openxmlformats.org/officeDocument/2006/relationships/hyperlink" Target="https://docs.python.org/es/3/tutorial/datastructures.html#" TargetMode="External"/><Relationship Id="rId14" Type="http://schemas.openxmlformats.org/officeDocument/2006/relationships/hyperlink" Target="https://www.scaler.com/topics/dynamic-array-in-java/" TargetMode="External"/><Relationship Id="rId15" Type="http://schemas.openxmlformats.org/officeDocument/2006/relationships/hyperlink" Target="https://www.freecodecamp.org/espanol/news/metodos-de-lista-de-java/" TargetMode="External"/><Relationship Id="rId16" Type="http://schemas.openxmlformats.org/officeDocument/2006/relationships/hyperlink" Target="https://es.stackoverflow.com/questions/171467/list-o-arraylist-en-java" TargetMode="External"/><Relationship Id="rId17" Type="http://schemas.openxmlformats.org/officeDocument/2006/relationships/hyperlink" Target="https://blog.codmind.com/listas-en-java/" TargetMode="Externa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"/>
          <p:cNvSpPr/>
          <p:nvPr/>
        </p:nvSpPr>
        <p:spPr>
          <a:xfrm>
            <a:off x="4665662" y="5356225"/>
            <a:ext cx="7526655" cy="150177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"/>
          <p:cNvSpPr/>
          <p:nvPr/>
        </p:nvSpPr>
        <p:spPr>
          <a:xfrm>
            <a:off x="0" y="1725611"/>
            <a:ext cx="1389380" cy="5132705"/>
          </a:xfrm>
          <a:custGeom>
            <a:rect b="b" l="l" r="r" t="t"/>
            <a:pathLst>
              <a:path extrusionOk="0" h="5132705" w="1389380">
                <a:moveTo>
                  <a:pt x="0" y="0"/>
                </a:moveTo>
                <a:lnTo>
                  <a:pt x="1389061" y="0"/>
                </a:lnTo>
                <a:lnTo>
                  <a:pt x="1389061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"/>
          <p:cNvSpPr/>
          <p:nvPr/>
        </p:nvSpPr>
        <p:spPr>
          <a:xfrm>
            <a:off x="4868862" y="5551487"/>
            <a:ext cx="386079" cy="384175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"/>
          <p:cNvPicPr preferRelativeResize="0"/>
          <p:nvPr/>
        </p:nvPicPr>
        <p:blipFill rotWithShape="1">
          <a:blip r:embed="rId3">
            <a:alphaModFix/>
          </a:blip>
          <a:srcRect b="0" l="0" r="2190" t="0"/>
          <a:stretch/>
        </p:blipFill>
        <p:spPr>
          <a:xfrm>
            <a:off x="1888150" y="2387375"/>
            <a:ext cx="10304175" cy="208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"/>
          <p:cNvSpPr/>
          <p:nvPr/>
        </p:nvSpPr>
        <p:spPr>
          <a:xfrm>
            <a:off x="3124200" y="1462355"/>
            <a:ext cx="9067800" cy="152576"/>
          </a:xfrm>
          <a:custGeom>
            <a:rect b="b" l="l" r="r" t="t"/>
            <a:pathLst>
              <a:path extrusionOk="0" h="344805" w="9067800">
                <a:moveTo>
                  <a:pt x="0" y="0"/>
                </a:moveTo>
                <a:lnTo>
                  <a:pt x="9067799" y="0"/>
                </a:lnTo>
                <a:lnTo>
                  <a:pt x="9067799" y="344486"/>
                </a:lnTo>
                <a:lnTo>
                  <a:pt x="0" y="344486"/>
                </a:lnTo>
                <a:lnTo>
                  <a:pt x="0" y="0"/>
                </a:lnTo>
                <a:close/>
              </a:path>
            </a:pathLst>
          </a:cu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1"/>
          <p:cNvPicPr preferRelativeResize="0"/>
          <p:nvPr/>
        </p:nvPicPr>
        <p:blipFill rotWithShape="1">
          <a:blip r:embed="rId4">
            <a:alphaModFix/>
          </a:blip>
          <a:srcRect b="17577" l="0" r="0" t="17297"/>
          <a:stretch/>
        </p:blipFill>
        <p:spPr>
          <a:xfrm>
            <a:off x="3533413" y="178125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"/>
          <p:cNvSpPr txBox="1"/>
          <p:nvPr/>
        </p:nvSpPr>
        <p:spPr>
          <a:xfrm>
            <a:off x="6445788" y="3653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58" name="Google Shape;158;p1"/>
          <p:cNvSpPr/>
          <p:nvPr/>
        </p:nvSpPr>
        <p:spPr>
          <a:xfrm>
            <a:off x="6341088" y="4657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"/>
          <p:cNvSpPr/>
          <p:nvPr/>
        </p:nvSpPr>
        <p:spPr>
          <a:xfrm>
            <a:off x="4665662" y="5935662"/>
            <a:ext cx="7526655" cy="923592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"/>
          <p:cNvSpPr/>
          <p:nvPr/>
        </p:nvSpPr>
        <p:spPr>
          <a:xfrm>
            <a:off x="4854090" y="6107437"/>
            <a:ext cx="386079" cy="384175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"/>
          <p:cNvSpPr txBox="1"/>
          <p:nvPr>
            <p:ph type="title"/>
          </p:nvPr>
        </p:nvSpPr>
        <p:spPr>
          <a:xfrm>
            <a:off x="1648475" y="1498525"/>
            <a:ext cx="89523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000">
                <a:latin typeface="Roboto"/>
                <a:ea typeface="Roboto"/>
                <a:cs typeface="Roboto"/>
                <a:sym typeface="Roboto"/>
              </a:rPr>
              <a:t>Programación I - Clase 9</a:t>
            </a:r>
            <a:endParaRPr sz="6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"/>
          <p:cNvSpPr txBox="1"/>
          <p:nvPr/>
        </p:nvSpPr>
        <p:spPr>
          <a:xfrm>
            <a:off x="952325" y="2987475"/>
            <a:ext cx="10344600" cy="22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ctr">
              <a:lnSpc>
                <a:spcPct val="10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Johan Sebastian Piña Duran</a:t>
            </a:r>
            <a:endParaRPr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0" rtl="0" algn="ctr">
              <a:lnSpc>
                <a:spcPct val="84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0" rtl="0" algn="ctr">
              <a:lnSpc>
                <a:spcPct val="84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0" rtl="0" algn="ctr">
              <a:lnSpc>
                <a:spcPct val="84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i="0" lang="en-US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Universidad de Caldas</a:t>
            </a:r>
            <a:endParaRPr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0" rtl="0" algn="ctr">
              <a:lnSpc>
                <a:spcPct val="84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0" rtl="0" algn="ctr">
              <a:lnSpc>
                <a:spcPct val="84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5080" rtl="0" algn="ctr">
              <a:lnSpc>
                <a:spcPct val="703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US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johan.duran@ucaldas.edu.co</a:t>
            </a:r>
            <a:endParaRPr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8" name="Google Shape;168;p2"/>
          <p:cNvPicPr preferRelativeResize="0"/>
          <p:nvPr/>
        </p:nvPicPr>
        <p:blipFill rotWithShape="1">
          <a:blip r:embed="rId3">
            <a:alphaModFix/>
          </a:blip>
          <a:srcRect b="17577" l="0" r="0" t="17297"/>
          <a:stretch/>
        </p:blipFill>
        <p:spPr>
          <a:xfrm>
            <a:off x="115000" y="20585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"/>
          <p:cNvSpPr txBox="1"/>
          <p:nvPr/>
        </p:nvSpPr>
        <p:spPr>
          <a:xfrm>
            <a:off x="3027375" y="393100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70" name="Google Shape;170;p2"/>
          <p:cNvSpPr/>
          <p:nvPr/>
        </p:nvSpPr>
        <p:spPr>
          <a:xfrm>
            <a:off x="2922675" y="493475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dc50864afa_0_297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1dc50864afa_0_297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1dc50864afa_0_297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g1dc50864afa_0_297"/>
          <p:cNvPicPr preferRelativeResize="0"/>
          <p:nvPr/>
        </p:nvPicPr>
        <p:blipFill rotWithShape="1">
          <a:blip r:embed="rId3">
            <a:alphaModFix/>
          </a:blip>
          <a:srcRect b="17577" l="0" r="0" t="17297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1dc50864afa_0_297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1dc50864afa_0_297"/>
          <p:cNvSpPr txBox="1"/>
          <p:nvPr>
            <p:ph type="title"/>
          </p:nvPr>
        </p:nvSpPr>
        <p:spPr>
          <a:xfrm>
            <a:off x="1170300" y="1887150"/>
            <a:ext cx="31452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700">
                <a:latin typeface="Roboto"/>
                <a:ea typeface="Roboto"/>
                <a:cs typeface="Roboto"/>
                <a:sym typeface="Roboto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Agenda</a:t>
            </a:r>
            <a:endParaRPr b="1" sz="3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g1dc50864afa_0_297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82" name="Google Shape;182;g1dc50864afa_0_297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1dc50864afa_0_297"/>
          <p:cNvSpPr txBox="1"/>
          <p:nvPr/>
        </p:nvSpPr>
        <p:spPr>
          <a:xfrm>
            <a:off x="732775" y="2781250"/>
            <a:ext cx="66282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AutoNum type="arabicPeriod"/>
            </a:pPr>
            <a:r>
              <a:rPr i="0" lang="en-US" sz="3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Introducción a </a:t>
            </a:r>
            <a:r>
              <a:rPr lang="en-US" sz="3000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i="0" lang="en-US" sz="3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rreglos</a:t>
            </a:r>
            <a:endParaRPr i="0" sz="3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191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AutoNum type="arabicPeriod"/>
            </a:pPr>
            <a:r>
              <a:rPr i="0" lang="en-US" sz="3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Conceptos básicos</a:t>
            </a:r>
            <a:endParaRPr i="0" sz="3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191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Roboto"/>
              <a:buAutoNum type="arabicPeriod"/>
            </a:pPr>
            <a:r>
              <a:rPr i="0" lang="en-US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Sintaxis y Declaración</a:t>
            </a:r>
            <a:endParaRPr i="0" sz="3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191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AutoNum type="arabicPeriod"/>
            </a:pPr>
            <a:r>
              <a:rPr lang="en-US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Ejemplos Arrays</a:t>
            </a:r>
            <a:endParaRPr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191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AutoNum type="arabicPeriod"/>
            </a:pPr>
            <a:r>
              <a:rPr lang="en-US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Arrays de tamaño </a:t>
            </a:r>
            <a:r>
              <a:rPr lang="en-US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</a:t>
            </a:r>
            <a:endParaRPr i="0" sz="3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4" name="Google Shape;184;g1dc50864afa_0_2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0550" y="1887150"/>
            <a:ext cx="3432275" cy="34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dd2b324201_0_54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1dd2b324201_0_54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1dd2b324201_0_54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g1dd2b324201_0_54"/>
          <p:cNvPicPr preferRelativeResize="0"/>
          <p:nvPr/>
        </p:nvPicPr>
        <p:blipFill rotWithShape="1">
          <a:blip r:embed="rId3">
            <a:alphaModFix/>
          </a:blip>
          <a:srcRect b="17577" l="0" r="0" t="17297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1dd2b324201_0_54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1dd2b324201_0_54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95" name="Google Shape;195;g1dd2b324201_0_54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1dd2b324201_0_54"/>
          <p:cNvSpPr txBox="1"/>
          <p:nvPr>
            <p:ph type="title"/>
          </p:nvPr>
        </p:nvSpPr>
        <p:spPr>
          <a:xfrm>
            <a:off x="1697225" y="2802900"/>
            <a:ext cx="890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6000">
                <a:latin typeface="Roboto"/>
                <a:ea typeface="Roboto"/>
                <a:cs typeface="Roboto"/>
                <a:sym typeface="Roboto"/>
              </a:rPr>
              <a:t>Introducción a Arreglos</a:t>
            </a:r>
            <a:endParaRPr b="1" sz="6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e1e69e2135_0_107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1e1e69e2135_0_107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1e1e69e2135_0_107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g1e1e69e2135_0_107"/>
          <p:cNvPicPr preferRelativeResize="0"/>
          <p:nvPr/>
        </p:nvPicPr>
        <p:blipFill rotWithShape="1">
          <a:blip r:embed="rId3">
            <a:alphaModFix/>
          </a:blip>
          <a:srcRect b="17580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1e1e69e2135_0_107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1e1e69e2135_0_107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07" name="Google Shape;207;g1e1e69e2135_0_107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1e1e69e2135_0_107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1e1e69e2135_0_107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Introducción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g1e1e69e2135_0_107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1e1e69e2135_0_107"/>
          <p:cNvSpPr txBox="1"/>
          <p:nvPr/>
        </p:nvSpPr>
        <p:spPr>
          <a:xfrm>
            <a:off x="1183625" y="1599838"/>
            <a:ext cx="6423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¿Qué son los arreglos?</a:t>
            </a:r>
            <a:endParaRPr b="1" sz="2500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g1e1e69e2135_0_107"/>
          <p:cNvSpPr txBox="1"/>
          <p:nvPr/>
        </p:nvSpPr>
        <p:spPr>
          <a:xfrm>
            <a:off x="1183625" y="2516350"/>
            <a:ext cx="96384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US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 arreglo es una estructura de datos que nos permite almacenar y manipular una colección de elementos del mismo tipo en una sola variable.</a:t>
            </a:r>
            <a:endParaRPr i="0" sz="2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 otras palabras, un arreglo se puede ver como un conjunto de variables que comparten un mismo nombre.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3" name="Google Shape;213;g1e1e69e2135_0_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0438" y="4572000"/>
            <a:ext cx="6571126" cy="114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e1393e5aad_0_130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1e1393e5aad_0_130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1e1393e5aad_0_130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g1e1393e5aad_0_130"/>
          <p:cNvPicPr preferRelativeResize="0"/>
          <p:nvPr/>
        </p:nvPicPr>
        <p:blipFill rotWithShape="1">
          <a:blip r:embed="rId3">
            <a:alphaModFix/>
          </a:blip>
          <a:srcRect b="17580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1e1393e5aad_0_130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1e1393e5aad_0_130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24" name="Google Shape;224;g1e1393e5aad_0_130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1e1393e5aad_0_130"/>
          <p:cNvSpPr txBox="1"/>
          <p:nvPr/>
        </p:nvSpPr>
        <p:spPr>
          <a:xfrm>
            <a:off x="648700" y="1475513"/>
            <a:ext cx="6423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7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Variables vs Arreglos</a:t>
            </a:r>
            <a:endParaRPr b="1" i="0" sz="27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g1e1393e5aad_0_130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1e1393e5aad_0_130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Introducción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g1e1393e5aad_0_130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1e1393e5aad_0_130"/>
          <p:cNvSpPr txBox="1"/>
          <p:nvPr/>
        </p:nvSpPr>
        <p:spPr>
          <a:xfrm>
            <a:off x="1274600" y="2233988"/>
            <a:ext cx="37488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Variable</a:t>
            </a:r>
            <a:endParaRPr b="1"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Tipo de dato definido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Nombre asociado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lang="en-US" sz="23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Un</a:t>
            </a:r>
            <a:r>
              <a:rPr lang="en-US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valor a la vez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g1e1393e5aad_0_130"/>
          <p:cNvSpPr txBox="1"/>
          <p:nvPr/>
        </p:nvSpPr>
        <p:spPr>
          <a:xfrm>
            <a:off x="7168600" y="2233988"/>
            <a:ext cx="37488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Arreglo</a:t>
            </a:r>
            <a:endParaRPr b="1"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Tipo de dato definido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Nombre asociado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lang="en-US" sz="23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Varios </a:t>
            </a:r>
            <a:r>
              <a:rPr lang="en-US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valores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e85dc56643_0_6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1e85dc56643_0_6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1e85dc56643_0_6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g1e85dc56643_0_6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1e85dc56643_0_6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1e85dc56643_0_6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41" name="Google Shape;241;g1e85dc56643_0_6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1e85dc56643_0_6"/>
          <p:cNvSpPr txBox="1"/>
          <p:nvPr/>
        </p:nvSpPr>
        <p:spPr>
          <a:xfrm>
            <a:off x="648700" y="1475513"/>
            <a:ext cx="6423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7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Variables vs Arreglos</a:t>
            </a:r>
            <a:endParaRPr b="1" i="0" sz="27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g1e85dc56643_0_6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1e85dc56643_0_6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Introducción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g1e85dc56643_0_6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g1e85dc56643_0_6"/>
          <p:cNvSpPr txBox="1"/>
          <p:nvPr/>
        </p:nvSpPr>
        <p:spPr>
          <a:xfrm>
            <a:off x="1274600" y="2233988"/>
            <a:ext cx="37488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Variable</a:t>
            </a:r>
            <a:endParaRPr b="1"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Tipo de dato definido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Nombre asociado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lang="en-US" sz="23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Un</a:t>
            </a:r>
            <a:r>
              <a:rPr lang="en-US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valor a la vez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g1e85dc56643_0_6"/>
          <p:cNvSpPr txBox="1"/>
          <p:nvPr/>
        </p:nvSpPr>
        <p:spPr>
          <a:xfrm>
            <a:off x="7168600" y="2233988"/>
            <a:ext cx="37488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Arreglo</a:t>
            </a:r>
            <a:endParaRPr b="1"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Tipo de dato definido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Nombre asociado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lang="en-US" sz="23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Varios </a:t>
            </a:r>
            <a:r>
              <a:rPr lang="en-US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valores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g1e85dc56643_0_6"/>
          <p:cNvSpPr/>
          <p:nvPr/>
        </p:nvSpPr>
        <p:spPr>
          <a:xfrm>
            <a:off x="2979800" y="4349050"/>
            <a:ext cx="338400" cy="861900"/>
          </a:xfrm>
          <a:prstGeom prst="downArrow">
            <a:avLst>
              <a:gd fmla="val 50000" name="adj1"/>
              <a:gd fmla="val 63342" name="adj2"/>
            </a:avLst>
          </a:prstGeom>
          <a:solidFill>
            <a:srgbClr val="18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1e85dc56643_0_6"/>
          <p:cNvSpPr txBox="1"/>
          <p:nvPr/>
        </p:nvSpPr>
        <p:spPr>
          <a:xfrm>
            <a:off x="1918700" y="5371200"/>
            <a:ext cx="2460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Roboto"/>
                <a:ea typeface="Roboto"/>
                <a:cs typeface="Roboto"/>
                <a:sym typeface="Roboto"/>
              </a:rPr>
              <a:t>Datos simples</a:t>
            </a:r>
            <a:endParaRPr b="1"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g1e85dc56643_0_6"/>
          <p:cNvSpPr txBox="1"/>
          <p:nvPr/>
        </p:nvSpPr>
        <p:spPr>
          <a:xfrm>
            <a:off x="6403425" y="5355950"/>
            <a:ext cx="5187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Roboto"/>
                <a:ea typeface="Roboto"/>
                <a:cs typeface="Roboto"/>
                <a:sym typeface="Roboto"/>
              </a:rPr>
              <a:t>Datos estructurados / Estructura de datos</a:t>
            </a:r>
            <a:endParaRPr b="1"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g1e85dc56643_0_6"/>
          <p:cNvSpPr/>
          <p:nvPr/>
        </p:nvSpPr>
        <p:spPr>
          <a:xfrm>
            <a:off x="8873800" y="4341425"/>
            <a:ext cx="338400" cy="861900"/>
          </a:xfrm>
          <a:prstGeom prst="downArrow">
            <a:avLst>
              <a:gd fmla="val 50000" name="adj1"/>
              <a:gd fmla="val 63342" name="adj2"/>
            </a:avLst>
          </a:prstGeom>
          <a:solidFill>
            <a:srgbClr val="1880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e85dc56643_0_28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1e85dc56643_0_28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1e85dc56643_0_28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g1e85dc56643_0_28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1e85dc56643_0_28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1e85dc56643_0_28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62" name="Google Shape;262;g1e85dc56643_0_28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1e85dc56643_0_28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g1e85dc56643_0_28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Introducción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g1e85dc56643_0_28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g1e85dc56643_0_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854" y="1503100"/>
            <a:ext cx="10580120" cy="4819926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1e85dc56643_0_28"/>
          <p:cNvSpPr txBox="1"/>
          <p:nvPr/>
        </p:nvSpPr>
        <p:spPr>
          <a:xfrm>
            <a:off x="7756375" y="1666300"/>
            <a:ext cx="3681000" cy="114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Georgia"/>
                <a:ea typeface="Georgia"/>
                <a:cs typeface="Georgia"/>
                <a:sym typeface="Georgia"/>
              </a:rPr>
              <a:t>entero  </a:t>
            </a:r>
            <a:r>
              <a:rPr i="1" lang="en-US" sz="1500">
                <a:latin typeface="Consolas"/>
                <a:ea typeface="Consolas"/>
                <a:cs typeface="Consolas"/>
                <a:sym typeface="Consolas"/>
              </a:rPr>
              <a:t>(int, short, long, byte)</a:t>
            </a:r>
            <a:endParaRPr i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Georgia"/>
                <a:ea typeface="Georgia"/>
                <a:cs typeface="Georgia"/>
                <a:sym typeface="Georgia"/>
              </a:rPr>
              <a:t>real  </a:t>
            </a:r>
            <a:r>
              <a:rPr i="1" lang="en-US" sz="1500">
                <a:latin typeface="Consolas"/>
                <a:ea typeface="Consolas"/>
                <a:cs typeface="Consolas"/>
                <a:sym typeface="Consolas"/>
              </a:rPr>
              <a:t>(float, double)</a:t>
            </a:r>
            <a:endParaRPr i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Georgia"/>
                <a:ea typeface="Georgia"/>
                <a:cs typeface="Georgia"/>
                <a:sym typeface="Georgia"/>
              </a:rPr>
              <a:t>cáracter  </a:t>
            </a:r>
            <a:r>
              <a:rPr i="1" lang="en-US" sz="1500">
                <a:latin typeface="Consolas"/>
                <a:ea typeface="Consolas"/>
                <a:cs typeface="Consolas"/>
                <a:sym typeface="Consolas"/>
              </a:rPr>
              <a:t>(char)</a:t>
            </a:r>
            <a:endParaRPr i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Georgia"/>
                <a:ea typeface="Georgia"/>
                <a:cs typeface="Georgia"/>
                <a:sym typeface="Georgia"/>
              </a:rPr>
              <a:t>lógico  </a:t>
            </a:r>
            <a:r>
              <a:rPr i="1" lang="en-US" sz="1500">
                <a:latin typeface="Consolas"/>
                <a:ea typeface="Consolas"/>
                <a:cs typeface="Consolas"/>
                <a:sym typeface="Consolas"/>
              </a:rPr>
              <a:t>(boolean)</a:t>
            </a:r>
            <a:endParaRPr i="1" sz="15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8" name="Google Shape;268;g1e85dc56643_0_28"/>
          <p:cNvSpPr/>
          <p:nvPr/>
        </p:nvSpPr>
        <p:spPr>
          <a:xfrm>
            <a:off x="7593425" y="1666300"/>
            <a:ext cx="3681000" cy="1149900"/>
          </a:xfrm>
          <a:prstGeom prst="rect">
            <a:avLst/>
          </a:prstGeom>
          <a:noFill/>
          <a:ln cap="flat" cmpd="sng" w="28575">
            <a:solidFill>
              <a:srgbClr val="00AE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1e85dc56643_0_28"/>
          <p:cNvSpPr/>
          <p:nvPr/>
        </p:nvSpPr>
        <p:spPr>
          <a:xfrm>
            <a:off x="7593425" y="3530375"/>
            <a:ext cx="3681000" cy="343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1e85dc56643_0_28"/>
          <p:cNvSpPr txBox="1"/>
          <p:nvPr/>
        </p:nvSpPr>
        <p:spPr>
          <a:xfrm>
            <a:off x="7756375" y="4965650"/>
            <a:ext cx="3681000" cy="114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Georgia"/>
                <a:ea typeface="Georgia"/>
                <a:cs typeface="Georgia"/>
                <a:sym typeface="Georgia"/>
              </a:rPr>
              <a:t>listas</a:t>
            </a:r>
            <a:r>
              <a:rPr lang="en-US" sz="1500">
                <a:latin typeface="Georgia"/>
                <a:ea typeface="Georgia"/>
                <a:cs typeface="Georgia"/>
                <a:sym typeface="Georgia"/>
              </a:rPr>
              <a:t>  </a:t>
            </a:r>
            <a:r>
              <a:rPr i="1" lang="en-US" sz="1500">
                <a:latin typeface="Consolas"/>
                <a:ea typeface="Consolas"/>
                <a:cs typeface="Consolas"/>
                <a:sym typeface="Consolas"/>
              </a:rPr>
              <a:t>(ArrayLists, pilas/colas)</a:t>
            </a:r>
            <a:endParaRPr i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Georgia"/>
                <a:ea typeface="Georgia"/>
                <a:cs typeface="Georgia"/>
                <a:sym typeface="Georgia"/>
              </a:rPr>
              <a:t>listas enlazadas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Georgia"/>
                <a:ea typeface="Georgia"/>
                <a:cs typeface="Georgia"/>
                <a:sym typeface="Georgia"/>
              </a:rPr>
              <a:t>árboles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Georgia"/>
                <a:ea typeface="Georgia"/>
                <a:cs typeface="Georgia"/>
                <a:sym typeface="Georgia"/>
              </a:rPr>
              <a:t>grafos</a:t>
            </a:r>
            <a:endParaRPr sz="15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1" name="Google Shape;271;g1e85dc56643_0_28"/>
          <p:cNvSpPr/>
          <p:nvPr/>
        </p:nvSpPr>
        <p:spPr>
          <a:xfrm>
            <a:off x="7593425" y="4587750"/>
            <a:ext cx="3681000" cy="343200"/>
          </a:xfrm>
          <a:prstGeom prst="rect">
            <a:avLst/>
          </a:prstGeom>
          <a:noFill/>
          <a:ln cap="flat" cmpd="sng" w="28575">
            <a:solidFill>
              <a:srgbClr val="00AE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1e85dc56643_0_28"/>
          <p:cNvSpPr/>
          <p:nvPr/>
        </p:nvSpPr>
        <p:spPr>
          <a:xfrm>
            <a:off x="7593425" y="4987675"/>
            <a:ext cx="3681000" cy="343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e1e69e2135_0_184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1e1e69e2135_0_184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1e1e69e2135_0_184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g1e1e69e2135_0_184"/>
          <p:cNvPicPr preferRelativeResize="0"/>
          <p:nvPr/>
        </p:nvPicPr>
        <p:blipFill rotWithShape="1">
          <a:blip r:embed="rId3">
            <a:alphaModFix/>
          </a:blip>
          <a:srcRect b="17580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1e1e69e2135_0_184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1e1e69e2135_0_184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83" name="Google Shape;283;g1e1e69e2135_0_184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1e1e69e2135_0_184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1e1e69e2135_0_184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387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6" name="Google Shape;286;g1e1e69e2135_0_184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1e1e69e2135_0_184"/>
          <p:cNvSpPr txBox="1"/>
          <p:nvPr>
            <p:ph type="title"/>
          </p:nvPr>
        </p:nvSpPr>
        <p:spPr>
          <a:xfrm>
            <a:off x="1642350" y="2736688"/>
            <a:ext cx="890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6000">
                <a:latin typeface="Roboto"/>
                <a:ea typeface="Roboto"/>
                <a:cs typeface="Roboto"/>
                <a:sym typeface="Roboto"/>
              </a:rPr>
              <a:t>Conceptos Básicos</a:t>
            </a:r>
            <a:endParaRPr b="1" i="1" sz="3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e26dc8783d_0_130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1e26dc8783d_0_130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1e26dc8783d_0_130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g1e26dc8783d_0_130"/>
          <p:cNvPicPr preferRelativeResize="0"/>
          <p:nvPr/>
        </p:nvPicPr>
        <p:blipFill rotWithShape="1">
          <a:blip r:embed="rId3">
            <a:alphaModFix/>
          </a:blip>
          <a:srcRect b="17581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g1e26dc8783d_0_130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1e26dc8783d_0_130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98" name="Google Shape;298;g1e26dc8783d_0_130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1e26dc8783d_0_130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1e26dc8783d_0_130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Conceptos básicos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g1e26dc8783d_0_130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1e26dc8783d_0_130"/>
          <p:cNvSpPr txBox="1"/>
          <p:nvPr/>
        </p:nvSpPr>
        <p:spPr>
          <a:xfrm>
            <a:off x="722975" y="1569800"/>
            <a:ext cx="4454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Elementos de un Arreglo</a:t>
            </a:r>
            <a:endParaRPr b="1" i="0" sz="25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g1e26dc8783d_0_130"/>
          <p:cNvSpPr txBox="1"/>
          <p:nvPr/>
        </p:nvSpPr>
        <p:spPr>
          <a:xfrm>
            <a:off x="875375" y="2412075"/>
            <a:ext cx="55521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Longitud: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cantidad de espacios en memoria que este posee.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4" name="Google Shape;304;g1e26dc8783d_0_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7200" y="2205900"/>
            <a:ext cx="45720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e85dc56643_0_96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1e85dc56643_0_96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1e85dc56643_0_96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g1e85dc56643_0_96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1e85dc56643_0_96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1e85dc56643_0_96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315" name="Google Shape;315;g1e85dc56643_0_96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1e85dc56643_0_96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1e85dc56643_0_96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Conceptos básicos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g1e85dc56643_0_96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1e85dc56643_0_96"/>
          <p:cNvSpPr txBox="1"/>
          <p:nvPr/>
        </p:nvSpPr>
        <p:spPr>
          <a:xfrm>
            <a:off x="722975" y="1569800"/>
            <a:ext cx="4454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Elementos de un Arreglo</a:t>
            </a:r>
            <a:endParaRPr b="1" i="0" sz="25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g1e85dc56643_0_96"/>
          <p:cNvSpPr txBox="1"/>
          <p:nvPr/>
        </p:nvSpPr>
        <p:spPr>
          <a:xfrm>
            <a:off x="875375" y="2412075"/>
            <a:ext cx="55521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Longitud: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cantidad de espacios en memoria que este posee.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Posición: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cada espacio de memoria asignado a un arreglo. Un arreglo tiene tantas posiciones como la longitud indica.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1" name="Google Shape;321;g1e85dc56643_0_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7200" y="2205902"/>
            <a:ext cx="45720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e85dc56643_0_113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1e85dc56643_0_113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1e85dc56643_0_113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g1e85dc56643_0_113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g1e85dc56643_0_113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1e85dc56643_0_113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332" name="Google Shape;332;g1e85dc56643_0_113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1e85dc56643_0_113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1e85dc56643_0_113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Conceptos básicos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g1e85dc56643_0_113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1e85dc56643_0_113"/>
          <p:cNvSpPr txBox="1"/>
          <p:nvPr/>
        </p:nvSpPr>
        <p:spPr>
          <a:xfrm>
            <a:off x="722975" y="1569800"/>
            <a:ext cx="4454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Elementos de un Arreglo</a:t>
            </a:r>
            <a:endParaRPr b="1" i="0" sz="25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g1e85dc56643_0_113"/>
          <p:cNvSpPr txBox="1"/>
          <p:nvPr/>
        </p:nvSpPr>
        <p:spPr>
          <a:xfrm>
            <a:off x="597100" y="4364650"/>
            <a:ext cx="4454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Vimos como los datos tipo String son un tipo de arreglo que guarda caracteres alfanuméricos </a:t>
            </a:r>
            <a:endParaRPr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g1e85dc56643_0_113"/>
          <p:cNvSpPr txBox="1"/>
          <p:nvPr/>
        </p:nvSpPr>
        <p:spPr>
          <a:xfrm>
            <a:off x="875375" y="2412075"/>
            <a:ext cx="5552100" cy="3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Longitud: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cantidad de espacios en memoria que este posee.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Posición: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cada espacio de memoria asignado a un arreglo. Un arreglo tiene tantas posiciones como la longitud indica.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Indice: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referente a cada posición del arreglo. Cada posición tiene un índice, la primera posición tiene el índice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la segunda el índice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y así sucesivamente.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9" name="Google Shape;339;g1e85dc56643_0_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7200" y="2205900"/>
            <a:ext cx="4572000" cy="3096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e85dc56643_0_136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1e85dc56643_0_136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1e85dc56643_0_136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7" name="Google Shape;347;g1e85dc56643_0_136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1e85dc56643_0_136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1e85dc56643_0_136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350" name="Google Shape;350;g1e85dc56643_0_136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1e85dc56643_0_136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1e85dc56643_0_136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Conceptos básicos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g1e85dc56643_0_136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1e85dc56643_0_136"/>
          <p:cNvSpPr txBox="1"/>
          <p:nvPr/>
        </p:nvSpPr>
        <p:spPr>
          <a:xfrm>
            <a:off x="722975" y="1569800"/>
            <a:ext cx="4454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String como arreglo</a:t>
            </a:r>
            <a:endParaRPr b="1" i="0" sz="25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Google Shape;355;g1e85dc56643_0_136"/>
          <p:cNvSpPr txBox="1"/>
          <p:nvPr/>
        </p:nvSpPr>
        <p:spPr>
          <a:xfrm>
            <a:off x="875375" y="2412075"/>
            <a:ext cx="98268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 objeto String es un arreglo de caracteres (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saludo </a:t>
            </a:r>
            <a:r>
              <a:rPr b="1" lang="en-US" sz="20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“Hola Mundo”</a:t>
            </a:r>
            <a:r>
              <a:rPr b="1" lang="en-US" sz="20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2000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56" name="Google Shape;356;g1e85dc56643_0_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4300" y="3507200"/>
            <a:ext cx="6835698" cy="2335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e85dc56643_0_154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1e85dc56643_0_154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1e85dc56643_0_154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4" name="Google Shape;364;g1e85dc56643_0_154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1e85dc56643_0_154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1e85dc56643_0_154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367" name="Google Shape;367;g1e85dc56643_0_154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1e85dc56643_0_154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1e85dc56643_0_154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Conceptos básicos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g1e85dc56643_0_154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1e85dc56643_0_154"/>
          <p:cNvSpPr txBox="1"/>
          <p:nvPr/>
        </p:nvSpPr>
        <p:spPr>
          <a:xfrm>
            <a:off x="722975" y="1569800"/>
            <a:ext cx="4454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String como arreglo</a:t>
            </a:r>
            <a:endParaRPr b="1" i="0" sz="25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g1e85dc56643_0_154"/>
          <p:cNvSpPr txBox="1"/>
          <p:nvPr/>
        </p:nvSpPr>
        <p:spPr>
          <a:xfrm>
            <a:off x="875375" y="2412075"/>
            <a:ext cx="98268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 objeto String es un arreglo de caracteres (</a:t>
            </a:r>
            <a:r>
              <a:rPr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saludo </a:t>
            </a:r>
            <a:r>
              <a:rPr b="1" lang="en-US" sz="20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“Hola Mundo”</a:t>
            </a:r>
            <a:r>
              <a:rPr b="1" lang="en-US" sz="20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2000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73" name="Google Shape;373;g1e85dc56643_0_1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4300" y="3450963"/>
            <a:ext cx="6979451" cy="274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e85dc56643_0_56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1e85dc56643_0_56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1e85dc56643_0_56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g1e85dc56643_0_56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g1e85dc56643_0_56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1e85dc56643_0_56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384" name="Google Shape;384;g1e85dc56643_0_56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1e85dc56643_0_56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1e85dc56643_0_56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Conceptos básicos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g1e85dc56643_0_56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1e85dc56643_0_56"/>
          <p:cNvSpPr txBox="1"/>
          <p:nvPr/>
        </p:nvSpPr>
        <p:spPr>
          <a:xfrm>
            <a:off x="722975" y="1815375"/>
            <a:ext cx="4454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Almacenamiento</a:t>
            </a:r>
            <a:endParaRPr b="1" i="0" sz="25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g1e85dc56643_0_56"/>
          <p:cNvSpPr txBox="1"/>
          <p:nvPr/>
        </p:nvSpPr>
        <p:spPr>
          <a:xfrm>
            <a:off x="722975" y="3001850"/>
            <a:ext cx="4655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elementos de un arreglo se almacenan en posiciones consecutivas de memoria, lo que permite acceder a ellos de forma eficiente y manipularlos de manera organizada.</a:t>
            </a:r>
            <a:endParaRPr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e85dc56643_0_75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1e85dc56643_0_75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1e85dc56643_0_75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7" name="Google Shape;397;g1e85dc56643_0_75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g1e85dc56643_0_75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1e85dc56643_0_75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400" name="Google Shape;400;g1e85dc56643_0_75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1e85dc56643_0_75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1e85dc56643_0_75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Conceptos básicos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g1e85dc56643_0_75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g1e85dc56643_0_75"/>
          <p:cNvSpPr txBox="1"/>
          <p:nvPr/>
        </p:nvSpPr>
        <p:spPr>
          <a:xfrm>
            <a:off x="722975" y="1815375"/>
            <a:ext cx="4454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Almacenamiento</a:t>
            </a:r>
            <a:endParaRPr b="1" i="0" sz="25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g1e85dc56643_0_75"/>
          <p:cNvSpPr txBox="1"/>
          <p:nvPr/>
        </p:nvSpPr>
        <p:spPr>
          <a:xfrm>
            <a:off x="722975" y="3001850"/>
            <a:ext cx="4655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 elementos de un arreglo se almacenan en posiciones consecutivas de memoria, lo que permite acceder a ellos de forma eficiente y manipularlos de manera organizada.</a:t>
            </a:r>
            <a:endParaRPr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06" name="Google Shape;406;g1e85dc56643_0_75"/>
          <p:cNvPicPr preferRelativeResize="0"/>
          <p:nvPr/>
        </p:nvPicPr>
        <p:blipFill rotWithShape="1">
          <a:blip r:embed="rId4">
            <a:alphaModFix/>
          </a:blip>
          <a:srcRect b="0" l="3086" r="5338" t="0"/>
          <a:stretch/>
        </p:blipFill>
        <p:spPr>
          <a:xfrm>
            <a:off x="5857850" y="2296425"/>
            <a:ext cx="6233950" cy="31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g1e85dc56643_0_75"/>
          <p:cNvSpPr txBox="1"/>
          <p:nvPr/>
        </p:nvSpPr>
        <p:spPr>
          <a:xfrm>
            <a:off x="6755975" y="1815375"/>
            <a:ext cx="465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Ejemplo</a:t>
            </a: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Array con 50 números</a:t>
            </a:r>
            <a:endParaRPr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g1e85dc56643_0_75"/>
          <p:cNvSpPr txBox="1"/>
          <p:nvPr/>
        </p:nvSpPr>
        <p:spPr>
          <a:xfrm>
            <a:off x="5948875" y="2818750"/>
            <a:ext cx="2065500" cy="237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NUMEROS[0]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NUMEROS[1]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NUMEROS[2]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NUMEROS[49]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1e85dc56643_0_173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4" name="Google Shape;414;g1e85dc56643_0_173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g1e85dc56643_0_173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g1e85dc56643_0_173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417" name="Google Shape;417;g1e85dc56643_0_173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g1e85dc56643_0_173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1e85dc56643_0_173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Conceptos básicos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g1e85dc56643_0_173"/>
          <p:cNvSpPr txBox="1"/>
          <p:nvPr/>
        </p:nvSpPr>
        <p:spPr>
          <a:xfrm>
            <a:off x="670600" y="1807225"/>
            <a:ext cx="4454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Dimensiones en los Arreglos</a:t>
            </a:r>
            <a:endParaRPr b="1" i="0" sz="25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g1e85dc56643_0_173"/>
          <p:cNvSpPr txBox="1"/>
          <p:nvPr/>
        </p:nvSpPr>
        <p:spPr>
          <a:xfrm>
            <a:off x="705775" y="2837025"/>
            <a:ext cx="5362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just">
              <a:lnSpc>
                <a:spcPct val="2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b="1" i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Arreglo, vector, matriz unidimensional</a:t>
            </a:r>
            <a:endParaRPr b="1" i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Arreglo bidimensional, matriz 2D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Arreglo tridimensional, matriz 3D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Arreglo N-D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2" name="Google Shape;422;g1e85dc56643_0_1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5475" y="850575"/>
            <a:ext cx="2471973" cy="6771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g1e85dc56643_0_173"/>
          <p:cNvSpPr txBox="1"/>
          <p:nvPr/>
        </p:nvSpPr>
        <p:spPr>
          <a:xfrm>
            <a:off x="6407600" y="916750"/>
            <a:ext cx="1294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1D</a:t>
            </a:r>
            <a:endParaRPr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4" name="Google Shape;424;g1e85dc56643_0_1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75474" y="1527700"/>
            <a:ext cx="2471976" cy="1128512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g1e85dc56643_0_173"/>
          <p:cNvSpPr txBox="1"/>
          <p:nvPr/>
        </p:nvSpPr>
        <p:spPr>
          <a:xfrm>
            <a:off x="6407600" y="1845613"/>
            <a:ext cx="1294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6" name="Google Shape;426;g1e85dc56643_0_1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88747" y="2726363"/>
            <a:ext cx="1645425" cy="1373576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g1e85dc56643_0_173"/>
          <p:cNvSpPr txBox="1"/>
          <p:nvPr/>
        </p:nvSpPr>
        <p:spPr>
          <a:xfrm>
            <a:off x="6407600" y="5176713"/>
            <a:ext cx="1294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N-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8" name="Google Shape;428;g1e85dc56643_0_1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36626" y="4170125"/>
            <a:ext cx="2749675" cy="2505801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g1e85dc56643_0_173"/>
          <p:cNvSpPr txBox="1"/>
          <p:nvPr/>
        </p:nvSpPr>
        <p:spPr>
          <a:xfrm>
            <a:off x="6407600" y="3182688"/>
            <a:ext cx="1294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1e26dc8783d_0_164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1e26dc8783d_0_164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1e26dc8783d_0_164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7" name="Google Shape;437;g1e26dc8783d_0_164"/>
          <p:cNvPicPr preferRelativeResize="0"/>
          <p:nvPr/>
        </p:nvPicPr>
        <p:blipFill rotWithShape="1">
          <a:blip r:embed="rId3">
            <a:alphaModFix/>
          </a:blip>
          <a:srcRect b="17581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g1e26dc8783d_0_164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1e26dc8783d_0_164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440" name="Google Shape;440;g1e26dc8783d_0_164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1e26dc8783d_0_164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g1e26dc8783d_0_164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387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3" name="Google Shape;443;g1e26dc8783d_0_164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g1e26dc8783d_0_164"/>
          <p:cNvSpPr txBox="1"/>
          <p:nvPr>
            <p:ph type="title"/>
          </p:nvPr>
        </p:nvSpPr>
        <p:spPr>
          <a:xfrm>
            <a:off x="1642350" y="2766338"/>
            <a:ext cx="890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6000">
                <a:latin typeface="Roboto"/>
                <a:ea typeface="Roboto"/>
                <a:cs typeface="Roboto"/>
                <a:sym typeface="Roboto"/>
              </a:rPr>
              <a:t>Sintaxis y Declaración</a:t>
            </a:r>
            <a:endParaRPr b="1" i="1" sz="6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1e26dc8783d_0_178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1e26dc8783d_0_178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g1e26dc8783d_0_178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2" name="Google Shape;452;g1e26dc8783d_0_178"/>
          <p:cNvPicPr preferRelativeResize="0"/>
          <p:nvPr/>
        </p:nvPicPr>
        <p:blipFill rotWithShape="1">
          <a:blip r:embed="rId3">
            <a:alphaModFix/>
          </a:blip>
          <a:srcRect b="17581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g1e26dc8783d_0_178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g1e26dc8783d_0_178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455" name="Google Shape;455;g1e26dc8783d_0_178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1e26dc8783d_0_178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1e26dc8783d_0_178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Sintaxis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g1e26dc8783d_0_178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1e26dc8783d_0_178"/>
          <p:cNvSpPr txBox="1"/>
          <p:nvPr/>
        </p:nvSpPr>
        <p:spPr>
          <a:xfrm>
            <a:off x="722975" y="1417400"/>
            <a:ext cx="5581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Notación</a:t>
            </a:r>
            <a:endParaRPr b="1" i="0" sz="25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g1e26dc8783d_0_178"/>
          <p:cNvSpPr txBox="1"/>
          <p:nvPr/>
        </p:nvSpPr>
        <p:spPr>
          <a:xfrm>
            <a:off x="722975" y="2105250"/>
            <a:ext cx="10502700" cy="17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Antes de continuar repasemos los elementos de un array y definamos la notación que se usará.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 array contiene datos/variables y su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longitud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será denotada con la letra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si el arreglo tiene una longitud igual a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entonces su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índices 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serán los enteros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{0, 1, … , n-2, n-1}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e85dc56643_0_224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1e85dc56643_0_224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g1e85dc56643_0_224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8" name="Google Shape;468;g1e85dc56643_0_224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g1e85dc56643_0_224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1e85dc56643_0_224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471" name="Google Shape;471;g1e85dc56643_0_224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1e85dc56643_0_224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1e85dc56643_0_224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Sintaxis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g1e85dc56643_0_224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1e85dc56643_0_224"/>
          <p:cNvSpPr txBox="1"/>
          <p:nvPr/>
        </p:nvSpPr>
        <p:spPr>
          <a:xfrm>
            <a:off x="722975" y="1417400"/>
            <a:ext cx="5581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Notación</a:t>
            </a:r>
            <a:endParaRPr b="1" i="0" sz="25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g1e85dc56643_0_224"/>
          <p:cNvSpPr txBox="1"/>
          <p:nvPr/>
        </p:nvSpPr>
        <p:spPr>
          <a:xfrm>
            <a:off x="722975" y="2105250"/>
            <a:ext cx="10502700" cy="17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Antes de continuar repasemos los elementos de un array y definamos la notación que se usará.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 array contiene datos/variables y su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longitud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será denotada con la letra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si el arreglo tiene una longitud igual a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entonces su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índices 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serán los enteros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{0, 1, … , n-2, n-1}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7" name="Google Shape;477;g1e85dc56643_0_2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9550" y="4281150"/>
            <a:ext cx="3972200" cy="2041875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g1e85dc56643_0_224"/>
          <p:cNvSpPr txBox="1"/>
          <p:nvPr/>
        </p:nvSpPr>
        <p:spPr>
          <a:xfrm>
            <a:off x="6988100" y="4399725"/>
            <a:ext cx="41883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Posiciones 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i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(1, 2, 3, 4)</a:t>
            </a:r>
            <a:endParaRPr i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Longitud </a:t>
            </a:r>
            <a:r>
              <a:rPr i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(n)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→ 4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Indices → </a:t>
            </a:r>
            <a:r>
              <a:rPr i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(0, 1, 2, 3)</a:t>
            </a:r>
            <a:endParaRPr i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" name="Google Shape;479;g1e85dc56643_0_224"/>
          <p:cNvSpPr/>
          <p:nvPr/>
        </p:nvSpPr>
        <p:spPr>
          <a:xfrm>
            <a:off x="5680800" y="5016525"/>
            <a:ext cx="1068600" cy="351900"/>
          </a:xfrm>
          <a:prstGeom prst="rightArrow">
            <a:avLst>
              <a:gd fmla="val 50000" name="adj1"/>
              <a:gd fmla="val 81465" name="adj2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e85dc56643_0_201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g1e85dc56643_0_201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g1e85dc56643_0_201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7" name="Google Shape;487;g1e85dc56643_0_201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g1e85dc56643_0_201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g1e85dc56643_0_201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490" name="Google Shape;490;g1e85dc56643_0_201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1e85dc56643_0_201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g1e85dc56643_0_201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Sintaxis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" name="Google Shape;493;g1e85dc56643_0_201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1e85dc56643_0_201"/>
          <p:cNvSpPr txBox="1"/>
          <p:nvPr/>
        </p:nvSpPr>
        <p:spPr>
          <a:xfrm>
            <a:off x="722975" y="1569800"/>
            <a:ext cx="5581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b="1" i="0" lang="en-US" sz="2500" u="none" cap="none" strike="noStrike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eclaración y creación</a:t>
            </a:r>
            <a:endParaRPr b="1" i="0" sz="25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" name="Google Shape;495;g1e85dc56643_0_201"/>
          <p:cNvSpPr txBox="1"/>
          <p:nvPr/>
        </p:nvSpPr>
        <p:spPr>
          <a:xfrm>
            <a:off x="762450" y="3747525"/>
            <a:ext cx="6950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&lt;tipo de dato&gt; </a:t>
            </a:r>
            <a:r>
              <a:rPr b="1" i="0" lang="en-US" sz="2000" u="none" cap="none" strike="noStrike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&lt;nombre del arreglo&gt;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[];</a:t>
            </a:r>
            <a:endParaRPr b="1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&lt;tipo de dato&gt;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b="1" i="0" lang="en-US" sz="2000" u="none" cap="none" strike="noStrike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2000" u="none" cap="none" strike="noStrike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&lt;nombre del arreglo&gt;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6" name="Google Shape;496;g1e85dc56643_0_201"/>
          <p:cNvSpPr txBox="1"/>
          <p:nvPr/>
        </p:nvSpPr>
        <p:spPr>
          <a:xfrm>
            <a:off x="722975" y="2257650"/>
            <a:ext cx="71742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 sintaxis para declarar un arreglo (</a:t>
            </a:r>
            <a:r>
              <a:rPr b="1" i="0" lang="en-U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array</a:t>
            </a:r>
            <a:r>
              <a:rPr i="0" lang="en-U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 en la mayoría de los lenguajes de programación es la siguiente:</a:t>
            </a:r>
            <a:endParaRPr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" name="Google Shape;497;g1e85dc56643_0_201"/>
          <p:cNvSpPr txBox="1"/>
          <p:nvPr/>
        </p:nvSpPr>
        <p:spPr>
          <a:xfrm>
            <a:off x="762450" y="3285825"/>
            <a:ext cx="529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Declaración (2 formas)</a:t>
            </a:r>
            <a:endParaRPr b="0" i="1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98" name="Google Shape;498;g1e85dc56643_0_201"/>
          <p:cNvSpPr txBox="1"/>
          <p:nvPr/>
        </p:nvSpPr>
        <p:spPr>
          <a:xfrm>
            <a:off x="762450" y="5303500"/>
            <a:ext cx="784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&lt;nombre del arreglo&gt;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new </a:t>
            </a:r>
            <a:r>
              <a:rPr b="1" i="0" lang="en-US" sz="2000" u="none" cap="none" strike="noStrike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&lt;tipo de dato&gt;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tamaño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9" name="Google Shape;499;g1e85dc56643_0_201"/>
          <p:cNvSpPr txBox="1"/>
          <p:nvPr/>
        </p:nvSpPr>
        <p:spPr>
          <a:xfrm>
            <a:off x="762450" y="4841800"/>
            <a:ext cx="19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Creación</a:t>
            </a:r>
            <a:endParaRPr b="0" i="1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1e85dc56643_0_244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1e85dc56643_0_244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1e85dc56643_0_244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7" name="Google Shape;507;g1e85dc56643_0_244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g1e85dc56643_0_244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g1e85dc56643_0_244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510" name="Google Shape;510;g1e85dc56643_0_244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g1e85dc56643_0_244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1e85dc56643_0_244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Sintaxis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g1e85dc56643_0_244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1e85dc56643_0_244"/>
          <p:cNvSpPr txBox="1"/>
          <p:nvPr/>
        </p:nvSpPr>
        <p:spPr>
          <a:xfrm>
            <a:off x="722975" y="1569800"/>
            <a:ext cx="5581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b="1" i="0" lang="en-US" sz="2500" u="none" cap="none" strike="noStrike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eclaración y creación</a:t>
            </a:r>
            <a:endParaRPr b="1" i="0" sz="25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g1e85dc56643_0_244"/>
          <p:cNvSpPr txBox="1"/>
          <p:nvPr/>
        </p:nvSpPr>
        <p:spPr>
          <a:xfrm>
            <a:off x="762450" y="3747525"/>
            <a:ext cx="6950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&lt;tipo de dato&gt; </a:t>
            </a:r>
            <a:r>
              <a:rPr b="1" i="0" lang="en-US" sz="2000" u="none" cap="none" strike="noStrike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&lt;nombre del arreglo&gt;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[];</a:t>
            </a:r>
            <a:endParaRPr b="1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&lt;tipo de dato&gt;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b="1" i="0" lang="en-US" sz="2000" u="none" cap="none" strike="noStrike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2000" u="none" cap="none" strike="noStrike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&lt;nombre del arreglo&gt;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6" name="Google Shape;516;g1e85dc56643_0_244"/>
          <p:cNvSpPr txBox="1"/>
          <p:nvPr/>
        </p:nvSpPr>
        <p:spPr>
          <a:xfrm>
            <a:off x="722975" y="2257650"/>
            <a:ext cx="71742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 sintaxis para declarar un arreglo (</a:t>
            </a:r>
            <a:r>
              <a:rPr b="1" i="0" lang="en-U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array</a:t>
            </a:r>
            <a:r>
              <a:rPr i="0" lang="en-U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 en la mayoría de los lenguajes de programación es la siguiente:</a:t>
            </a:r>
            <a:endParaRPr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7" name="Google Shape;517;g1e85dc56643_0_244"/>
          <p:cNvSpPr txBox="1"/>
          <p:nvPr/>
        </p:nvSpPr>
        <p:spPr>
          <a:xfrm>
            <a:off x="762450" y="3285825"/>
            <a:ext cx="529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Declaración (2 formas)</a:t>
            </a:r>
            <a:endParaRPr b="0" i="1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8" name="Google Shape;518;g1e85dc56643_0_244"/>
          <p:cNvSpPr txBox="1"/>
          <p:nvPr/>
        </p:nvSpPr>
        <p:spPr>
          <a:xfrm>
            <a:off x="762450" y="5303500"/>
            <a:ext cx="784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&lt;nombre del arreglo&gt;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new </a:t>
            </a:r>
            <a:r>
              <a:rPr b="1" i="0" lang="en-US" sz="2000" u="none" cap="none" strike="noStrike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&lt;tipo de dato&gt;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tamaño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9" name="Google Shape;519;g1e85dc56643_0_244"/>
          <p:cNvSpPr txBox="1"/>
          <p:nvPr/>
        </p:nvSpPr>
        <p:spPr>
          <a:xfrm>
            <a:off x="762450" y="4841800"/>
            <a:ext cx="19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Creación</a:t>
            </a:r>
            <a:endParaRPr b="0" i="1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0" name="Google Shape;520;g1e85dc56643_0_244"/>
          <p:cNvSpPr/>
          <p:nvPr/>
        </p:nvSpPr>
        <p:spPr>
          <a:xfrm>
            <a:off x="8024050" y="2164350"/>
            <a:ext cx="4081212" cy="2504952"/>
          </a:xfrm>
          <a:prstGeom prst="cloud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Esta es la forma para</a:t>
            </a: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en-US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arreglos unidimensionales, para arreglos de más de una dimensión es diferente</a:t>
            </a: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1" name="Google Shape;521;g1e85dc56643_0_2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9375" y="4190401"/>
            <a:ext cx="2132625" cy="213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1e85dc56643_0_266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1e85dc56643_0_266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g1e85dc56643_0_266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9" name="Google Shape;529;g1e85dc56643_0_266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g1e85dc56643_0_266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g1e85dc56643_0_266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532" name="Google Shape;532;g1e85dc56643_0_266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g1e85dc56643_0_266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g1e85dc56643_0_266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Sintaxis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5" name="Google Shape;535;g1e85dc56643_0_266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g1e85dc56643_0_266"/>
          <p:cNvSpPr txBox="1"/>
          <p:nvPr/>
        </p:nvSpPr>
        <p:spPr>
          <a:xfrm>
            <a:off x="722975" y="1569800"/>
            <a:ext cx="5581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b="1" i="0" lang="en-US" sz="2500" u="none" cap="none" strike="noStrike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eclaración y creación</a:t>
            </a:r>
            <a:endParaRPr b="1" i="0" sz="25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Google Shape;537;g1e85dc56643_0_266"/>
          <p:cNvSpPr txBox="1"/>
          <p:nvPr/>
        </p:nvSpPr>
        <p:spPr>
          <a:xfrm>
            <a:off x="875375" y="3320125"/>
            <a:ext cx="46329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b="1" i="0" lang="en-US" sz="2000" u="none" cap="none" strike="noStrike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arrayDeEnteros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arrayDeDoubles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arrayDeStrings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arrayBoolean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8" name="Google Shape;538;g1e85dc56643_0_266"/>
          <p:cNvSpPr txBox="1"/>
          <p:nvPr/>
        </p:nvSpPr>
        <p:spPr>
          <a:xfrm>
            <a:off x="875375" y="2657400"/>
            <a:ext cx="444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Declaración</a:t>
            </a:r>
            <a:endParaRPr b="0" i="1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9" name="Google Shape;539;g1e85dc56643_0_266"/>
          <p:cNvSpPr txBox="1"/>
          <p:nvPr/>
        </p:nvSpPr>
        <p:spPr>
          <a:xfrm>
            <a:off x="6405025" y="3302250"/>
            <a:ext cx="52914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arrayDeEnteros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new 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arrayDeDoubles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new 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sz="2000">
              <a:solidFill>
                <a:srgbClr val="1880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arrayDeStrings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new 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arrayBoolean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new 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0" name="Google Shape;540;g1e85dc56643_0_266"/>
          <p:cNvSpPr txBox="1"/>
          <p:nvPr/>
        </p:nvSpPr>
        <p:spPr>
          <a:xfrm>
            <a:off x="6405025" y="2657400"/>
            <a:ext cx="199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Creación</a:t>
            </a:r>
            <a:endParaRPr b="0" i="1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2482c1fd208_0_85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g2482c1fd208_0_85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g2482c1fd208_0_85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8" name="Google Shape;548;g2482c1fd208_0_85"/>
          <p:cNvPicPr preferRelativeResize="0"/>
          <p:nvPr/>
        </p:nvPicPr>
        <p:blipFill rotWithShape="1">
          <a:blip r:embed="rId3">
            <a:alphaModFix/>
          </a:blip>
          <a:srcRect b="17581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g2482c1fd208_0_85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g2482c1fd208_0_85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551" name="Google Shape;551;g2482c1fd208_0_85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g2482c1fd208_0_85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g2482c1fd208_0_85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Sintaxis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g2482c1fd208_0_85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g2482c1fd208_0_85"/>
          <p:cNvSpPr txBox="1"/>
          <p:nvPr/>
        </p:nvSpPr>
        <p:spPr>
          <a:xfrm>
            <a:off x="574750" y="1395938"/>
            <a:ext cx="783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1" i="0" lang="en-US" sz="2600" u="none" cap="none" strike="noStrike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Declaración y creación al mismo tiempo</a:t>
            </a:r>
            <a:endParaRPr b="1" i="0" sz="26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g2482c1fd208_0_85"/>
          <p:cNvSpPr txBox="1"/>
          <p:nvPr/>
        </p:nvSpPr>
        <p:spPr>
          <a:xfrm>
            <a:off x="663675" y="3000963"/>
            <a:ext cx="104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&lt;tipo de dato&gt;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b="1" i="0" lang="en-US" sz="2000" u="none" cap="none" strike="noStrike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2000" u="none" cap="none" strike="noStrike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&lt;nombre del arreglo&gt;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new </a:t>
            </a:r>
            <a:r>
              <a:rPr b="1" i="0" lang="en-US" sz="2000" u="none" cap="none" strike="noStrike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&lt;tipo de dato&gt;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tamaño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7" name="Google Shape;557;g2482c1fd208_0_85"/>
          <p:cNvSpPr txBox="1"/>
          <p:nvPr/>
        </p:nvSpPr>
        <p:spPr>
          <a:xfrm>
            <a:off x="574750" y="2061025"/>
            <a:ext cx="10838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Esta forma es la más común (declarar y crear en una sola 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línea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):</a:t>
            </a:r>
            <a:endParaRPr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e85dc56643_0_288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g1e85dc56643_0_288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g1e85dc56643_0_288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5" name="Google Shape;565;g1e85dc56643_0_288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g1e85dc56643_0_288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g1e85dc56643_0_288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568" name="Google Shape;568;g1e85dc56643_0_288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g1e85dc56643_0_288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g1e85dc56643_0_288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Sintaxis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1" name="Google Shape;571;g1e85dc56643_0_288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g1e85dc56643_0_288"/>
          <p:cNvSpPr txBox="1"/>
          <p:nvPr/>
        </p:nvSpPr>
        <p:spPr>
          <a:xfrm>
            <a:off x="574750" y="1395938"/>
            <a:ext cx="783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1" i="0" lang="en-US" sz="2600" u="none" cap="none" strike="noStrike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Declaración y creación al mismo tiempo</a:t>
            </a:r>
            <a:endParaRPr b="1" i="0" sz="26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3" name="Google Shape;573;g1e85dc56643_0_288"/>
          <p:cNvSpPr txBox="1"/>
          <p:nvPr/>
        </p:nvSpPr>
        <p:spPr>
          <a:xfrm>
            <a:off x="663675" y="3000963"/>
            <a:ext cx="104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&lt;tipo de dato&gt;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b="1" i="0" lang="en-US" sz="2000" u="none" cap="none" strike="noStrike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2000" u="none" cap="none" strike="noStrike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&lt;nombre del arreglo&gt;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new </a:t>
            </a:r>
            <a:r>
              <a:rPr b="1" i="0" lang="en-US" sz="2000" u="none" cap="none" strike="noStrike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&lt;tipo de dato&gt;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tamaño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4" name="Google Shape;574;g1e85dc56643_0_288"/>
          <p:cNvSpPr txBox="1"/>
          <p:nvPr/>
        </p:nvSpPr>
        <p:spPr>
          <a:xfrm>
            <a:off x="2582050" y="3940913"/>
            <a:ext cx="6824100" cy="1877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b="1" i="0" lang="en-US" sz="2000" u="none" cap="none" strike="noStrike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2000" u="none" cap="none" strike="noStrike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numerosEnteros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new </a:t>
            </a:r>
            <a:r>
              <a:rPr b="1" i="0" lang="en-US" sz="2000" u="none" cap="none" strike="noStrike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numerosDouble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new 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palabras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new 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arrayBoolean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new 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5" name="Google Shape;575;g1e85dc56643_0_288"/>
          <p:cNvSpPr txBox="1"/>
          <p:nvPr/>
        </p:nvSpPr>
        <p:spPr>
          <a:xfrm>
            <a:off x="574750" y="2061025"/>
            <a:ext cx="10838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Esta forma es la más común (declarar y crear en una sola línea):</a:t>
            </a:r>
            <a:endParaRPr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1e85dc56643_0_305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g1e85dc56643_0_305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g1e85dc56643_0_305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3" name="Google Shape;583;g1e85dc56643_0_305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g1e85dc56643_0_305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1e85dc56643_0_305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586" name="Google Shape;586;g1e85dc56643_0_305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g1e85dc56643_0_305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g1e85dc56643_0_305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Sintaxis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" name="Google Shape;589;g1e85dc56643_0_305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g1e85dc56643_0_305"/>
          <p:cNvSpPr txBox="1"/>
          <p:nvPr/>
        </p:nvSpPr>
        <p:spPr>
          <a:xfrm>
            <a:off x="584650" y="1633275"/>
            <a:ext cx="581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1" lang="en-US" sz="26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Asignar variables</a:t>
            </a:r>
            <a:endParaRPr b="1" i="0" sz="26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" name="Google Shape;591;g1e85dc56643_0_305"/>
          <p:cNvSpPr txBox="1"/>
          <p:nvPr/>
        </p:nvSpPr>
        <p:spPr>
          <a:xfrm>
            <a:off x="634025" y="2457476"/>
            <a:ext cx="104307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&lt;tipo de dato&gt;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b="1" i="0" lang="en-US" sz="2000" u="none" cap="none" strike="noStrike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2000" u="none" cap="none" strike="noStrike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&lt;nombre del arreglo&gt;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new </a:t>
            </a:r>
            <a:r>
              <a:rPr b="1" i="0" lang="en-US" sz="2000" u="none" cap="none" strike="noStrike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&lt;tipo de dato&gt;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tamaño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&lt;nombre del arreglo&gt;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indice 0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&lt;dato del tipo declarado&gt;;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&lt;nombre del arreglo&gt;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indice 1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&lt;dato del tipo declarado&gt;;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&lt;nombre del arreglo&gt;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indice 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&lt;dato del tipo declarado&gt;;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&lt;nombre del arreglo&gt;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indice 3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&lt;dato del tipo declarado&gt;;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&lt;nombre del arreglo&gt;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indice n-1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&lt;dato del tipo declarado&gt;;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1e85dc56643_0_322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g1e85dc56643_0_322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g1e85dc56643_0_322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9" name="Google Shape;599;g1e85dc56643_0_322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g1e85dc56643_0_322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g1e85dc56643_0_322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602" name="Google Shape;602;g1e85dc56643_0_322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g1e85dc56643_0_322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g1e85dc56643_0_322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Sintaxis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5" name="Google Shape;605;g1e85dc56643_0_322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g1e85dc56643_0_322"/>
          <p:cNvSpPr txBox="1"/>
          <p:nvPr/>
        </p:nvSpPr>
        <p:spPr>
          <a:xfrm>
            <a:off x="584650" y="1633275"/>
            <a:ext cx="581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b="1" lang="en-US" sz="26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Asignar variables</a:t>
            </a:r>
            <a:endParaRPr b="1" i="0" sz="26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g1e85dc56643_0_322"/>
          <p:cNvSpPr txBox="1"/>
          <p:nvPr/>
        </p:nvSpPr>
        <p:spPr>
          <a:xfrm>
            <a:off x="960125" y="2694625"/>
            <a:ext cx="47292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b="1" i="0" lang="en-US" sz="2000" u="none" cap="none" strike="noStrike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arrayEnteros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new 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arrayEnteros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arrayEnteros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arrayEnteros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-87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arrayEnteros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arrayEnteros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8" name="Google Shape;608;g1e85dc56643_0_322"/>
          <p:cNvSpPr txBox="1"/>
          <p:nvPr/>
        </p:nvSpPr>
        <p:spPr>
          <a:xfrm>
            <a:off x="6403450" y="2694625"/>
            <a:ext cx="56229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b="1" i="0" lang="en-US" sz="2000" u="none" cap="none" strike="noStrike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lenguajes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new 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lenguajes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“Java”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lenguajes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“Python”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lenguajes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“C++”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lenguajes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“C#”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lenguajes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“JavaScript”;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lenguajes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“Rust”;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9" name="Google Shape;609;g1e85dc56643_0_322"/>
          <p:cNvSpPr/>
          <p:nvPr/>
        </p:nvSpPr>
        <p:spPr>
          <a:xfrm>
            <a:off x="5920450" y="2411125"/>
            <a:ext cx="28500" cy="3537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2482c1fd208_0_48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g2482c1fd208_0_48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g2482c1fd208_0_48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7" name="Google Shape;617;g2482c1fd208_0_48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g2482c1fd208_0_48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g2482c1fd208_0_48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620" name="Google Shape;620;g2482c1fd208_0_48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g2482c1fd208_0_48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g2482c1fd208_0_48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Sintaxis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3" name="Google Shape;623;g2482c1fd208_0_48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g2482c1fd208_0_48"/>
          <p:cNvSpPr txBox="1"/>
          <p:nvPr/>
        </p:nvSpPr>
        <p:spPr>
          <a:xfrm>
            <a:off x="806850" y="2510700"/>
            <a:ext cx="104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&lt;tipo de dato&gt;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b="1" i="0" lang="en-US" sz="2000" u="none" cap="none" strike="noStrike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2000" u="none" cap="none" strike="noStrike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&lt;nombre del arreglo&gt;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{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&lt;elemento1&gt;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&lt;elementoN&gt;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1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5" name="Google Shape;625;g2482c1fd208_0_48"/>
          <p:cNvSpPr txBox="1"/>
          <p:nvPr/>
        </p:nvSpPr>
        <p:spPr>
          <a:xfrm>
            <a:off x="806850" y="3463800"/>
            <a:ext cx="8699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b="1" i="0" lang="en-US" sz="2000" u="none" cap="none" strike="noStrike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2000" u="none" cap="none" strike="noStrike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numerosEnteros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{1, 2, 3, 4, 5};</a:t>
            </a:r>
            <a:endParaRPr b="1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 </a:t>
            </a:r>
            <a:r>
              <a:rPr b="1" i="0" lang="en-US" sz="2000" u="none" cap="none" strike="noStrike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variables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{false, false, true};</a:t>
            </a:r>
            <a:endParaRPr b="1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 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lenguajes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{“Java”, “Python”, “C#”};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6" name="Google Shape;626;g2482c1fd208_0_48"/>
          <p:cNvSpPr txBox="1"/>
          <p:nvPr/>
        </p:nvSpPr>
        <p:spPr>
          <a:xfrm>
            <a:off x="718025" y="1608200"/>
            <a:ext cx="104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También 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 posible</a:t>
            </a:r>
            <a:r>
              <a:rPr i="0" lang="en-U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declarar y asignar el valor inicial de todos los da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tos/</a:t>
            </a:r>
            <a:r>
              <a:rPr i="0" lang="en-U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elementos:</a:t>
            </a:r>
            <a:endParaRPr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1e8660ac818_0_0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g1e8660ac818_0_0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g1e8660ac818_0_0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4" name="Google Shape;634;g1e8660ac818_0_0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g1e8660ac818_0_0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g1e8660ac818_0_0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637" name="Google Shape;637;g1e8660ac818_0_0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g1e8660ac818_0_0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g1e8660ac818_0_0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Sintaxis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0" name="Google Shape;640;g1e8660ac818_0_0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g1e8660ac818_0_0"/>
          <p:cNvSpPr txBox="1"/>
          <p:nvPr/>
        </p:nvSpPr>
        <p:spPr>
          <a:xfrm>
            <a:off x="866150" y="3095850"/>
            <a:ext cx="63870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 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lenguajes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new 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lenguajes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“Java”; 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lenguajes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“Python”; 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lenguajes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“C#”;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System.out.println(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lenguajes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]); </a:t>
            </a:r>
            <a:r>
              <a:rPr b="1" lang="en-US" sz="20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// Java</a:t>
            </a:r>
            <a:endParaRPr b="1" sz="2000">
              <a:solidFill>
                <a:srgbClr val="E691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System.out.println(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lenguajes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]); </a:t>
            </a:r>
            <a:r>
              <a:rPr b="1" lang="en-US" sz="20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// Python</a:t>
            </a:r>
            <a:endParaRPr b="1" sz="2000">
              <a:solidFill>
                <a:srgbClr val="E691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System.out.println(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lenguajes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]); </a:t>
            </a:r>
            <a:r>
              <a:rPr b="1" lang="en-US" sz="20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// C#</a:t>
            </a:r>
            <a:endParaRPr b="1" sz="2000">
              <a:solidFill>
                <a:srgbClr val="E6913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2" name="Google Shape;642;g1e8660ac818_0_0"/>
          <p:cNvSpPr txBox="1"/>
          <p:nvPr/>
        </p:nvSpPr>
        <p:spPr>
          <a:xfrm>
            <a:off x="718025" y="1455800"/>
            <a:ext cx="1043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6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Accediendo a los datos</a:t>
            </a:r>
            <a:endParaRPr b="1" i="0" sz="26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g1e8660ac818_0_0"/>
          <p:cNvSpPr txBox="1"/>
          <p:nvPr/>
        </p:nvSpPr>
        <p:spPr>
          <a:xfrm>
            <a:off x="718025" y="2050975"/>
            <a:ext cx="105621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Para acceder a los datos/elementos de un arreglo, se utiliza su </a:t>
            </a:r>
            <a:r>
              <a:rPr b="1"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índice </a:t>
            </a: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correspondiente. Los elementos se pueden leer o modificar mediante el operador de índice </a:t>
            </a:r>
            <a:r>
              <a:rPr b="1"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 ]</a:t>
            </a: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44" name="Google Shape;644;g1e8660ac818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18200" y="3876305"/>
            <a:ext cx="2713750" cy="20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g1e8660ac818_0_0"/>
          <p:cNvSpPr txBox="1"/>
          <p:nvPr/>
        </p:nvSpPr>
        <p:spPr>
          <a:xfrm>
            <a:off x="8503575" y="3248250"/>
            <a:ext cx="294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Los programadores cuando abren corchetes en un arreglo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1e8660ac818_0_17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g1e8660ac818_0_17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g1e8660ac818_0_17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3" name="Google Shape;653;g1e8660ac818_0_17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g1e8660ac818_0_17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g1e8660ac818_0_17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656" name="Google Shape;656;g1e8660ac818_0_17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g1e8660ac818_0_17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g1e8660ac818_0_17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Sintaxis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9" name="Google Shape;659;g1e8660ac818_0_17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g1e8660ac818_0_17"/>
          <p:cNvSpPr txBox="1"/>
          <p:nvPr/>
        </p:nvSpPr>
        <p:spPr>
          <a:xfrm>
            <a:off x="866150" y="3060150"/>
            <a:ext cx="63870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 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lenguajes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new 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lenguajes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“Java”; 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lenguajes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“Python”; 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lenguajes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“C#”;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lenguajes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“Rust”;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System.out.println(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lenguajes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]); </a:t>
            </a:r>
            <a:r>
              <a:rPr b="1" lang="en-US" sz="20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// Java</a:t>
            </a:r>
            <a:endParaRPr b="1" sz="2000">
              <a:solidFill>
                <a:srgbClr val="E691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System.out.println(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lenguajes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]); </a:t>
            </a:r>
            <a:r>
              <a:rPr b="1" lang="en-US" sz="20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// Python</a:t>
            </a:r>
            <a:endParaRPr b="1" sz="2000">
              <a:solidFill>
                <a:srgbClr val="E691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System.out.println(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lenguajes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]); </a:t>
            </a:r>
            <a:r>
              <a:rPr b="1" lang="en-US" sz="2000">
                <a:solidFill>
                  <a:srgbClr val="E69138"/>
                </a:solidFill>
                <a:latin typeface="Consolas"/>
                <a:ea typeface="Consolas"/>
                <a:cs typeface="Consolas"/>
                <a:sym typeface="Consolas"/>
              </a:rPr>
              <a:t>// Rust</a:t>
            </a:r>
            <a:endParaRPr b="1" sz="2000">
              <a:solidFill>
                <a:srgbClr val="E6913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1" name="Google Shape;661;g1e8660ac818_0_17"/>
          <p:cNvSpPr txBox="1"/>
          <p:nvPr/>
        </p:nvSpPr>
        <p:spPr>
          <a:xfrm>
            <a:off x="718025" y="1455800"/>
            <a:ext cx="1043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6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Accediendo a los datos</a:t>
            </a:r>
            <a:endParaRPr b="1" i="0" sz="26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g1e8660ac818_0_17"/>
          <p:cNvSpPr txBox="1"/>
          <p:nvPr/>
        </p:nvSpPr>
        <p:spPr>
          <a:xfrm>
            <a:off x="718025" y="2050975"/>
            <a:ext cx="105621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Para acceder a los datos/elementos de un arreglo, se utiliza su </a:t>
            </a:r>
            <a:r>
              <a:rPr b="1"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índice </a:t>
            </a: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correspondiente. Los elementos se pueden leer o modificar mediante el operador de índice </a:t>
            </a:r>
            <a:r>
              <a:rPr b="1"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 ]</a:t>
            </a: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3" name="Google Shape;663;g1e8660ac818_0_17"/>
          <p:cNvCxnSpPr/>
          <p:nvPr/>
        </p:nvCxnSpPr>
        <p:spPr>
          <a:xfrm rot="10800000">
            <a:off x="4466575" y="4690200"/>
            <a:ext cx="3438900" cy="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4" name="Google Shape;664;g1e8660ac818_0_17"/>
          <p:cNvSpPr/>
          <p:nvPr/>
        </p:nvSpPr>
        <p:spPr>
          <a:xfrm>
            <a:off x="8330400" y="4092750"/>
            <a:ext cx="3270900" cy="95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oboto"/>
                <a:ea typeface="Roboto"/>
                <a:cs typeface="Roboto"/>
                <a:sym typeface="Roboto"/>
              </a:rPr>
              <a:t>Modificación del elemento en el </a:t>
            </a:r>
            <a:r>
              <a:rPr b="1" lang="en-US" sz="1700">
                <a:latin typeface="Roboto"/>
                <a:ea typeface="Roboto"/>
                <a:cs typeface="Roboto"/>
                <a:sym typeface="Roboto"/>
              </a:rPr>
              <a:t>índice</a:t>
            </a:r>
            <a:r>
              <a:rPr b="1" lang="en-US" sz="17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700">
                <a:latin typeface="Roboto"/>
                <a:ea typeface="Roboto"/>
                <a:cs typeface="Roboto"/>
                <a:sym typeface="Roboto"/>
              </a:rPr>
              <a:t>2 (</a:t>
            </a:r>
            <a:r>
              <a:rPr b="1" lang="en-US" sz="1700">
                <a:latin typeface="Roboto"/>
                <a:ea typeface="Roboto"/>
                <a:cs typeface="Roboto"/>
                <a:sym typeface="Roboto"/>
              </a:rPr>
              <a:t>posición</a:t>
            </a:r>
            <a:r>
              <a:rPr lang="en-US" sz="1700">
                <a:latin typeface="Roboto"/>
                <a:ea typeface="Roboto"/>
                <a:cs typeface="Roboto"/>
                <a:sym typeface="Roboto"/>
              </a:rPr>
              <a:t> 3)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1e8660ac818_0_644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g1e8660ac818_0_644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g1e8660ac818_0_644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2" name="Google Shape;672;g1e8660ac818_0_644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g1e8660ac818_0_644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g1e8660ac818_0_644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675" name="Google Shape;675;g1e8660ac818_0_644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g1e8660ac818_0_644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g1e8660ac818_0_644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Sintaxis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g1e8660ac818_0_644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g1e8660ac818_0_644"/>
          <p:cNvSpPr txBox="1"/>
          <p:nvPr/>
        </p:nvSpPr>
        <p:spPr>
          <a:xfrm>
            <a:off x="708150" y="1599850"/>
            <a:ext cx="1043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6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Arreglos Bidimensionales</a:t>
            </a:r>
            <a:endParaRPr b="1" i="0" sz="26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g1e8660ac818_0_644"/>
          <p:cNvSpPr txBox="1"/>
          <p:nvPr/>
        </p:nvSpPr>
        <p:spPr>
          <a:xfrm>
            <a:off x="708150" y="2401300"/>
            <a:ext cx="100632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 arreglo bidimensional se visualiza como una matriz de filas y columnas.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i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Nota. </a:t>
            </a:r>
            <a:r>
              <a:rPr i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Las </a:t>
            </a:r>
            <a:r>
              <a:rPr i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imágenes</a:t>
            </a:r>
            <a:r>
              <a:rPr i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en blanco y negro pueden representarse como arreglos bidimensionales.</a:t>
            </a:r>
            <a:endParaRPr i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1" name="Google Shape;681;g1e8660ac818_0_6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6875" y="3888175"/>
            <a:ext cx="5773250" cy="249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1e8660ac818_0_665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g1e8660ac818_0_665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g1e8660ac818_0_665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9" name="Google Shape;689;g1e8660ac818_0_665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g1e8660ac818_0_665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g1e8660ac818_0_665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692" name="Google Shape;692;g1e8660ac818_0_665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g1e8660ac818_0_665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g1e8660ac818_0_665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Sintaxis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5" name="Google Shape;695;g1e8660ac818_0_665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g1e8660ac818_0_665"/>
          <p:cNvSpPr txBox="1"/>
          <p:nvPr/>
        </p:nvSpPr>
        <p:spPr>
          <a:xfrm>
            <a:off x="698250" y="1475525"/>
            <a:ext cx="4845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6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Arreglos Bidimensionales</a:t>
            </a:r>
            <a:endParaRPr b="1" i="0" sz="26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g1e8660ac818_0_665"/>
          <p:cNvSpPr txBox="1"/>
          <p:nvPr/>
        </p:nvSpPr>
        <p:spPr>
          <a:xfrm>
            <a:off x="914050" y="2291013"/>
            <a:ext cx="105192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i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Forma 1:</a:t>
            </a:r>
            <a:endParaRPr i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&lt;tipo de dato&gt;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[][] 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&lt;nombre del arreglo&gt;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new 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&lt;tipo de dato&gt;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#fil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#col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&lt;nombre del arreglo&gt;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indiceFil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indiceCol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&lt;dato&gt;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i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Forma 2:</a:t>
            </a:r>
            <a:endParaRPr i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&lt;tipo de dato&gt;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[][] 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&lt;nombre del arreglo&gt;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{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5943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&lt;dato&gt;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&lt;dato&gt;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…, 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&lt;dato&gt;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}, 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5943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&lt;dato&gt;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&lt;dato&gt;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…, 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&lt;dato&gt;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5943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…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5943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&lt;dato&gt;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&lt;dato&gt;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…, 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&lt;dato&gt;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5943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1e8660ac818_0_701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g1e8660ac818_0_701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g1e8660ac818_0_701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5" name="Google Shape;705;g1e8660ac818_0_701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g1e8660ac818_0_701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g1e8660ac818_0_701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708" name="Google Shape;708;g1e8660ac818_0_701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g1e8660ac818_0_701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g1e8660ac818_0_701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Sintaxis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1" name="Google Shape;711;g1e8660ac818_0_701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g1e8660ac818_0_701"/>
          <p:cNvSpPr txBox="1"/>
          <p:nvPr/>
        </p:nvSpPr>
        <p:spPr>
          <a:xfrm>
            <a:off x="698250" y="1475525"/>
            <a:ext cx="4845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6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Arreglos Bidimensionales</a:t>
            </a:r>
            <a:endParaRPr b="1" i="0" sz="26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3" name="Google Shape;713;g1e8660ac818_0_701"/>
          <p:cNvSpPr txBox="1"/>
          <p:nvPr/>
        </p:nvSpPr>
        <p:spPr>
          <a:xfrm>
            <a:off x="1024350" y="2484450"/>
            <a:ext cx="5734800" cy="3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[][] 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matrizEnteros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new 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matrizEnteros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1;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matrizEnteros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-8;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matrizEnteros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22;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matrizEnteros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1;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matrizEnteros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2;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matrizEnteros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3;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matrizEnteros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4;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matrizEnteros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0;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14" name="Google Shape;714;g1e8660ac818_0_7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9750" y="2708527"/>
            <a:ext cx="5128049" cy="274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1e8660ac818_0_683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g1e8660ac818_0_683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g1e8660ac818_0_683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2" name="Google Shape;722;g1e8660ac818_0_683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g1e8660ac818_0_683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g1e8660ac818_0_683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725" name="Google Shape;725;g1e8660ac818_0_683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g1e8660ac818_0_683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g1e8660ac818_0_683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Sintaxis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g1e8660ac818_0_683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9" name="Google Shape;729;g1e8660ac818_0_6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4829" y="2107788"/>
            <a:ext cx="7309133" cy="4368349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g1e8660ac818_0_683"/>
          <p:cNvSpPr txBox="1"/>
          <p:nvPr/>
        </p:nvSpPr>
        <p:spPr>
          <a:xfrm>
            <a:off x="668500" y="1599850"/>
            <a:ext cx="638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[][] 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matrizNumeros</a:t>
            </a:r>
            <a:r>
              <a:rPr b="1" lang="en-US" sz="20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new </a:t>
            </a:r>
            <a:r>
              <a:rPr b="1" lang="en-US" sz="20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1" sz="2000">
              <a:solidFill>
                <a:srgbClr val="E6913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1e8660ac818_0_37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g1e8660ac818_0_37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g1e8660ac818_0_37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8" name="Google Shape;738;g1e8660ac818_0_37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g1e8660ac818_0_37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g1e8660ac818_0_37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741" name="Google Shape;741;g1e8660ac818_0_37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g1e8660ac818_0_37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g1e8660ac818_0_37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387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4" name="Google Shape;744;g1e8660ac818_0_37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g1e8660ac818_0_37"/>
          <p:cNvSpPr txBox="1"/>
          <p:nvPr>
            <p:ph type="title"/>
          </p:nvPr>
        </p:nvSpPr>
        <p:spPr>
          <a:xfrm>
            <a:off x="1642350" y="2766338"/>
            <a:ext cx="890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6000">
                <a:latin typeface="Roboto"/>
                <a:ea typeface="Roboto"/>
                <a:cs typeface="Roboto"/>
                <a:sym typeface="Roboto"/>
              </a:rPr>
              <a:t>Ejemplos Arrays</a:t>
            </a:r>
            <a:endParaRPr b="1" i="1" sz="6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1e8660ac818_0_314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g1e8660ac818_0_314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g1e8660ac818_0_314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3" name="Google Shape;753;g1e8660ac818_0_314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g1e8660ac818_0_314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g1e8660ac818_0_314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756" name="Google Shape;756;g1e8660ac818_0_314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g1e8660ac818_0_314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g1e8660ac818_0_314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Ejemplos Arrays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9" name="Google Shape;759;g1e8660ac818_0_314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g1e8660ac818_0_314"/>
          <p:cNvSpPr txBox="1"/>
          <p:nvPr/>
        </p:nvSpPr>
        <p:spPr>
          <a:xfrm>
            <a:off x="750900" y="1475525"/>
            <a:ext cx="10690200" cy="9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5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Ejemplo 1. </a:t>
            </a: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Asignar valores a un arreglo de las dos formas (definiendo su tamaño y asignando valores sin definir tamaño).</a:t>
            </a:r>
            <a:endParaRPr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1e873436327_0_8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g1e873436327_0_8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g1e873436327_0_8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8" name="Google Shape;768;g1e873436327_0_8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g1e873436327_0_8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g1e873436327_0_8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771" name="Google Shape;771;g1e873436327_0_8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g1e873436327_0_8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g1e873436327_0_8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Ejemplos Arrays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4" name="Google Shape;774;g1e873436327_0_8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g1e873436327_0_8"/>
          <p:cNvSpPr txBox="1"/>
          <p:nvPr/>
        </p:nvSpPr>
        <p:spPr>
          <a:xfrm>
            <a:off x="750900" y="1475525"/>
            <a:ext cx="10690200" cy="9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5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Ejemplo 1. </a:t>
            </a: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Asignar valores a un arreglo de las dos formas (definiendo su tamaño y asignando valores sin definir tamaño).</a:t>
            </a:r>
            <a:endParaRPr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6" name="Google Shape;776;g1e873436327_0_8"/>
          <p:cNvSpPr txBox="1"/>
          <p:nvPr/>
        </p:nvSpPr>
        <p:spPr>
          <a:xfrm>
            <a:off x="978300" y="2916000"/>
            <a:ext cx="47433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b="1" lang="en-US" sz="1900">
                <a:solidFill>
                  <a:srgbClr val="499CD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arrayEnteros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1900">
                <a:solidFill>
                  <a:srgbClr val="499CD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 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aumento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1900">
                <a:solidFill>
                  <a:srgbClr val="499CD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arrayEnteros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</a:t>
            </a:r>
            <a:r>
              <a:rPr b="1" lang="en-US" sz="1900">
                <a:solidFill>
                  <a:srgbClr val="499CD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aumento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arrayEnteros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</a:t>
            </a:r>
            <a:r>
              <a:rPr b="1" lang="en-US" sz="1900">
                <a:solidFill>
                  <a:srgbClr val="499CD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aumento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arrayEnteros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</a:t>
            </a:r>
            <a:r>
              <a:rPr b="1" lang="en-US" sz="1900">
                <a:solidFill>
                  <a:srgbClr val="499CD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aumento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arrayEnteros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</a:t>
            </a:r>
            <a:r>
              <a:rPr b="1" lang="en-US" sz="1900">
                <a:solidFill>
                  <a:srgbClr val="499CD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aumento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+=10;</a:t>
            </a:r>
            <a:endParaRPr b="1" sz="1900">
              <a:solidFill>
                <a:srgbClr val="499CD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7" name="Google Shape;777;g1e873436327_0_8"/>
          <p:cNvSpPr txBox="1"/>
          <p:nvPr/>
        </p:nvSpPr>
        <p:spPr>
          <a:xfrm>
            <a:off x="6720550" y="2887325"/>
            <a:ext cx="51279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aumento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1900">
                <a:solidFill>
                  <a:srgbClr val="499CD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2;</a:t>
            </a:r>
            <a:endParaRPr b="1" sz="1900">
              <a:solidFill>
                <a:srgbClr val="3C78D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b="1" lang="en-US" sz="1900">
                <a:solidFill>
                  <a:srgbClr val="499CD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arrayEnteros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1900">
                <a:solidFill>
                  <a:srgbClr val="499CD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	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aumento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++, 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	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aumento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++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aumento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aumento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-=10,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++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aumento</a:t>
            </a:r>
            <a:endParaRPr b="1" sz="1900">
              <a:solidFill>
                <a:srgbClr val="1880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};</a:t>
            </a:r>
            <a:endParaRPr b="1" sz="1900">
              <a:solidFill>
                <a:srgbClr val="499CD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8" name="Google Shape;778;g1e873436327_0_8"/>
          <p:cNvSpPr txBox="1"/>
          <p:nvPr/>
        </p:nvSpPr>
        <p:spPr>
          <a:xfrm>
            <a:off x="2889300" y="5611313"/>
            <a:ext cx="6413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¿Cuáles son los valores asignados a los dos arreglos?</a:t>
            </a:r>
            <a:endParaRPr b="1" i="1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9" name="Google Shape;779;g1e873436327_0_8"/>
          <p:cNvSpPr/>
          <p:nvPr/>
        </p:nvSpPr>
        <p:spPr>
          <a:xfrm>
            <a:off x="6022475" y="2738150"/>
            <a:ext cx="28500" cy="27273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1e8660ac818_0_330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5" name="Google Shape;785;g1e8660ac818_0_330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g1e8660ac818_0_330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g1e8660ac818_0_330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788" name="Google Shape;788;g1e8660ac818_0_330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g1e8660ac818_0_330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g1e8660ac818_0_330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Ejemplos Arrays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1" name="Google Shape;791;g1e8660ac818_0_330"/>
          <p:cNvSpPr txBox="1"/>
          <p:nvPr/>
        </p:nvSpPr>
        <p:spPr>
          <a:xfrm>
            <a:off x="812375" y="1540550"/>
            <a:ext cx="703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5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Ejemplo 2. </a:t>
            </a: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 los elementos de un array usando un for.</a:t>
            </a:r>
            <a:endParaRPr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2" name="Google Shape;792;g1e8660ac818_0_330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g1e8660ac818_0_330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g1e8660ac818_0_330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1e873436327_0_31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0" name="Google Shape;800;g1e873436327_0_31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g1e873436327_0_31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g1e873436327_0_31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803" name="Google Shape;803;g1e873436327_0_31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g1e873436327_0_31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g1e873436327_0_31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Ejemplos Arrays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6" name="Google Shape;806;g1e873436327_0_31"/>
          <p:cNvSpPr txBox="1"/>
          <p:nvPr/>
        </p:nvSpPr>
        <p:spPr>
          <a:xfrm>
            <a:off x="812375" y="1540550"/>
            <a:ext cx="703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5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Ejemplo 2. </a:t>
            </a: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Asigna los elementos de un array usando un for.</a:t>
            </a:r>
            <a:endParaRPr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7" name="Google Shape;807;g1e873436327_0_31"/>
          <p:cNvSpPr txBox="1"/>
          <p:nvPr/>
        </p:nvSpPr>
        <p:spPr>
          <a:xfrm>
            <a:off x="4861850" y="4396950"/>
            <a:ext cx="71547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nombres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{</a:t>
            </a:r>
            <a:r>
              <a:rPr b="1" lang="en-US" sz="19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“Sara”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“Maria”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“Juan”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nombresGrupo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new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String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nombres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.length];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3C78D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(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=0;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nombresGrupo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.length;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nombresGrupo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nombres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“ - Grupo 5”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8" name="Google Shape;808;g1e873436327_0_31"/>
          <p:cNvSpPr txBox="1"/>
          <p:nvPr/>
        </p:nvSpPr>
        <p:spPr>
          <a:xfrm>
            <a:off x="812375" y="2446500"/>
            <a:ext cx="57789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arrayDouble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new 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(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=0;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arrayDouble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.length;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arrayDouble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+ 1.5;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9" name="Google Shape;809;g1e873436327_0_31"/>
          <p:cNvSpPr/>
          <p:nvPr/>
        </p:nvSpPr>
        <p:spPr>
          <a:xfrm>
            <a:off x="8982599" y="1198300"/>
            <a:ext cx="2925072" cy="1776060"/>
          </a:xfrm>
          <a:prstGeom prst="cloud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oboto"/>
                <a:ea typeface="Roboto"/>
                <a:cs typeface="Roboto"/>
                <a:sym typeface="Roboto"/>
              </a:rPr>
              <a:t>¿Qué hace el segundo ejemplo de for con el array </a:t>
            </a:r>
            <a:r>
              <a:rPr b="1" lang="en-US" sz="1700">
                <a:latin typeface="Consolas"/>
                <a:ea typeface="Consolas"/>
                <a:cs typeface="Consolas"/>
                <a:sym typeface="Consolas"/>
              </a:rPr>
              <a:t>nombreGrupo</a:t>
            </a:r>
            <a:r>
              <a:rPr lang="en-US" sz="1700">
                <a:latin typeface="Roboto"/>
                <a:ea typeface="Roboto"/>
                <a:cs typeface="Roboto"/>
                <a:sym typeface="Roboto"/>
              </a:rPr>
              <a:t>?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0" name="Google Shape;810;g1e873436327_0_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94300" y="2501075"/>
            <a:ext cx="1397700" cy="139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1e8660ac818_0_344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6" name="Google Shape;816;g1e8660ac818_0_344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g1e8660ac818_0_344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g1e8660ac818_0_344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819" name="Google Shape;819;g1e8660ac818_0_344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g1e8660ac818_0_344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g1e8660ac818_0_344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Ejemplos Arrays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2" name="Google Shape;822;g1e8660ac818_0_344"/>
          <p:cNvSpPr txBox="1"/>
          <p:nvPr/>
        </p:nvSpPr>
        <p:spPr>
          <a:xfrm>
            <a:off x="703700" y="1488050"/>
            <a:ext cx="1043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5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Ejemplo 3. </a:t>
            </a: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signar valores a un array e </a:t>
            </a: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imprimirlos</a:t>
            </a: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 un for y un foreach.</a:t>
            </a:r>
            <a:endParaRPr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1e873436327_0_51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8" name="Google Shape;828;g1e873436327_0_51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g1e873436327_0_51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g1e873436327_0_51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831" name="Google Shape;831;g1e873436327_0_51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g1e873436327_0_51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g1e873436327_0_51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Ejemplos Arrays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4" name="Google Shape;834;g1e873436327_0_51"/>
          <p:cNvSpPr txBox="1"/>
          <p:nvPr/>
        </p:nvSpPr>
        <p:spPr>
          <a:xfrm>
            <a:off x="703700" y="1488050"/>
            <a:ext cx="1043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5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Ejemplo 3. </a:t>
            </a: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Asignar valores a un array e imprimirlos con un for y un foreach.</a:t>
            </a:r>
            <a:endParaRPr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5" name="Google Shape;835;g1e873436327_0_51"/>
          <p:cNvSpPr txBox="1"/>
          <p:nvPr/>
        </p:nvSpPr>
        <p:spPr>
          <a:xfrm>
            <a:off x="770750" y="2341500"/>
            <a:ext cx="78066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nombres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{</a:t>
            </a:r>
            <a:r>
              <a:rPr b="1" lang="en-US" sz="19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“Sara”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“Maria”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“Juan”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-US" sz="19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 “Reinel”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3C78D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(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=0;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nombres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.length;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System.out.println(</a:t>
            </a:r>
            <a:r>
              <a:rPr b="1" lang="en-US" sz="19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“Indice ”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“: ”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nombres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]);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6" name="Google Shape;836;g1e873436327_0_51"/>
          <p:cNvSpPr txBox="1"/>
          <p:nvPr/>
        </p:nvSpPr>
        <p:spPr>
          <a:xfrm>
            <a:off x="3685875" y="4446050"/>
            <a:ext cx="80637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arrayNumeros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{2.3, -4.566, 12, 0.1, -10, 50.5};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indice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0;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(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double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numero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arrayNumeros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System.out.println(</a:t>
            </a:r>
            <a:r>
              <a:rPr b="1" lang="en-US" sz="19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“Indice ”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indice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“: ”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numero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indice++;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7" name="Google Shape;837;g1e873436327_0_51"/>
          <p:cNvSpPr/>
          <p:nvPr/>
        </p:nvSpPr>
        <p:spPr>
          <a:xfrm>
            <a:off x="593925" y="4262251"/>
            <a:ext cx="2538648" cy="1647000"/>
          </a:xfrm>
          <a:prstGeom prst="cloud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Roboto"/>
                <a:ea typeface="Roboto"/>
                <a:cs typeface="Roboto"/>
                <a:sym typeface="Roboto"/>
              </a:rPr>
              <a:t>Con un foreach no es posible acceder al indice del array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38" name="Google Shape;838;g1e873436327_0_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525" y="5602975"/>
            <a:ext cx="1255025" cy="125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1e8660ac818_0_358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g1e8660ac818_0_358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g1e8660ac818_0_358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6" name="Google Shape;846;g1e8660ac818_0_358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g1e8660ac818_0_358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g1e8660ac818_0_358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849" name="Google Shape;849;g1e8660ac818_0_358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g1e8660ac818_0_358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g1e8660ac818_0_358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Ejemplos Arrays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2" name="Google Shape;852;g1e8660ac818_0_358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g1e8660ac818_0_358"/>
          <p:cNvSpPr txBox="1"/>
          <p:nvPr/>
        </p:nvSpPr>
        <p:spPr>
          <a:xfrm>
            <a:off x="782750" y="1447450"/>
            <a:ext cx="10433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6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Ejemplo 4. 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signar valores a un array de tipo double desde consola e imprimirlos.</a:t>
            </a:r>
            <a:endParaRPr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1e873436327_0_69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g1e873436327_0_69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g1e873436327_0_69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1" name="Google Shape;861;g1e873436327_0_69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g1e873436327_0_69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g1e873436327_0_69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864" name="Google Shape;864;g1e873436327_0_69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g1e873436327_0_69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g1e873436327_0_69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Ejemplos Arrays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7" name="Google Shape;867;g1e873436327_0_69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g1e873436327_0_69"/>
          <p:cNvSpPr txBox="1"/>
          <p:nvPr/>
        </p:nvSpPr>
        <p:spPr>
          <a:xfrm>
            <a:off x="782750" y="1447450"/>
            <a:ext cx="10433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6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Ejemplo 4. 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Asignar valores a un array de tipo double desde consola e imprimirlos.</a:t>
            </a:r>
            <a:endParaRPr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9" name="Google Shape;869;g1e873436327_0_69"/>
          <p:cNvSpPr txBox="1"/>
          <p:nvPr/>
        </p:nvSpPr>
        <p:spPr>
          <a:xfrm>
            <a:off x="1413100" y="2382525"/>
            <a:ext cx="101091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Scanner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scn 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= new 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Scanner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(System.in);</a:t>
            </a:r>
            <a:endParaRPr b="1"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[]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arrayDouble 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= new 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for (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=0; i&lt;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arrayDouble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.length;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b="1" sz="19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System.out.print(</a:t>
            </a:r>
            <a:r>
              <a:rPr b="1" lang="en-US" sz="19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“Ingrese un valor para el indice ”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 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+ </a:t>
            </a:r>
            <a:r>
              <a:rPr b="1" lang="en-US" sz="19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“: ”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9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arrayDouble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scn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.nextDouble();</a:t>
            </a:r>
            <a:endParaRPr b="1"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scn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.close();</a:t>
            </a:r>
            <a:endParaRPr b="1"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for (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=0; i&lt;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arrayDouble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.length;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b="1" sz="19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System.out.println(</a:t>
            </a:r>
            <a:r>
              <a:rPr b="1" lang="en-US" sz="19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“Valor en el indice ”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1" lang="en-US" sz="19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“: ”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arrayDouble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]);</a:t>
            </a:r>
            <a:endParaRPr b="1"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1e8660ac818_0_386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g1e8660ac818_0_386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g1e8660ac818_0_386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7" name="Google Shape;877;g1e8660ac818_0_386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g1e8660ac818_0_386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g1e8660ac818_0_386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880" name="Google Shape;880;g1e8660ac818_0_386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g1e8660ac818_0_386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g1e8660ac818_0_386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Ejemplos Arrays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3" name="Google Shape;883;g1e8660ac818_0_386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g1e8660ac818_0_386"/>
          <p:cNvSpPr txBox="1"/>
          <p:nvPr/>
        </p:nvSpPr>
        <p:spPr>
          <a:xfrm>
            <a:off x="782750" y="1523650"/>
            <a:ext cx="10433100" cy="9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5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Ejemplo 5. </a:t>
            </a: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Realizar un programa que busque e imprima los </a:t>
            </a: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números</a:t>
            </a: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pares mayores a 10 de un array de enteros. </a:t>
            </a: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También</a:t>
            </a: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debe imprimir su </a:t>
            </a: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índice</a:t>
            </a: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1e873436327_0_87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g1e873436327_0_87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g1e873436327_0_87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2" name="Google Shape;892;g1e873436327_0_87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g1e873436327_0_87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g1e873436327_0_87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895" name="Google Shape;895;g1e873436327_0_87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g1e873436327_0_87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g1e873436327_0_87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Ejemplos Arrays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8" name="Google Shape;898;g1e873436327_0_87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g1e873436327_0_87"/>
          <p:cNvSpPr txBox="1"/>
          <p:nvPr/>
        </p:nvSpPr>
        <p:spPr>
          <a:xfrm>
            <a:off x="782750" y="1523650"/>
            <a:ext cx="10433100" cy="9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5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Ejemplo 5. </a:t>
            </a: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Realizar un programa que busque e imprima los números pares mayores a 10 de un array de enteros. También debe imprimir su índice.</a:t>
            </a:r>
            <a:endParaRPr i="0" sz="19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0" name="Google Shape;900;g1e873436327_0_87"/>
          <p:cNvSpPr txBox="1"/>
          <p:nvPr/>
        </p:nvSpPr>
        <p:spPr>
          <a:xfrm>
            <a:off x="879450" y="2768800"/>
            <a:ext cx="104331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[]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arrayEnteros 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= {11, 4, 2, 12, 100, 8, 12, 43, 38};</a:t>
            </a:r>
            <a:endParaRPr b="1"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for (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=0; i&lt;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arrayEnteros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.length;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b="1" sz="19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if (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arrayEnteros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] % 2 == 0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&amp;&amp;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arrayEnteros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] &gt; 10)  {</a:t>
            </a:r>
            <a:endParaRPr b="1"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System.out.println(</a:t>
            </a:r>
            <a:r>
              <a:rPr b="1" lang="en-US" sz="19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“El numero ”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arrayEnteros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] + </a:t>
            </a:r>
            <a:r>
              <a:rPr b="1" lang="en-US" sz="19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“ (indice ”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1" lang="en-US" sz="19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“) cumple la condicion”</a:t>
            </a: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9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1" name="Google Shape;901;g1e873436327_0_87"/>
          <p:cNvSpPr txBox="1"/>
          <p:nvPr/>
        </p:nvSpPr>
        <p:spPr>
          <a:xfrm>
            <a:off x="879450" y="5482850"/>
            <a:ext cx="109887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Nota. </a:t>
            </a:r>
            <a:r>
              <a:rPr i="1" lang="en-U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 quisiéramos guardar los números que cumplen la condición en otro array, debemos crear un contador, crear otro array con el tamaño de contador y posteriormente asignar los números.</a:t>
            </a:r>
            <a:r>
              <a:rPr b="1" i="1" lang="en-U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Usando solo arrays.</a:t>
            </a:r>
            <a:endParaRPr b="1" i="1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1e8660ac818_0_400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g1e8660ac818_0_400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g1e8660ac818_0_400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9" name="Google Shape;909;g1e8660ac818_0_400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g1e8660ac818_0_400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g1e8660ac818_0_400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912" name="Google Shape;912;g1e8660ac818_0_400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g1e8660ac818_0_400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g1e8660ac818_0_400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Ejemplos Arrays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5" name="Google Shape;915;g1e8660ac818_0_400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g1e8660ac818_0_400"/>
          <p:cNvSpPr txBox="1"/>
          <p:nvPr/>
        </p:nvSpPr>
        <p:spPr>
          <a:xfrm>
            <a:off x="525825" y="2102500"/>
            <a:ext cx="4599300" cy="27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5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Ejemplo 6. </a:t>
            </a:r>
            <a:endParaRPr b="1" sz="2500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 siguiente array simula las notas de un estudiante en un curso. Las notas en las posiciones 1, 2, y 3 equivalen al 10% del curso (cada nota), posiciones 4 y 6 </a:t>
            </a: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equivalen al 20% (cada nota) y la posición 5 equivale al 30%.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7" name="Google Shape;917;g1e8660ac818_0_400"/>
          <p:cNvSpPr txBox="1"/>
          <p:nvPr/>
        </p:nvSpPr>
        <p:spPr>
          <a:xfrm>
            <a:off x="5523950" y="1575550"/>
            <a:ext cx="6531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notas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{4.5, 4.5, 5, 4.8, 4.9, 4.1};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1e873436327_0_107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g1e873436327_0_107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g1e873436327_0_107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5" name="Google Shape;925;g1e873436327_0_107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g1e873436327_0_107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g1e873436327_0_107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928" name="Google Shape;928;g1e873436327_0_107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g1e873436327_0_107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g1e873436327_0_107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Ejemplos Arrays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1" name="Google Shape;931;g1e873436327_0_107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g1e873436327_0_107"/>
          <p:cNvSpPr txBox="1"/>
          <p:nvPr/>
        </p:nvSpPr>
        <p:spPr>
          <a:xfrm>
            <a:off x="525825" y="2102500"/>
            <a:ext cx="4599300" cy="27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5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Ejemplo 6. </a:t>
            </a:r>
            <a:endParaRPr b="1" sz="2500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 siguiente array simula las notas de un estudiante en un curso. Las notas en las posiciones 1, 2, y 3 equivalen al 10% del curso (cada nota), posiciones 4 y 6 equivalen al 20% (cada nota) y la posición 5 equivale al 30%.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3" name="Google Shape;933;g1e873436327_0_107"/>
          <p:cNvSpPr txBox="1"/>
          <p:nvPr/>
        </p:nvSpPr>
        <p:spPr>
          <a:xfrm>
            <a:off x="5523950" y="1575550"/>
            <a:ext cx="65319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notas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{4.5, 4.5, 5, 4.8, 4.9, 4.1};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double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notaFinal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0.0;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(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=0; i&lt;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notas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.length;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(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&lt;= 2) {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notaFinal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+=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notas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* 0.1;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else if (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== 3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||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== 4) {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notaFinal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+=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notas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* 0.2;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else {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notaFinal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+=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notas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* 0.3;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System.out.println(</a:t>
            </a:r>
            <a:r>
              <a:rPr b="1" lang="en-US" sz="19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“Nota Final: ”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notaFinal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4" name="Google Shape;934;g1e873436327_0_107"/>
          <p:cNvSpPr txBox="1"/>
          <p:nvPr/>
        </p:nvSpPr>
        <p:spPr>
          <a:xfrm>
            <a:off x="544175" y="5710100"/>
            <a:ext cx="4678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¿Cómo </a:t>
            </a:r>
            <a:r>
              <a:rPr b="1" i="1" lang="en-U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calculamos</a:t>
            </a:r>
            <a:r>
              <a:rPr b="1" i="1" lang="en-U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el promedio de las 6 notas?</a:t>
            </a:r>
            <a:endParaRPr b="1" i="1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1e8660ac818_0_372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g1e8660ac818_0_372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g1e8660ac818_0_372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2" name="Google Shape;942;g1e8660ac818_0_372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g1e8660ac818_0_372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g1e8660ac818_0_372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945" name="Google Shape;945;g1e8660ac818_0_372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g1e8660ac818_0_372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g1e8660ac818_0_372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Ejemplos Arrays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8" name="Google Shape;948;g1e8660ac818_0_372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g1e8660ac818_0_372"/>
          <p:cNvSpPr txBox="1"/>
          <p:nvPr/>
        </p:nvSpPr>
        <p:spPr>
          <a:xfrm>
            <a:off x="548425" y="2038800"/>
            <a:ext cx="4118700" cy="3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5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Ejemplo 7. </a:t>
            </a:r>
            <a:endParaRPr b="1" sz="2500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Realiza un programa que organice los </a:t>
            </a: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números</a:t>
            </a:r>
            <a:r>
              <a:rPr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de un array (en el mismo array) de forma ascendente, es decir, de menor a mayor.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Pista.</a:t>
            </a:r>
            <a:r>
              <a:rPr i="1"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Necesitarás dos for (for anidado) y será útil </a:t>
            </a:r>
            <a:r>
              <a:rPr i="1"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una variable auxiliar/temporal</a:t>
            </a:r>
            <a:r>
              <a:rPr i="1" lang="en-US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i="1"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50" name="Google Shape;950;g1e8660ac818_0_3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1675" y="2512388"/>
            <a:ext cx="4850375" cy="29102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1" name="Google Shape;951;g1e8660ac818_0_372"/>
          <p:cNvSpPr txBox="1"/>
          <p:nvPr/>
        </p:nvSpPr>
        <p:spPr>
          <a:xfrm>
            <a:off x="5465963" y="1725600"/>
            <a:ext cx="654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Este GIF puede servirte de </a:t>
            </a: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guía</a:t>
            </a:r>
            <a:r>
              <a:rPr b="1" lang="en-US" sz="1800">
                <a:latin typeface="Roboto"/>
                <a:ea typeface="Roboto"/>
                <a:cs typeface="Roboto"/>
                <a:sym typeface="Roboto"/>
              </a:rPr>
              <a:t> para desarrollar el programa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1e873436327_0_128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g1e873436327_0_128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g1e873436327_0_128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9" name="Google Shape;959;g1e873436327_0_128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g1e873436327_0_128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g1e873436327_0_128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962" name="Google Shape;962;g1e873436327_0_128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g1e873436327_0_128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g1e873436327_0_128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Ejemplos Arrays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5" name="Google Shape;965;g1e873436327_0_128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g1e873436327_0_128"/>
          <p:cNvSpPr txBox="1"/>
          <p:nvPr/>
        </p:nvSpPr>
        <p:spPr>
          <a:xfrm>
            <a:off x="587950" y="1566175"/>
            <a:ext cx="1803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5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Ejemplo 7.</a:t>
            </a:r>
            <a:endParaRPr i="1"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7" name="Google Shape;967;g1e873436327_0_128"/>
          <p:cNvSpPr txBox="1"/>
          <p:nvPr/>
        </p:nvSpPr>
        <p:spPr>
          <a:xfrm>
            <a:off x="3190100" y="1655125"/>
            <a:ext cx="68994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[]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numeros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{4.5, 4.5, 5, 4.9, 4.1, -1, 2};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double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aux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(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=0;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numeros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.length;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(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=0;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numeros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.length-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-1;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++) {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(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numeros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j + 1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numeros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]) {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aux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numeros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j + 1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numeros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j + 1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numeros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numeros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aux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(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numeros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System.out.println(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1e8660ac818_0_51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g1e8660ac818_0_51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g1e8660ac818_0_51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5" name="Google Shape;975;g1e8660ac818_0_51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g1e8660ac818_0_51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g1e8660ac818_0_51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978" name="Google Shape;978;g1e8660ac818_0_51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g1e8660ac818_0_51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g1e8660ac818_0_51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00387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81" name="Google Shape;981;g1e8660ac818_0_51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g1e8660ac818_0_51"/>
          <p:cNvSpPr txBox="1"/>
          <p:nvPr>
            <p:ph type="title"/>
          </p:nvPr>
        </p:nvSpPr>
        <p:spPr>
          <a:xfrm>
            <a:off x="1423000" y="2601088"/>
            <a:ext cx="9585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6000">
                <a:latin typeface="Roboto"/>
                <a:ea typeface="Roboto"/>
                <a:cs typeface="Roboto"/>
                <a:sym typeface="Roboto"/>
              </a:rPr>
              <a:t>Arreglos de tamaño </a:t>
            </a:r>
            <a:r>
              <a:rPr b="1" lang="en-US" sz="6000">
                <a:latin typeface="Roboto"/>
                <a:ea typeface="Roboto"/>
                <a:cs typeface="Roboto"/>
                <a:sym typeface="Roboto"/>
              </a:rPr>
              <a:t>dinámico</a:t>
            </a:r>
            <a:endParaRPr b="1" i="1" sz="6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1e8660ac818_0_79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g1e8660ac818_0_79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g1e8660ac818_0_79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0" name="Google Shape;990;g1e8660ac818_0_79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g1e8660ac818_0_79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g1e8660ac818_0_79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993" name="Google Shape;993;g1e8660ac818_0_79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g1e8660ac818_0_79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g1e8660ac818_0_79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Arreglos de tamaño dinámico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6" name="Google Shape;996;g1e8660ac818_0_79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g1e8660ac818_0_79"/>
          <p:cNvSpPr txBox="1"/>
          <p:nvPr/>
        </p:nvSpPr>
        <p:spPr>
          <a:xfrm>
            <a:off x="782750" y="1599850"/>
            <a:ext cx="5192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6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Clase ArrayList en Java</a:t>
            </a:r>
            <a:endParaRPr b="1" i="0" sz="26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8" name="Google Shape;998;g1e8660ac818_0_79"/>
          <p:cNvSpPr txBox="1"/>
          <p:nvPr/>
        </p:nvSpPr>
        <p:spPr>
          <a:xfrm>
            <a:off x="911225" y="2474200"/>
            <a:ext cx="7251300" cy="3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En Java, 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así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 como en otros lenguajes, existen arreglos de tamaño variable o 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dinámico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. Es posible modificar su longitud dependiendo de los requisitos necesarios. 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Las estructuras de datos más conocidas son </a:t>
            </a:r>
            <a:r>
              <a:rPr b="1" lang="en-US" sz="2000">
                <a:latin typeface="Roboto"/>
                <a:ea typeface="Roboto"/>
                <a:cs typeface="Roboto"/>
                <a:sym typeface="Roboto"/>
              </a:rPr>
              <a:t>listas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b="1" lang="en-US" sz="2000">
                <a:latin typeface="Consolas"/>
                <a:ea typeface="Consolas"/>
                <a:cs typeface="Consolas"/>
                <a:sym typeface="Consolas"/>
              </a:rPr>
              <a:t>ArrayList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 en Java), colas, pilas y arrays asociativos.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i="1" lang="en-US" sz="200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Nuevos </a:t>
            </a:r>
            <a:r>
              <a:rPr i="1" lang="en-US" sz="200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términos:</a:t>
            </a:r>
            <a:r>
              <a:rPr i="1" lang="en-US" sz="200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1" lang="en-US" sz="200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size </a:t>
            </a:r>
            <a:r>
              <a:rPr i="1" lang="en-US" sz="200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(tamaño o longitud) y </a:t>
            </a:r>
            <a:r>
              <a:rPr b="1" i="1" lang="en-US" sz="200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capacity</a:t>
            </a:r>
            <a:r>
              <a:rPr b="1" i="1" lang="en-US" sz="200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1" lang="en-US" sz="200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i="1" lang="en-US" sz="200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capacidad</a:t>
            </a:r>
            <a:r>
              <a:rPr i="1" lang="en-US" sz="200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i="1" sz="200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99" name="Google Shape;999;g1e8660ac818_0_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14150" y="2039624"/>
            <a:ext cx="3085950" cy="364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1e8660ac818_0_100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g1e8660ac818_0_100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g1e8660ac818_0_100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7" name="Google Shape;1007;g1e8660ac818_0_100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g1e8660ac818_0_100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g1e8660ac818_0_100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010" name="Google Shape;1010;g1e8660ac818_0_100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g1e8660ac818_0_100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g1e8660ac818_0_100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Arreglos de tamaño dinámico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3" name="Google Shape;1013;g1e8660ac818_0_100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g1e8660ac818_0_100"/>
          <p:cNvSpPr txBox="1"/>
          <p:nvPr/>
        </p:nvSpPr>
        <p:spPr>
          <a:xfrm>
            <a:off x="634550" y="1523650"/>
            <a:ext cx="9059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6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Funcionamiento</a:t>
            </a:r>
            <a:r>
              <a:rPr b="1" lang="en-US" sz="26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 arrays dinámicos</a:t>
            </a:r>
            <a:endParaRPr b="1" i="0" sz="26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5" name="Google Shape;1015;g1e8660ac818_0_100"/>
          <p:cNvSpPr txBox="1"/>
          <p:nvPr/>
        </p:nvSpPr>
        <p:spPr>
          <a:xfrm>
            <a:off x="678425" y="2291625"/>
            <a:ext cx="53628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La </a:t>
            </a:r>
            <a:r>
              <a:rPr b="1" lang="en-US" sz="2000">
                <a:latin typeface="Roboto"/>
                <a:ea typeface="Roboto"/>
                <a:cs typeface="Roboto"/>
                <a:sym typeface="Roboto"/>
              </a:rPr>
              <a:t>capacidad 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predeterminada de los arreglos dinámicos en Java es 10 . Eso significa que internamente se crea un arreglo dinámico con una capacidad interna de 10 . Cada vez que un usuario inserta un elemento, su tamaño/longitud aumenta.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Cuando el </a:t>
            </a:r>
            <a:r>
              <a:rPr b="1" lang="en-US" sz="2000">
                <a:latin typeface="Roboto"/>
                <a:ea typeface="Roboto"/>
                <a:cs typeface="Roboto"/>
                <a:sym typeface="Roboto"/>
              </a:rPr>
              <a:t>tamaño 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llega a ser igual a su </a:t>
            </a:r>
            <a:r>
              <a:rPr b="1" lang="en-US" sz="2000">
                <a:latin typeface="Roboto"/>
                <a:ea typeface="Roboto"/>
                <a:cs typeface="Roboto"/>
                <a:sym typeface="Roboto"/>
              </a:rPr>
              <a:t>capacidad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, se crea un nuevo arreglo con el doble de capacidad y los elementos anteriores se almacenan dentro del nuevo arreglo creado internamente.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16" name="Google Shape;1016;g1e8660ac818_0_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3625" y="2261050"/>
            <a:ext cx="5983474" cy="3324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1e8660ac818_0_117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g1e8660ac818_0_117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g1e8660ac818_0_117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4" name="Google Shape;1024;g1e8660ac818_0_117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g1e8660ac818_0_117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g1e8660ac818_0_117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027" name="Google Shape;1027;g1e8660ac818_0_117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g1e8660ac818_0_117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g1e8660ac818_0_117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Arreglos de tamaño dinámico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0" name="Google Shape;1030;g1e8660ac818_0_117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g1e8660ac818_0_117"/>
          <p:cNvSpPr txBox="1"/>
          <p:nvPr/>
        </p:nvSpPr>
        <p:spPr>
          <a:xfrm>
            <a:off x="634550" y="1443288"/>
            <a:ext cx="5192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6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Array vs </a:t>
            </a:r>
            <a:r>
              <a:rPr b="1" lang="en-US" sz="26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ArrayList</a:t>
            </a:r>
            <a:endParaRPr b="1" i="0" sz="26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32" name="Google Shape;1032;g1e8660ac818_0_117"/>
          <p:cNvPicPr preferRelativeResize="0"/>
          <p:nvPr/>
        </p:nvPicPr>
        <p:blipFill rotWithShape="1">
          <a:blip r:embed="rId4">
            <a:alphaModFix/>
          </a:blip>
          <a:srcRect b="0" l="6485" r="4308" t="16464"/>
          <a:stretch/>
        </p:blipFill>
        <p:spPr>
          <a:xfrm>
            <a:off x="2912200" y="2179914"/>
            <a:ext cx="6835500" cy="3798000"/>
          </a:xfrm>
          <a:prstGeom prst="roundRect">
            <a:avLst>
              <a:gd fmla="val 4755" name="adj"/>
            </a:avLst>
          </a:prstGeom>
          <a:noFill/>
          <a:ln>
            <a:noFill/>
          </a:ln>
        </p:spPr>
      </p:pic>
      <p:sp>
        <p:nvSpPr>
          <p:cNvPr id="1033" name="Google Shape;1033;g1e8660ac818_0_117"/>
          <p:cNvSpPr txBox="1"/>
          <p:nvPr/>
        </p:nvSpPr>
        <p:spPr>
          <a:xfrm>
            <a:off x="3503503" y="5977925"/>
            <a:ext cx="565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https://data-flair.training/blogs/array-vs-arraylist-java/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1e8660ac818_0_155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g1e8660ac818_0_155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g1e8660ac818_0_155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1" name="Google Shape;1041;g1e8660ac818_0_155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g1e8660ac818_0_155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g1e8660ac818_0_155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044" name="Google Shape;1044;g1e8660ac818_0_155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g1e8660ac818_0_155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g1e8660ac818_0_155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g1e8660ac818_0_155"/>
          <p:cNvSpPr txBox="1"/>
          <p:nvPr/>
        </p:nvSpPr>
        <p:spPr>
          <a:xfrm>
            <a:off x="722975" y="1569800"/>
            <a:ext cx="5581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6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Sintaxis de un Arraylist</a:t>
            </a:r>
            <a:endParaRPr b="1" i="0" sz="26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" name="Google Shape;1048;g1e8660ac818_0_155"/>
          <p:cNvSpPr txBox="1"/>
          <p:nvPr/>
        </p:nvSpPr>
        <p:spPr>
          <a:xfrm>
            <a:off x="950250" y="3178313"/>
            <a:ext cx="9979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ArrayList&lt;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tipo de dato Wrapper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&lt;nombre del arreglo&gt;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new ArrayList&lt;&gt;();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9" name="Google Shape;1049;g1e8660ac818_0_155"/>
          <p:cNvSpPr txBox="1"/>
          <p:nvPr/>
        </p:nvSpPr>
        <p:spPr>
          <a:xfrm>
            <a:off x="9002350" y="916750"/>
            <a:ext cx="2590200" cy="492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Tipos de Wrapper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0" name="Google Shape;1050;g1e8660ac818_0_155"/>
          <p:cNvSpPr txBox="1"/>
          <p:nvPr/>
        </p:nvSpPr>
        <p:spPr>
          <a:xfrm>
            <a:off x="792150" y="2269625"/>
            <a:ext cx="1029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Para usar arrays 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dinámicos</a:t>
            </a: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 es necesario importar la clase ArrayList del paquete java.util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1" name="Google Shape;1051;g1e8660ac818_0_155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Arreglos de tamaño dinámico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1e8660ac818_0_434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g1e8660ac818_0_434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g1e8660ac818_0_434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9" name="Google Shape;1059;g1e8660ac818_0_434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g1e8660ac818_0_434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g1e8660ac818_0_434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062" name="Google Shape;1062;g1e8660ac818_0_434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g1e8660ac818_0_434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g1e8660ac818_0_434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g1e8660ac818_0_434"/>
          <p:cNvSpPr txBox="1"/>
          <p:nvPr/>
        </p:nvSpPr>
        <p:spPr>
          <a:xfrm>
            <a:off x="722975" y="1569800"/>
            <a:ext cx="5581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6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Sintaxis de un Arraylist</a:t>
            </a:r>
            <a:endParaRPr b="1" i="0" sz="26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6" name="Google Shape;1066;g1e8660ac818_0_434"/>
          <p:cNvSpPr txBox="1"/>
          <p:nvPr/>
        </p:nvSpPr>
        <p:spPr>
          <a:xfrm>
            <a:off x="950250" y="3178313"/>
            <a:ext cx="9979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ArrayList&lt;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tipo de dato Wrapper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&lt;nombre del arreglo&gt;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new ArrayList&lt;&gt;();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67" name="Google Shape;1067;g1e8660ac818_0_434"/>
          <p:cNvSpPr txBox="1"/>
          <p:nvPr/>
        </p:nvSpPr>
        <p:spPr>
          <a:xfrm>
            <a:off x="9002350" y="916750"/>
            <a:ext cx="2590200" cy="492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Tipos de Wrapper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8" name="Google Shape;1068;g1e8660ac818_0_434"/>
          <p:cNvSpPr txBox="1"/>
          <p:nvPr/>
        </p:nvSpPr>
        <p:spPr>
          <a:xfrm>
            <a:off x="792150" y="2269625"/>
            <a:ext cx="1029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Para usar arrays dinámicos es necesario importar la clase ArrayList del paquete java.util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9" name="Google Shape;1069;g1e8660ac818_0_434"/>
          <p:cNvSpPr txBox="1"/>
          <p:nvPr/>
        </p:nvSpPr>
        <p:spPr>
          <a:xfrm>
            <a:off x="950250" y="4071425"/>
            <a:ext cx="7429500" cy="1647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ArrayList&lt;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numerosEnteros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new ArrayList&lt;&gt;();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numerosEnteros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.add(1);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numerosEnteros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.add(2);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numerosEnteros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.add(3);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0" name="Google Shape;1070;g1e8660ac818_0_434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Arreglos de tamaño dinámico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1e8660ac818_0_452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g1e8660ac818_0_452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g1e8660ac818_0_452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8" name="Google Shape;1078;g1e8660ac818_0_452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g1e8660ac818_0_452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g1e8660ac818_0_452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081" name="Google Shape;1081;g1e8660ac818_0_452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g1e8660ac818_0_452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g1e8660ac818_0_452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g1e8660ac818_0_452"/>
          <p:cNvSpPr txBox="1"/>
          <p:nvPr/>
        </p:nvSpPr>
        <p:spPr>
          <a:xfrm>
            <a:off x="722975" y="1569800"/>
            <a:ext cx="5581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6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Sintaxis de un Arraylist</a:t>
            </a:r>
            <a:endParaRPr b="1" i="0" sz="26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5" name="Google Shape;1085;g1e8660ac818_0_452"/>
          <p:cNvSpPr txBox="1"/>
          <p:nvPr/>
        </p:nvSpPr>
        <p:spPr>
          <a:xfrm>
            <a:off x="950250" y="3178313"/>
            <a:ext cx="9979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ArrayList&lt;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tipo de dato Wrapper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&lt;nombre del arreglo&gt;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new ArrayList&lt;&gt;();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6" name="Google Shape;1086;g1e8660ac818_0_452"/>
          <p:cNvSpPr txBox="1"/>
          <p:nvPr/>
        </p:nvSpPr>
        <p:spPr>
          <a:xfrm>
            <a:off x="9002350" y="916750"/>
            <a:ext cx="2590200" cy="492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Tipos de Wrapper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7" name="Google Shape;1087;g1e8660ac818_0_452"/>
          <p:cNvSpPr txBox="1"/>
          <p:nvPr/>
        </p:nvSpPr>
        <p:spPr>
          <a:xfrm>
            <a:off x="792150" y="2269625"/>
            <a:ext cx="1029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Para usar arrays dinámicos es necesario importar la clase ArrayList del paquete java.util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8" name="Google Shape;1088;g1e8660ac818_0_452"/>
          <p:cNvSpPr txBox="1"/>
          <p:nvPr/>
        </p:nvSpPr>
        <p:spPr>
          <a:xfrm>
            <a:off x="950250" y="4071425"/>
            <a:ext cx="7429500" cy="1647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ArrayList&lt;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nombres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new ArrayList&lt;&gt;();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nombres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.add(“Juan Lopez”);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nombres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.add(“Maria Fuentes”);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nombres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.add(“Reinel Tabares”);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9" name="Google Shape;1089;g1e8660ac818_0_452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Arreglos de tamaño dinámico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1e8660ac818_0_471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5" name="Google Shape;1095;g1e8660ac818_0_471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g1e8660ac818_0_471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g1e8660ac818_0_471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098" name="Google Shape;1098;g1e8660ac818_0_471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g1e8660ac818_0_471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g1e8660ac818_0_471"/>
          <p:cNvSpPr txBox="1"/>
          <p:nvPr/>
        </p:nvSpPr>
        <p:spPr>
          <a:xfrm>
            <a:off x="799175" y="1391650"/>
            <a:ext cx="5581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6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Métodos de un</a:t>
            </a:r>
            <a:r>
              <a:rPr b="1" lang="en-US" sz="26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 ArrayList</a:t>
            </a:r>
            <a:endParaRPr b="1" i="0" sz="26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101" name="Google Shape;1101;g1e8660ac818_0_471"/>
          <p:cNvGraphicFramePr/>
          <p:nvPr/>
        </p:nvGraphicFramePr>
        <p:xfrm>
          <a:off x="979300" y="2246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{1046C762-B0E9-4AC3-B3C8-79C22AAF4D9D}</a:tableStyleId>
              </a:tblPr>
              <a:tblGrid>
                <a:gridCol w="2009100"/>
                <a:gridCol w="4690800"/>
                <a:gridCol w="3587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Nombre</a:t>
                      </a:r>
                      <a:endParaRPr b="1"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Sintaxis</a:t>
                      </a:r>
                      <a:endParaRPr b="1"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Explicación</a:t>
                      </a:r>
                      <a:endParaRPr b="1"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Agregar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18803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nombres</a:t>
                      </a:r>
                      <a:r>
                        <a:rPr b="1" lang="en-US" sz="17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.add(</a:t>
                      </a:r>
                      <a:r>
                        <a:rPr b="1" lang="en-US" sz="17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&lt;dato&gt;</a:t>
                      </a:r>
                      <a:r>
                        <a:rPr b="1" lang="en-US" sz="17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b="1" sz="17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Agrega un nuevo elemento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Acceder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18803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nombres</a:t>
                      </a:r>
                      <a:r>
                        <a:rPr b="1" lang="en-US" sz="17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.get(</a:t>
                      </a:r>
                      <a:r>
                        <a:rPr b="1" lang="en-US" sz="17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&lt;indice&gt;</a:t>
                      </a:r>
                      <a:r>
                        <a:rPr b="1" lang="en-US" sz="17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b="1" sz="17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Accede y retorna un elemento existente mediante su </a:t>
                      </a:r>
                      <a:r>
                        <a:rPr lang="en-US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índice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Modificar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18803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nombres</a:t>
                      </a:r>
                      <a:r>
                        <a:rPr b="1" lang="en-US" sz="17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.set(</a:t>
                      </a:r>
                      <a:r>
                        <a:rPr b="1" lang="en-US" sz="17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&lt;indice&gt;</a:t>
                      </a:r>
                      <a:r>
                        <a:rPr b="1" lang="en-US" sz="17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b="1" lang="en-US" sz="17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&lt;nuevo dato&gt;</a:t>
                      </a:r>
                      <a:r>
                        <a:rPr b="1" lang="en-US" sz="17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b="1" sz="17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Modifica un elemento existente. Es necesario pasar el </a:t>
                      </a:r>
                      <a:r>
                        <a:rPr lang="en-US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índice</a:t>
                      </a:r>
                      <a:r>
                        <a:rPr lang="en-US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y el nuevo elemento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Remover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700">
                          <a:solidFill>
                            <a:srgbClr val="18803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nombres</a:t>
                      </a:r>
                      <a:r>
                        <a:rPr b="1" lang="en-US" sz="17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.remove(</a:t>
                      </a:r>
                      <a:r>
                        <a:rPr b="1" lang="en-US" sz="17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&lt;indice&gt;</a:t>
                      </a:r>
                      <a:r>
                        <a:rPr b="1" lang="en-US" sz="17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b="1" sz="17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Elimina </a:t>
                      </a:r>
                      <a:r>
                        <a:rPr lang="en-US" sz="17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un elemento existente mediante su indice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Limpiar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700">
                          <a:solidFill>
                            <a:srgbClr val="18803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nombres</a:t>
                      </a:r>
                      <a:r>
                        <a:rPr b="1" lang="en-US" sz="17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.clear();</a:t>
                      </a:r>
                      <a:endParaRPr b="1" sz="17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Elimina todos los elementos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Tamaño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700">
                          <a:solidFill>
                            <a:srgbClr val="18803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nombres</a:t>
                      </a:r>
                      <a:r>
                        <a:rPr b="1" lang="en-US" sz="17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.size();</a:t>
                      </a:r>
                      <a:endParaRPr b="1" sz="17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Retorna el tamaño del ArrayList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02" name="Google Shape;1102;g1e8660ac818_0_471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Arreglos de tamaño dinámico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1e8660ac818_0_495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8" name="Google Shape;1108;g1e8660ac818_0_495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9" name="Google Shape;1109;g1e8660ac818_0_495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g1e8660ac818_0_495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111" name="Google Shape;1111;g1e8660ac818_0_495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g1e8660ac818_0_495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g1e8660ac818_0_495"/>
          <p:cNvSpPr txBox="1"/>
          <p:nvPr/>
        </p:nvSpPr>
        <p:spPr>
          <a:xfrm>
            <a:off x="759625" y="1554575"/>
            <a:ext cx="5581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6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Arreglos dinámicos en Python</a:t>
            </a:r>
            <a:endParaRPr b="1" i="0" sz="26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4" name="Google Shape;1114;g1e8660ac818_0_495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Arreglos de tamaño dinámico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5" name="Google Shape;1115;g1e8660ac818_0_495"/>
          <p:cNvSpPr txBox="1"/>
          <p:nvPr/>
        </p:nvSpPr>
        <p:spPr>
          <a:xfrm>
            <a:off x="820200" y="2351875"/>
            <a:ext cx="10395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 Python, una lista se define utilizando corchetes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 ]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y separando los elementos con comas. Tiene comportamientos similares a un arreglo.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6" name="Google Shape;1116;g1e8660ac818_0_495"/>
          <p:cNvSpPr txBox="1"/>
          <p:nvPr/>
        </p:nvSpPr>
        <p:spPr>
          <a:xfrm>
            <a:off x="2039400" y="3419225"/>
            <a:ext cx="8152500" cy="22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numeros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3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-3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45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81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6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nombres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“Juan Soler”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“Maria Fuentes”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“Reinel Tabares”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booleanos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False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False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False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1" sz="1900">
              <a:solidFill>
                <a:srgbClr val="1880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rgbClr val="1880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lista_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combinada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10.5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“Juan Perez”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, [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“a”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“b”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]]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7" name="Google Shape;1117;g1e8660ac818_0_495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g1e8660ac818_0_495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g1e8660ac818_0_495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e873436327_0_177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5" name="Google Shape;1125;g1e873436327_0_177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g1e873436327_0_177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g1e873436327_0_177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128" name="Google Shape;1128;g1e873436327_0_177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g1e873436327_0_177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g1e873436327_0_177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Arreglos de tamaño dinámico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1" name="Google Shape;1131;g1e873436327_0_177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g1e873436327_0_177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g1e873436327_0_177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g1e873436327_0_177"/>
          <p:cNvSpPr txBox="1"/>
          <p:nvPr/>
        </p:nvSpPr>
        <p:spPr>
          <a:xfrm>
            <a:off x="759625" y="1554575"/>
            <a:ext cx="5581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6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Arreglos dinámicos en Python</a:t>
            </a:r>
            <a:endParaRPr b="1" i="0" sz="26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5" name="Google Shape;1135;g1e873436327_0_177"/>
          <p:cNvSpPr txBox="1"/>
          <p:nvPr/>
        </p:nvSpPr>
        <p:spPr>
          <a:xfrm>
            <a:off x="820200" y="2351875"/>
            <a:ext cx="10395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 Python, una lista se define utilizando corchetes 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 ]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y separando los  elementos con comas.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6" name="Google Shape;1136;g1e873436327_0_177"/>
          <p:cNvSpPr txBox="1"/>
          <p:nvPr/>
        </p:nvSpPr>
        <p:spPr>
          <a:xfrm>
            <a:off x="1582200" y="3419225"/>
            <a:ext cx="8152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lista_combinada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10.5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“Juan Perez”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, [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“a”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“b”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]]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7" name="Google Shape;1137;g1e873436327_0_177"/>
          <p:cNvSpPr txBox="1"/>
          <p:nvPr/>
        </p:nvSpPr>
        <p:spPr>
          <a:xfrm>
            <a:off x="820200" y="5075125"/>
            <a:ext cx="10395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 permite almacenar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diferentes tipos de datos en un lista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 diferencia de un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ArrayList 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 Java, que solo permite almacenar datos de un solo tipo.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8" name="Google Shape;1138;g1e873436327_0_177"/>
          <p:cNvSpPr txBox="1"/>
          <p:nvPr/>
        </p:nvSpPr>
        <p:spPr>
          <a:xfrm>
            <a:off x="3338300" y="4162425"/>
            <a:ext cx="110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Punto flotante</a:t>
            </a:r>
            <a:endParaRPr b="1" sz="1500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9" name="Google Shape;1139;g1e873436327_0_177"/>
          <p:cNvSpPr txBox="1"/>
          <p:nvPr/>
        </p:nvSpPr>
        <p:spPr>
          <a:xfrm>
            <a:off x="4815775" y="4277925"/>
            <a:ext cx="101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Booleano</a:t>
            </a:r>
            <a:endParaRPr b="1" sz="1500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0" name="Google Shape;1140;g1e873436327_0_177"/>
          <p:cNvSpPr txBox="1"/>
          <p:nvPr/>
        </p:nvSpPr>
        <p:spPr>
          <a:xfrm>
            <a:off x="6204450" y="4277925"/>
            <a:ext cx="79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endParaRPr b="1" sz="1500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1" name="Google Shape;1141;g1e873436327_0_177"/>
          <p:cNvSpPr txBox="1"/>
          <p:nvPr/>
        </p:nvSpPr>
        <p:spPr>
          <a:xfrm>
            <a:off x="8687200" y="4277925"/>
            <a:ext cx="69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Lista</a:t>
            </a:r>
            <a:endParaRPr b="1" sz="1500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2" name="Google Shape;1142;g1e873436327_0_177"/>
          <p:cNvSpPr txBox="1"/>
          <p:nvPr/>
        </p:nvSpPr>
        <p:spPr>
          <a:xfrm>
            <a:off x="7370520" y="4277925"/>
            <a:ext cx="79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Entero</a:t>
            </a:r>
            <a:endParaRPr b="1" sz="1500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3" name="Google Shape;1143;g1e873436327_0_177"/>
          <p:cNvCxnSpPr>
            <a:stCxn id="1138" idx="0"/>
          </p:cNvCxnSpPr>
          <p:nvPr/>
        </p:nvCxnSpPr>
        <p:spPr>
          <a:xfrm flipH="1" rot="10800000">
            <a:off x="3890450" y="3854025"/>
            <a:ext cx="438900" cy="3084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4" name="Google Shape;1144;g1e873436327_0_177"/>
          <p:cNvCxnSpPr>
            <a:stCxn id="1139" idx="0"/>
          </p:cNvCxnSpPr>
          <p:nvPr/>
        </p:nvCxnSpPr>
        <p:spPr>
          <a:xfrm flipH="1" rot="10800000">
            <a:off x="5323525" y="3913125"/>
            <a:ext cx="13800" cy="3648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5" name="Google Shape;1145;g1e873436327_0_177"/>
          <p:cNvCxnSpPr>
            <a:stCxn id="1140" idx="0"/>
          </p:cNvCxnSpPr>
          <p:nvPr/>
        </p:nvCxnSpPr>
        <p:spPr>
          <a:xfrm flipH="1" rot="10800000">
            <a:off x="6600900" y="3883725"/>
            <a:ext cx="1200" cy="3942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6" name="Google Shape;1146;g1e873436327_0_177"/>
          <p:cNvCxnSpPr>
            <a:stCxn id="1142" idx="0"/>
          </p:cNvCxnSpPr>
          <p:nvPr/>
        </p:nvCxnSpPr>
        <p:spPr>
          <a:xfrm rot="10800000">
            <a:off x="7758270" y="3903225"/>
            <a:ext cx="8700" cy="3747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7" name="Google Shape;1147;g1e873436327_0_177"/>
          <p:cNvCxnSpPr>
            <a:stCxn id="1141" idx="0"/>
          </p:cNvCxnSpPr>
          <p:nvPr/>
        </p:nvCxnSpPr>
        <p:spPr>
          <a:xfrm rot="10800000">
            <a:off x="8766400" y="3913125"/>
            <a:ext cx="270300" cy="3648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1e8660ac818_0_607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3" name="Google Shape;1153;g1e8660ac818_0_607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g1e8660ac818_0_607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g1e8660ac818_0_607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156" name="Google Shape;1156;g1e8660ac818_0_607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g1e8660ac818_0_607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g1e8660ac818_0_607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Arreglos de tamaño dinámico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9" name="Google Shape;1159;g1e8660ac818_0_607"/>
          <p:cNvSpPr txBox="1"/>
          <p:nvPr/>
        </p:nvSpPr>
        <p:spPr>
          <a:xfrm>
            <a:off x="1206700" y="1692750"/>
            <a:ext cx="5362800" cy="44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# Crear arreglo/lista y asignar valores</a:t>
            </a:r>
            <a:endParaRPr b="1" sz="1900">
              <a:solidFill>
                <a:srgbClr val="1880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numeros 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3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-3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45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81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6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3C78D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# Acceder a los datos/elementos</a:t>
            </a:r>
            <a:endParaRPr b="1" sz="1900">
              <a:solidFill>
                <a:srgbClr val="1880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numeros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		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# 10</a:t>
            </a:r>
            <a:endParaRPr b="1" sz="1900">
              <a:solidFill>
                <a:srgbClr val="1880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numeros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	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# 81</a:t>
            </a:r>
            <a:endParaRPr b="1" sz="1900">
              <a:solidFill>
                <a:srgbClr val="1880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numeros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-US" sz="1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-1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# 6</a:t>
            </a:r>
            <a:endParaRPr b="1" sz="1900">
              <a:solidFill>
                <a:srgbClr val="1880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rgbClr val="1880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# Agregar dato/elemento</a:t>
            </a:r>
            <a:endParaRPr b="1" sz="1900">
              <a:solidFill>
                <a:srgbClr val="1880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numeros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.append(99)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60" name="Google Shape;1160;g1e8660ac818_0_607"/>
          <p:cNvSpPr txBox="1"/>
          <p:nvPr/>
        </p:nvSpPr>
        <p:spPr>
          <a:xfrm>
            <a:off x="8026000" y="2125350"/>
            <a:ext cx="3010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Tamaño / longitud = 6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1" name="Google Shape;1161;g1e8660ac818_0_607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g1e8660ac818_0_607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g1e8660ac818_0_607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g1e8660ac818_0_607"/>
          <p:cNvSpPr txBox="1"/>
          <p:nvPr/>
        </p:nvSpPr>
        <p:spPr>
          <a:xfrm>
            <a:off x="8026000" y="3101775"/>
            <a:ext cx="3010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accede a los elementos usando corchetes y su 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índice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5" name="Google Shape;1165;g1e8660ac818_0_607"/>
          <p:cNvSpPr txBox="1"/>
          <p:nvPr/>
        </p:nvSpPr>
        <p:spPr>
          <a:xfrm>
            <a:off x="8121000" y="4814338"/>
            <a:ext cx="3183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 igual que los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ArrayList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tienen su método para agregar nuevos elementos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6" name="Google Shape;1166;g1e8660ac818_0_607"/>
          <p:cNvSpPr/>
          <p:nvPr/>
        </p:nvSpPr>
        <p:spPr>
          <a:xfrm>
            <a:off x="6773250" y="2225250"/>
            <a:ext cx="849900" cy="292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g1e8660ac818_0_607"/>
          <p:cNvSpPr/>
          <p:nvPr/>
        </p:nvSpPr>
        <p:spPr>
          <a:xfrm>
            <a:off x="6773250" y="3509475"/>
            <a:ext cx="849900" cy="292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g1e8660ac818_0_607"/>
          <p:cNvSpPr/>
          <p:nvPr/>
        </p:nvSpPr>
        <p:spPr>
          <a:xfrm>
            <a:off x="6773250" y="5546475"/>
            <a:ext cx="849900" cy="292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1e8660ac818_0_595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4" name="Google Shape;1174;g1e8660ac818_0_595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g1e8660ac818_0_595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g1e8660ac818_0_595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177" name="Google Shape;1177;g1e8660ac818_0_595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g1e8660ac818_0_595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g1e8660ac818_0_595"/>
          <p:cNvSpPr txBox="1"/>
          <p:nvPr/>
        </p:nvSpPr>
        <p:spPr>
          <a:xfrm>
            <a:off x="799175" y="1391650"/>
            <a:ext cx="5581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26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Métodos de una lista de Python</a:t>
            </a:r>
            <a:endParaRPr b="1" i="0" sz="26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180" name="Google Shape;1180;g1e8660ac818_0_595"/>
          <p:cNvGraphicFramePr/>
          <p:nvPr/>
        </p:nvGraphicFramePr>
        <p:xfrm>
          <a:off x="979300" y="2246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{1046C762-B0E9-4AC3-B3C8-79C22AAF4D9D}</a:tableStyleId>
              </a:tblPr>
              <a:tblGrid>
                <a:gridCol w="2009100"/>
                <a:gridCol w="4690800"/>
                <a:gridCol w="3587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Nombre</a:t>
                      </a:r>
                      <a:endParaRPr b="1"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Sintaxis</a:t>
                      </a:r>
                      <a:endParaRPr b="1"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Explicación</a:t>
                      </a:r>
                      <a:endParaRPr b="1"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Agregar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18803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</a:t>
                      </a:r>
                      <a:r>
                        <a:rPr b="1" lang="en-US" sz="17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.append(</a:t>
                      </a:r>
                      <a:r>
                        <a:rPr b="1" lang="en-US" sz="17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&lt;dato&gt;</a:t>
                      </a:r>
                      <a:r>
                        <a:rPr b="1" lang="en-US" sz="17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b="1" sz="17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Agrega un nuevo elemento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Indice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18803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</a:t>
                      </a:r>
                      <a:r>
                        <a:rPr b="1" lang="en-US" sz="17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.index(</a:t>
                      </a:r>
                      <a:r>
                        <a:rPr b="1" lang="en-US" sz="17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&lt;dato existente&gt;</a:t>
                      </a:r>
                      <a:r>
                        <a:rPr b="1" lang="en-US" sz="17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b="1" sz="17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Retorna el índice del primer elemento </a:t>
                      </a:r>
                      <a:r>
                        <a:rPr lang="en-US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coincidente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Remover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18803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</a:t>
                      </a:r>
                      <a:r>
                        <a:rPr b="1" lang="en-US" sz="17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.remove(</a:t>
                      </a:r>
                      <a:r>
                        <a:rPr b="1" lang="en-US" sz="17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b="1" lang="en-US" sz="17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dato existente</a:t>
                      </a:r>
                      <a:r>
                        <a:rPr b="1" lang="en-US" sz="17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b="1" lang="en-US" sz="17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b="1" sz="17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Quita el primer elemento coincidente de la lista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Remover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18803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</a:t>
                      </a:r>
                      <a:r>
                        <a:rPr b="1" lang="en-US" sz="17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.pop(</a:t>
                      </a:r>
                      <a:r>
                        <a:rPr b="1" lang="en-US" sz="17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&lt;indice&gt;</a:t>
                      </a:r>
                      <a:r>
                        <a:rPr b="1" lang="en-US" sz="17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b="1" sz="17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Quita el elemento en la posición dada de la lista y lo retorna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Limpiar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18803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</a:t>
                      </a:r>
                      <a:r>
                        <a:rPr b="1" lang="en-US" sz="17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.clear();</a:t>
                      </a:r>
                      <a:endParaRPr b="1" sz="17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Elimina todos los elementos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Contar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188038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</a:t>
                      </a:r>
                      <a:r>
                        <a:rPr b="1" lang="en-US" sz="17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.count(</a:t>
                      </a:r>
                      <a:r>
                        <a:rPr b="1" lang="en-US" sz="17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&lt;dato existente&gt;</a:t>
                      </a:r>
                      <a:r>
                        <a:rPr b="1" lang="en-US" sz="17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b="1" sz="17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Retorna el número de veces que aparece el elemento</a:t>
                      </a:r>
                      <a:endParaRPr sz="17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81" name="Google Shape;1181;g1e8660ac818_0_595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Arreglos de tamaño dinámico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1e8660ac818_0_537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7" name="Google Shape;1187;g1e8660ac818_0_537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8" name="Google Shape;1188;g1e8660ac818_0_537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g1e8660ac818_0_537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190" name="Google Shape;1190;g1e8660ac818_0_537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g1e8660ac818_0_537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g1e8660ac818_0_537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Arreglos de tamaño dinámico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3" name="Google Shape;1193;g1e8660ac818_0_537"/>
          <p:cNvSpPr txBox="1"/>
          <p:nvPr/>
        </p:nvSpPr>
        <p:spPr>
          <a:xfrm>
            <a:off x="820200" y="1672538"/>
            <a:ext cx="10395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tiene una implementación similar a las listas de Python, es decir, una lista que contiene datos de diferentes tipos.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 necesario utilizar las clases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List 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ArrayList 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del paquete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java.util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4" name="Google Shape;1194;g1e8660ac818_0_537"/>
          <p:cNvSpPr txBox="1"/>
          <p:nvPr/>
        </p:nvSpPr>
        <p:spPr>
          <a:xfrm>
            <a:off x="820200" y="3419250"/>
            <a:ext cx="9979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List&lt;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Object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&lt;nombre del arreglo&gt;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new ArrayList&lt;&gt;();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95" name="Google Shape;1195;g1e8660ac818_0_537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g1e8660ac818_0_537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g1e8660ac818_0_537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1e8660ac818_0_577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3" name="Google Shape;1203;g1e8660ac818_0_577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g1e8660ac818_0_577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g1e8660ac818_0_577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206" name="Google Shape;1206;g1e8660ac818_0_577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g1e8660ac818_0_577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g1e8660ac818_0_577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Arreglos de tamaño dinámico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9" name="Google Shape;1209;g1e8660ac818_0_577"/>
          <p:cNvSpPr txBox="1"/>
          <p:nvPr/>
        </p:nvSpPr>
        <p:spPr>
          <a:xfrm>
            <a:off x="820200" y="1672538"/>
            <a:ext cx="10395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tiene una implementación similar a las listas de Python, es decir, una lista que contiene datos de diferentes tipos.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 necesario utilizar las clases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List 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ArrayList </a:t>
            </a: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del paquete </a:t>
            </a:r>
            <a:r>
              <a:rPr b="1"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java.util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0" name="Google Shape;1210;g1e8660ac818_0_577"/>
          <p:cNvSpPr txBox="1"/>
          <p:nvPr/>
        </p:nvSpPr>
        <p:spPr>
          <a:xfrm>
            <a:off x="820200" y="3419250"/>
            <a:ext cx="9979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List&lt;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Object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&lt;nombre del arreglo&gt;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new ArrayList&lt;&gt;();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1" name="Google Shape;1211;g1e8660ac818_0_577"/>
          <p:cNvSpPr/>
          <p:nvPr/>
        </p:nvSpPr>
        <p:spPr>
          <a:xfrm>
            <a:off x="8834375" y="2351875"/>
            <a:ext cx="3361392" cy="3045816"/>
          </a:xfrm>
          <a:prstGeom prst="cloud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ArrayList </a:t>
            </a:r>
            <a:r>
              <a:rPr lang="en-U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 un contenedor </a:t>
            </a:r>
            <a:r>
              <a:rPr i="1" lang="en-U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que contiene</a:t>
            </a:r>
            <a:r>
              <a:rPr lang="en-U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una implementación de la colección </a:t>
            </a:r>
            <a:r>
              <a:rPr b="1" lang="en-U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List</a:t>
            </a:r>
            <a:r>
              <a:rPr lang="en-U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b="1" lang="en-U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List </a:t>
            </a:r>
            <a:r>
              <a:rPr lang="en-U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 una interfaz genérica que representa una colección ordenada de elementos que pueden repetirse.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12" name="Google Shape;1212;g1e8660ac818_0_5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5725" y="4980450"/>
            <a:ext cx="1342575" cy="134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g1e8660ac818_0_577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g1e8660ac818_0_577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g1e8660ac818_0_577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g1e8660ac818_0_577"/>
          <p:cNvSpPr txBox="1"/>
          <p:nvPr/>
        </p:nvSpPr>
        <p:spPr>
          <a:xfrm>
            <a:off x="820200" y="4071425"/>
            <a:ext cx="7223700" cy="1939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List&lt;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1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listaCombinada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new ArrayList&lt;&gt;();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listaCombinada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.add(7);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listaCombinada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.add(“Maria Fuentes”);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listaCombinada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.add(65.344);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listaCombinada</a:t>
            </a:r>
            <a:r>
              <a:rPr b="1"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.add(true);</a:t>
            </a:r>
            <a:endParaRPr b="1"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2416319f9fb_1_419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g2416319f9fb_1_419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g2416319f9fb_1_419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4" name="Google Shape;1224;g2416319f9fb_1_419"/>
          <p:cNvPicPr preferRelativeResize="0"/>
          <p:nvPr/>
        </p:nvPicPr>
        <p:blipFill rotWithShape="1">
          <a:blip r:embed="rId3">
            <a:alphaModFix/>
          </a:blip>
          <a:srcRect b="17581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g2416319f9fb_1_419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g2416319f9fb_1_419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227" name="Google Shape;1227;g2416319f9fb_1_419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g2416319f9fb_1_419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g2416319f9fb_1_419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Ahora te toca a tí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0" name="Google Shape;1230;g2416319f9fb_1_419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1" name="Google Shape;1231;g2416319f9fb_1_4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63675" y="2985059"/>
            <a:ext cx="3010650" cy="3010669"/>
          </a:xfrm>
          <a:prstGeom prst="rect">
            <a:avLst/>
          </a:prstGeom>
          <a:noFill/>
          <a:ln>
            <a:noFill/>
          </a:ln>
        </p:spPr>
      </p:pic>
      <p:sp>
        <p:nvSpPr>
          <p:cNvPr id="1232" name="Google Shape;1232;g2416319f9fb_1_419"/>
          <p:cNvSpPr/>
          <p:nvPr/>
        </p:nvSpPr>
        <p:spPr>
          <a:xfrm>
            <a:off x="1167500" y="2131200"/>
            <a:ext cx="6484500" cy="2958000"/>
          </a:xfrm>
          <a:prstGeom prst="roundRect">
            <a:avLst>
              <a:gd fmla="val 11310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Ahora te toca a tí </a:t>
            </a:r>
            <a:endParaRPr b="1" i="0" sz="2200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Escribir un programa que reciba una lista de números enteros y calcule la suma de todos los elementos de la lista.</a:t>
            </a:r>
            <a:endParaRPr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i="0" lang="en-US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Escribir un programa que reciba una lista de palabras y devuelva una lista con todas las palabras en mayúsculas.</a:t>
            </a:r>
            <a:endParaRPr i="0" sz="2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2416319f9fb_1_437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g2416319f9fb_1_437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g2416319f9fb_1_437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0" name="Google Shape;1240;g2416319f9fb_1_437"/>
          <p:cNvPicPr preferRelativeResize="0"/>
          <p:nvPr/>
        </p:nvPicPr>
        <p:blipFill rotWithShape="1">
          <a:blip r:embed="rId3">
            <a:alphaModFix/>
          </a:blip>
          <a:srcRect b="17581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g2416319f9fb_1_437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g2416319f9fb_1_437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243" name="Google Shape;1243;g2416319f9fb_1_437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g2416319f9fb_1_437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g2416319f9fb_1_437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Ahora te toca a tí</a:t>
            </a:r>
            <a:endParaRPr i="0" sz="20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6" name="Google Shape;1246;g2416319f9fb_1_437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g2416319f9fb_1_437"/>
          <p:cNvSpPr txBox="1"/>
          <p:nvPr/>
        </p:nvSpPr>
        <p:spPr>
          <a:xfrm>
            <a:off x="641500" y="1807800"/>
            <a:ext cx="3418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Respuesta ejercicio 1</a:t>
            </a:r>
            <a:endParaRPr b="1" i="1" sz="2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8" name="Google Shape;1248;g2416319f9fb_1_437"/>
          <p:cNvSpPr txBox="1"/>
          <p:nvPr/>
        </p:nvSpPr>
        <p:spPr>
          <a:xfrm>
            <a:off x="8389750" y="2774250"/>
            <a:ext cx="3570300" cy="30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en-US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 este ejemplo, se define una lista de números enteros llamada números. Luego, se inicializa una variable suma en cero.</a:t>
            </a:r>
            <a:endParaRPr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0" lang="en-US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utiliza un ciclo </a:t>
            </a:r>
            <a:r>
              <a:rPr b="1" i="0" lang="en-US" sz="1700" u="none" cap="none" strike="noStrike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0" lang="en-US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para recorrer cada elemento de la lista numeros. Dentro del ciclo, se va sumando cada elemento a la variable suma.</a:t>
            </a:r>
            <a:endParaRPr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49" name="Google Shape;1249;g2416319f9fb_1_4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1162" y="2774250"/>
            <a:ext cx="7529700" cy="2969100"/>
          </a:xfrm>
          <a:prstGeom prst="roundRect">
            <a:avLst>
              <a:gd fmla="val 484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2416319f9fb_1_456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g2416319f9fb_1_456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g2416319f9fb_1_456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7" name="Google Shape;1257;g2416319f9fb_1_456"/>
          <p:cNvPicPr preferRelativeResize="0"/>
          <p:nvPr/>
        </p:nvPicPr>
        <p:blipFill rotWithShape="1">
          <a:blip r:embed="rId3">
            <a:alphaModFix/>
          </a:blip>
          <a:srcRect b="17581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8" name="Google Shape;1258;g2416319f9fb_1_456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g2416319f9fb_1_456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260" name="Google Shape;1260;g2416319f9fb_1_456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g2416319f9fb_1_456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g2416319f9fb_1_456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rgbClr val="003870"/>
                </a:solidFill>
                <a:latin typeface="Trebuchet MS"/>
                <a:ea typeface="Trebuchet MS"/>
                <a:cs typeface="Trebuchet MS"/>
                <a:sym typeface="Trebuchet MS"/>
              </a:rPr>
              <a:t>Ahora te toca a tí</a:t>
            </a:r>
            <a:endParaRPr b="0" i="0" sz="2000" u="none" cap="none" strike="noStrike">
              <a:solidFill>
                <a:srgbClr val="00387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63" name="Google Shape;1263;g2416319f9fb_1_456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g2416319f9fb_1_456"/>
          <p:cNvSpPr txBox="1"/>
          <p:nvPr/>
        </p:nvSpPr>
        <p:spPr>
          <a:xfrm>
            <a:off x="661250" y="1725600"/>
            <a:ext cx="3418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Respuesta ejercicio 2</a:t>
            </a:r>
            <a:endParaRPr b="1" i="1" sz="2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5" name="Google Shape;1265;g2416319f9fb_1_456"/>
          <p:cNvSpPr txBox="1"/>
          <p:nvPr/>
        </p:nvSpPr>
        <p:spPr>
          <a:xfrm>
            <a:off x="8338700" y="1629650"/>
            <a:ext cx="3418500" cy="4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i="0" lang="en-US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 este ejemplo, se define una lista de palabras llamada </a:t>
            </a:r>
            <a:r>
              <a:rPr b="1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palabras</a:t>
            </a:r>
            <a:r>
              <a:rPr i="0" lang="en-US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Luego, se inicializa una lista vacía llamada </a:t>
            </a:r>
            <a:r>
              <a:rPr b="1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mayusculas</a:t>
            </a:r>
            <a:r>
              <a:rPr i="0" lang="en-US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i="0" lang="en-US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utiliza un ciclo </a:t>
            </a:r>
            <a:r>
              <a:rPr b="1" i="0" lang="en-US" sz="1700" u="none" cap="none" strike="noStrike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0" lang="en-US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para recorrer cada elemento de la lista palabras. Dentro del ciclo, se utiliza el método </a:t>
            </a:r>
            <a:r>
              <a:rPr b="1" i="0" lang="en-US" sz="1700" u="none" cap="none" strike="noStrike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upper()</a:t>
            </a:r>
            <a:r>
              <a:rPr i="0" lang="en-US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para convertir cada palabra a mayúsculas y se agrega la palabra en mayúsculas a la lista </a:t>
            </a:r>
            <a:r>
              <a:rPr b="1" i="0" lang="en-US" sz="17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mayusculas </a:t>
            </a:r>
            <a:r>
              <a:rPr i="0" lang="en-US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utilizando el método </a:t>
            </a:r>
            <a:r>
              <a:rPr b="1" i="0" lang="en-US" sz="1700" u="none" cap="none" strike="noStrike">
                <a:solidFill>
                  <a:srgbClr val="188038"/>
                </a:solidFill>
                <a:latin typeface="Consolas"/>
                <a:ea typeface="Consolas"/>
                <a:cs typeface="Consolas"/>
                <a:sym typeface="Consolas"/>
              </a:rPr>
              <a:t>append()</a:t>
            </a:r>
            <a:r>
              <a:rPr i="0" lang="en-US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66" name="Google Shape;1266;g2416319f9fb_1_4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350" y="2586675"/>
            <a:ext cx="7267200" cy="2865600"/>
          </a:xfrm>
          <a:prstGeom prst="roundRect">
            <a:avLst>
              <a:gd fmla="val 3704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2482c1fd208_0_155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g2482c1fd208_0_155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g2482c1fd208_0_155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4" name="Google Shape;1274;g2482c1fd208_0_155"/>
          <p:cNvPicPr preferRelativeResize="0"/>
          <p:nvPr/>
        </p:nvPicPr>
        <p:blipFill rotWithShape="1">
          <a:blip r:embed="rId3">
            <a:alphaModFix/>
          </a:blip>
          <a:srcRect b="17581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g2482c1fd208_0_155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g2482c1fd208_0_155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277" name="Google Shape;1277;g2482c1fd208_0_155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g2482c1fd208_0_155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g2482c1fd208_0_155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387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80" name="Google Shape;1280;g2482c1fd208_0_155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g2482c1fd208_0_155"/>
          <p:cNvSpPr txBox="1"/>
          <p:nvPr/>
        </p:nvSpPr>
        <p:spPr>
          <a:xfrm>
            <a:off x="1314850" y="2083063"/>
            <a:ext cx="51237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2" name="Google Shape;1282;g2482c1fd208_0_155"/>
          <p:cNvSpPr txBox="1"/>
          <p:nvPr/>
        </p:nvSpPr>
        <p:spPr>
          <a:xfrm>
            <a:off x="1028275" y="2350450"/>
            <a:ext cx="71586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9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Notebooks: </a:t>
            </a:r>
            <a:r>
              <a:rPr i="0" lang="en-US" sz="25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Notebook Java</a:t>
            </a:r>
            <a:r>
              <a:rPr i="0" lang="en-US" sz="2500" cap="none" strike="noStrike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5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N</a:t>
            </a:r>
            <a:r>
              <a:rPr i="0" lang="en-US" sz="25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6"/>
              </a:rPr>
              <a:t>otebook Python</a:t>
            </a:r>
            <a:endParaRPr sz="2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9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Taller:</a:t>
            </a:r>
            <a:r>
              <a:rPr lang="en-US" sz="2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7"/>
              </a:rPr>
              <a:t>Taller Arreglos</a:t>
            </a:r>
            <a:endParaRPr sz="2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150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9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Quiz:</a:t>
            </a:r>
            <a:r>
              <a:rPr lang="en-US" sz="2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8"/>
              </a:rPr>
              <a:t>Quiz Arreglos</a:t>
            </a:r>
            <a:endParaRPr sz="2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83" name="Google Shape;1283;g2482c1fd208_0_15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07517" y="2761650"/>
            <a:ext cx="1747475" cy="16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249229a326a_0_0"/>
          <p:cNvSpPr/>
          <p:nvPr/>
        </p:nvSpPr>
        <p:spPr>
          <a:xfrm>
            <a:off x="0" y="1725611"/>
            <a:ext cx="243204" cy="5132705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g249229a326a_0_0"/>
          <p:cNvSpPr/>
          <p:nvPr/>
        </p:nvSpPr>
        <p:spPr>
          <a:xfrm>
            <a:off x="9185075" y="6323026"/>
            <a:ext cx="3010662" cy="53688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g249229a326a_0_0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1" name="Google Shape;1291;g249229a326a_0_0"/>
          <p:cNvPicPr preferRelativeResize="0"/>
          <p:nvPr/>
        </p:nvPicPr>
        <p:blipFill rotWithShape="1">
          <a:blip r:embed="rId3">
            <a:alphaModFix/>
          </a:blip>
          <a:srcRect b="17581" l="0" r="0" t="17296"/>
          <a:stretch/>
        </p:blipFill>
        <p:spPr>
          <a:xfrm>
            <a:off x="0" y="0"/>
            <a:ext cx="2825825" cy="10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2" name="Google Shape;1292;g249229a326a_0_0"/>
          <p:cNvSpPr/>
          <p:nvPr/>
        </p:nvSpPr>
        <p:spPr>
          <a:xfrm>
            <a:off x="0" y="1127800"/>
            <a:ext cx="3519000" cy="705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g249229a326a_0_0"/>
          <p:cNvSpPr txBox="1"/>
          <p:nvPr/>
        </p:nvSpPr>
        <p:spPr>
          <a:xfrm>
            <a:off x="2912200" y="173475"/>
            <a:ext cx="2212800" cy="67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n-US" sz="16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6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294" name="Google Shape;1294;g249229a326a_0_0"/>
          <p:cNvSpPr/>
          <p:nvPr/>
        </p:nvSpPr>
        <p:spPr>
          <a:xfrm>
            <a:off x="2807500" y="273850"/>
            <a:ext cx="28500" cy="4524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g249229a326a_0_0"/>
          <p:cNvSpPr/>
          <p:nvPr/>
        </p:nvSpPr>
        <p:spPr>
          <a:xfrm>
            <a:off x="6829250" y="-2"/>
            <a:ext cx="5362742" cy="510604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g249229a326a_0_0"/>
          <p:cNvSpPr txBox="1"/>
          <p:nvPr/>
        </p:nvSpPr>
        <p:spPr>
          <a:xfrm>
            <a:off x="6885700" y="0"/>
            <a:ext cx="529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387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97" name="Google Shape;1297;g249229a326a_0_0"/>
          <p:cNvSpPr/>
          <p:nvPr/>
        </p:nvSpPr>
        <p:spPr>
          <a:xfrm>
            <a:off x="9287540" y="6444999"/>
            <a:ext cx="292455" cy="292933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g249229a326a_0_0"/>
          <p:cNvSpPr txBox="1"/>
          <p:nvPr/>
        </p:nvSpPr>
        <p:spPr>
          <a:xfrm>
            <a:off x="867150" y="1475513"/>
            <a:ext cx="5123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700" u="none" cap="none" strike="noStrike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Referencias</a:t>
            </a:r>
            <a:endParaRPr b="1" i="0" sz="27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9" name="Google Shape;1299;g249229a326a_0_0"/>
          <p:cNvSpPr txBox="1"/>
          <p:nvPr/>
        </p:nvSpPr>
        <p:spPr>
          <a:xfrm>
            <a:off x="991550" y="2194250"/>
            <a:ext cx="50247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https://www.w3schools.com/java/java_arrays.asp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https://docs.oracle.com/javase/specs/jls/se7/html/jls-10.html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6"/>
              </a:rPr>
              <a:t>https://docs.oracle.com/javase/tutorial/java/nutsandbolts/arrays.html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7"/>
              </a:rPr>
              <a:t>https://www.manualweb.net/java/arrays-java/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8"/>
              </a:rPr>
              <a:t>https://webs.um.es/ldaniel/iscyp17-18/17-arraysDeEstructurasDatos.html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9"/>
              </a:rPr>
              <a:t>https://www.scaler.com/topics/java/array-in-java/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US" sz="15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10"/>
              </a:rPr>
              <a:t>https://www.w3schools.com/java/java_arraylist.asp</a:t>
            </a:r>
            <a:endParaRPr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0" name="Google Shape;1300;g249229a326a_0_0"/>
          <p:cNvSpPr txBox="1"/>
          <p:nvPr/>
        </p:nvSpPr>
        <p:spPr>
          <a:xfrm>
            <a:off x="6317875" y="2194250"/>
            <a:ext cx="50247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5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11"/>
              </a:rPr>
              <a:t>https://www.w3schools.com/java/java_arrays_multi.asp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5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12"/>
              </a:rPr>
              <a:t>https://personales.unican.es/corcuerp/java/Slides/Arrays.pdf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13"/>
              </a:rPr>
              <a:t>https://docs.python.org/es/3/tutorial/datastructures.html#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14"/>
              </a:rPr>
              <a:t>https://www.scaler.com/topics/dynamic-array-in-java/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15"/>
              </a:rPr>
              <a:t>https://www.freecodecamp.org/espanol/news/metodos-de-lista-de-java/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16"/>
              </a:rPr>
              <a:t>https://es.stackoverflow.com/questions/171467/list-o-arraylist-en-java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5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17"/>
              </a:rPr>
              <a:t>https://blog.codmind.com/listas-en-java/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5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002955"/>
          </a:solidFill>
          <a:ln cap="flat" cmpd="sng" w="9525">
            <a:solidFill>
              <a:srgbClr val="0029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6" name="Google Shape;1306;p5"/>
          <p:cNvPicPr preferRelativeResize="0"/>
          <p:nvPr/>
        </p:nvPicPr>
        <p:blipFill rotWithShape="1">
          <a:blip r:embed="rId3">
            <a:alphaModFix/>
          </a:blip>
          <a:srcRect b="0" l="9049" r="0" t="0"/>
          <a:stretch/>
        </p:blipFill>
        <p:spPr>
          <a:xfrm>
            <a:off x="415625" y="1229575"/>
            <a:ext cx="3862051" cy="424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5"/>
          <p:cNvSpPr txBox="1"/>
          <p:nvPr/>
        </p:nvSpPr>
        <p:spPr>
          <a:xfrm>
            <a:off x="3972850" y="2898738"/>
            <a:ext cx="78831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0" i="0" lang="en-US" sz="47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UNIVERSIDAD DE CALDAS</a:t>
            </a:r>
            <a:endParaRPr b="0" i="0" sz="47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2022-07-17T16:15:25Z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