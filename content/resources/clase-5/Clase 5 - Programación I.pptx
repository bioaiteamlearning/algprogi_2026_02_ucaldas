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6858000" cx="12192000"/>
  <p:notesSz cx="12192000" cy="6858000"/>
  <p:embeddedFontLst>
    <p:embeddedFont>
      <p:font typeface="Oswald SemiBold"/>
      <p:regular r:id="rId75"/>
      <p:bold r:id="rId76"/>
    </p:embeddedFont>
    <p:embeddedFont>
      <p:font typeface="Oswald"/>
      <p:regular r:id="rId77"/>
      <p:bold r:id="rId78"/>
    </p:embeddedFont>
    <p:embeddedFont>
      <p:font typeface="Cormorant Light"/>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83" roundtripDataSignature="AMtx7mgNojyJQ0ABG1ckaywcIbIIAAoX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FD906D-B5D4-4457-B46D-9B005C30C2CF}">
  <a:tblStyle styleId="{DDFD906D-B5D4-4457-B46D-9B005C30C2C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font" Target="fonts/OswaldSemiBold-regular.fntdata"/><Relationship Id="rId76" Type="http://schemas.openxmlformats.org/officeDocument/2006/relationships/font" Target="fonts/OswaldSemiBold-bold.fntdata"/><Relationship Id="rId77" Type="http://schemas.openxmlformats.org/officeDocument/2006/relationships/font" Target="fonts/Oswald-regular.fntdata"/><Relationship Id="rId78" Type="http://schemas.openxmlformats.org/officeDocument/2006/relationships/font" Target="fonts/Oswald-bold.fntdata"/><Relationship Id="rId79" Type="http://schemas.openxmlformats.org/officeDocument/2006/relationships/font" Target="fonts/CormorantLight-regular.fntdata"/><Relationship Id="rId80" Type="http://schemas.openxmlformats.org/officeDocument/2006/relationships/font" Target="fonts/CormorantLight-bold.fntdata"/><Relationship Id="rId81" Type="http://schemas.openxmlformats.org/officeDocument/2006/relationships/font" Target="fonts/CormorantLight-italic.fntdata"/><Relationship Id="rId82" Type="http://schemas.openxmlformats.org/officeDocument/2006/relationships/font" Target="fonts/CormorantLight-boldItalic.fntdata"/><Relationship Id="rId8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c50864afa_0_29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dc50864afa_0_29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cbc411a8e_0_29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1dcbc411a8e_0_29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dcbc411a8e_0_30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1dcbc411a8e_0_30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dd6d73f377_2_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1dd6d73f377_2_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dd6d73f377_2_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1dd6d73f377_2_2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dd6d73f377_2_3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1dd6d73f377_2_3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dd6d73f377_2_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g1dd6d73f377_2_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dd6d73f377_2_7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1dd6d73f377_2_7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dd6d73f377_2_9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1dd6d73f377_2_9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dd6d73f377_2_1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g1dd6d73f377_2_11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dd2b324201_0_3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1dd2b324201_0_3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dd6d73f377_2_13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g1dd6d73f377_2_13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dcbc411a8e_0_5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g1dcbc411a8e_0_51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b61ca9f410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g1b61ca9f410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dd6d73f377_2_15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g1dd6d73f377_2_15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dd6d73f377_2_17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g1dd6d73f377_2_17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0e6a75d8f8_0_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20e6a75d8f8_0_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dd6d73f377_2_19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g1dd6d73f377_2_19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0f4114666e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g20f4114666e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dd6d73f377_2_2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1dd6d73f377_2_2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0f4114666e_0_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g20f4114666e_0_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dd6d73f377_2_27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9" name="Google Shape;509;g1dd6d73f377_2_27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0f4114666e_0_3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5" name="Google Shape;525;g20f4114666e_0_3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1dd6d73f377_2_3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g1dd6d73f377_2_31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20f4114666e_0_4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9" name="Google Shape;559;g20f4114666e_0_4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dd2b324201_0_5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g1dd2b324201_0_5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0f4114666e_0_6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g20f4114666e_0_6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1dd6d73f377_2_33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g1dd6d73f377_2_33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0f4114666e_0_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1" name="Google Shape;621;g20f4114666e_0_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dd6d73f377_2_3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5" name="Google Shape;635;g1dd6d73f377_2_3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1dd6d73f377_2_4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0" name="Google Shape;650;g1dd6d73f377_2_42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dd6d73f377_2_36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6" name="Google Shape;666;g1dd6d73f377_2_36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dd6d73f377_2_39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3" name="Google Shape;683;g1dd6d73f377_2_39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dd6d73f377_2_40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g1dd6d73f377_2_40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1dd2b324201_0_6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3" name="Google Shape;713;g1dd2b324201_0_6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b61ca9f410_0_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g1b61ca9f410_0_2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dd6d73f377_2_44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0" name="Google Shape;740;g1dd6d73f377_2_44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dd6d73f377_2_4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5" name="Google Shape;755;g1dd6d73f377_2_4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dd6d73f377_2_47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0" name="Google Shape;770;g1dd6d73f377_2_47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0f4114666e_0_50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g20f4114666e_0_50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dd767738ca_0_19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0" name="Google Shape;800;g1dd767738ca_0_19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1dd767738ca_0_15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7" name="Google Shape;817;g1dd767738ca_0_15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78ec0692c4_0_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2" name="Google Shape;832;g278ec0692c4_0_1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78ec0692c4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9" name="Google Shape;849;g278ec0692c4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78ec0692c4_0_3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4" name="Google Shape;864;g278ec0692c4_0_3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78ec0692c4_0_6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9" name="Google Shape;879;g278ec0692c4_0_6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78ec0692c4_0_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4" name="Google Shape;894;g278ec0692c4_0_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278ec0692c4_0_9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9" name="Google Shape;909;g278ec0692c4_0_9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1dd6d73f377_2_50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4" name="Google Shape;924;g1dd6d73f377_2_50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0f4114666e_0_4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7" name="Google Shape;937;g20f4114666e_0_4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0f4114666e_0_5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0" name="Google Shape;950;g20f4114666e_0_52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1dd6d73f377_2_48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6" name="Google Shape;966;g1dd6d73f377_2_48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1dd767738ca_0_2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1" name="Google Shape;981;g1dd767738ca_0_2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0f4114666e_0_5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8" name="Google Shape;998;g20f4114666e_0_5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1dd767738ca_0_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4" name="Google Shape;1014;g1dd767738ca_0_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1dd767738ca_0_4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6" name="Google Shape;1026;g1dd767738ca_0_4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1dd767738ca_0_9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0" name="Google Shape;1040;g1dd767738ca_0_9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1dd767738ca_0_6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5" name="Google Shape;1055;g1dd767738ca_0_6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1dd767738ca_0_7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0" name="Google Shape;1070;g1dd767738ca_0_7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1dd767738ca_0_10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4" name="Google Shape;1084;g1dd767738ca_0_10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1dd767738ca_0_16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9" name="Google Shape;1099;g1dd767738ca_0_16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1dd767738ca_0_1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6" name="Google Shape;1116;g1dd767738ca_0_12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1dd767738ca_0_1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1" name="Google Shape;1131;g1dd767738ca_0_14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20f4114666e_0_5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6" name="Google Shape;1146;g20f4114666e_0_5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dd767738ca_0_2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1" name="Google Shape;1161;g1dd767738ca_0_2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4" name="Google Shape;1174;p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8" name="Shape 18"/>
        <p:cNvGrpSpPr/>
        <p:nvPr/>
      </p:nvGrpSpPr>
      <p:grpSpPr>
        <a:xfrm>
          <a:off x="0" y="0"/>
          <a:ext cx="0" cy="0"/>
          <a:chOff x="0" y="0"/>
          <a:chExt cx="0" cy="0"/>
        </a:xfrm>
      </p:grpSpPr>
      <p:sp>
        <p:nvSpPr>
          <p:cNvPr id="19" name="Google Shape;19;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6"/>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6"/>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46"/>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 name="Google Shape;29;p46"/>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0" name="Google Shape;30;p46"/>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31" name="Google Shape;31;p46"/>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47"/>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7"/>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8" name="Google Shape;38;p47"/>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9" name="Google Shape;39;p47"/>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40" name="Google Shape;40;p47"/>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OBJECT_1">
    <p:spTree>
      <p:nvGrpSpPr>
        <p:cNvPr id="41" name="Shape 41"/>
        <p:cNvGrpSpPr/>
        <p:nvPr/>
      </p:nvGrpSpPr>
      <p:grpSpPr>
        <a:xfrm>
          <a:off x="0" y="0"/>
          <a:ext cx="0" cy="0"/>
          <a:chOff x="0" y="0"/>
          <a:chExt cx="0" cy="0"/>
        </a:xfrm>
      </p:grpSpPr>
      <p:sp>
        <p:nvSpPr>
          <p:cNvPr id="42" name="Google Shape;42;gf4846aa7dd_0_3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gf4846aa7dd_0_3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44" name="Google Shape;44;gf4846aa7dd_0_3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f4846aa7dd_0_3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f4846aa7dd_0_329"/>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g13d738efa72_0_7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9" name="Google Shape;49;g13d738efa72_0_7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0" name="Google Shape;50;g13d738efa72_0_7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erpo de texto">
  <p:cSld name="Cuerpo de texto">
    <p:spTree>
      <p:nvGrpSpPr>
        <p:cNvPr id="51" name="Shape 51"/>
        <p:cNvGrpSpPr/>
        <p:nvPr/>
      </p:nvGrpSpPr>
      <p:grpSpPr>
        <a:xfrm>
          <a:off x="0" y="0"/>
          <a:ext cx="0" cy="0"/>
          <a:chOff x="0" y="0"/>
          <a:chExt cx="0" cy="0"/>
        </a:xfrm>
      </p:grpSpPr>
      <p:sp>
        <p:nvSpPr>
          <p:cNvPr id="52" name="Google Shape;52;gf4846aa7dd_0_83"/>
          <p:cNvSpPr txBox="1"/>
          <p:nvPr>
            <p:ph type="title"/>
          </p:nvPr>
        </p:nvSpPr>
        <p:spPr>
          <a:xfrm>
            <a:off x="838200" y="128141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AFAA"/>
              </a:buClr>
              <a:buSzPts val="3400"/>
              <a:buFont typeface="Arial"/>
              <a:buNone/>
              <a:defRPr sz="3400">
                <a:solidFill>
                  <a:srgbClr val="00AF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f4846aa7dd_0_83"/>
          <p:cNvSpPr txBox="1"/>
          <p:nvPr>
            <p:ph idx="1" type="body"/>
          </p:nvPr>
        </p:nvSpPr>
        <p:spPr>
          <a:xfrm>
            <a:off x="838200" y="2606978"/>
            <a:ext cx="10515600" cy="36129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gf4846aa7dd_0_8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2">
    <p:spTree>
      <p:nvGrpSpPr>
        <p:cNvPr id="55" name="Shape 55"/>
        <p:cNvGrpSpPr/>
        <p:nvPr/>
      </p:nvGrpSpPr>
      <p:grpSpPr>
        <a:xfrm>
          <a:off x="0" y="0"/>
          <a:ext cx="0" cy="0"/>
          <a:chOff x="0" y="0"/>
          <a:chExt cx="0" cy="0"/>
        </a:xfrm>
      </p:grpSpPr>
      <p:sp>
        <p:nvSpPr>
          <p:cNvPr id="56" name="Google Shape;56;gf4846aa7dd_0_4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f4846aa7dd_0_4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58" name="Google Shape;58;gf4846aa7dd_0_4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f4846aa7dd_0_4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f4846aa7dd_0_43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1" name="Shape 61"/>
        <p:cNvGrpSpPr/>
        <p:nvPr/>
      </p:nvGrpSpPr>
      <p:grpSpPr>
        <a:xfrm>
          <a:off x="0" y="0"/>
          <a:ext cx="0" cy="0"/>
          <a:chOff x="0" y="0"/>
          <a:chExt cx="0" cy="0"/>
        </a:xfrm>
      </p:grpSpPr>
      <p:sp>
        <p:nvSpPr>
          <p:cNvPr id="62" name="Google Shape;62;p48"/>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 type="body"/>
          </p:nvPr>
        </p:nvSpPr>
        <p:spPr>
          <a:xfrm>
            <a:off x="911225" y="2583713"/>
            <a:ext cx="4856480"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8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48"/>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4">
  <p:cSld name="OBJECT_5">
    <p:spTree>
      <p:nvGrpSpPr>
        <p:cNvPr id="68" name="Shape 68"/>
        <p:cNvGrpSpPr/>
        <p:nvPr/>
      </p:nvGrpSpPr>
      <p:grpSpPr>
        <a:xfrm>
          <a:off x="0" y="0"/>
          <a:ext cx="0" cy="0"/>
          <a:chOff x="0" y="0"/>
          <a:chExt cx="0" cy="0"/>
        </a:xfrm>
      </p:grpSpPr>
      <p:sp>
        <p:nvSpPr>
          <p:cNvPr id="69" name="Google Shape;69;gf4846aa7dd_0_7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f4846aa7dd_0_75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1" name="Google Shape;71;gf4846aa7dd_0_7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f4846aa7dd_0_7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f4846aa7dd_0_75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1">
    <p:spTree>
      <p:nvGrpSpPr>
        <p:cNvPr id="74" name="Shape 74"/>
        <p:cNvGrpSpPr/>
        <p:nvPr/>
      </p:nvGrpSpPr>
      <p:grpSpPr>
        <a:xfrm>
          <a:off x="0" y="0"/>
          <a:ext cx="0" cy="0"/>
          <a:chOff x="0" y="0"/>
          <a:chExt cx="0" cy="0"/>
        </a:xfrm>
      </p:grpSpPr>
      <p:sp>
        <p:nvSpPr>
          <p:cNvPr id="75" name="Google Shape;75;g13d738efa72_0_1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13d738efa72_0_19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7" name="Google Shape;77;g13d738efa72_0_1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13d738efa72_0_1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13d738efa72_0_196"/>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1">
  <p:cSld name="OBJECT_12">
    <p:spTree>
      <p:nvGrpSpPr>
        <p:cNvPr id="80" name="Shape 80"/>
        <p:cNvGrpSpPr/>
        <p:nvPr/>
      </p:nvGrpSpPr>
      <p:grpSpPr>
        <a:xfrm>
          <a:off x="0" y="0"/>
          <a:ext cx="0" cy="0"/>
          <a:chOff x="0" y="0"/>
          <a:chExt cx="0" cy="0"/>
        </a:xfrm>
      </p:grpSpPr>
      <p:sp>
        <p:nvSpPr>
          <p:cNvPr id="81" name="Google Shape;81;g13d738efa72_0_3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13d738efa72_0_3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3" name="Google Shape;83;g13d738efa72_0_3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13d738efa72_0_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13d738efa72_0_31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OBJECT_3">
    <p:spTree>
      <p:nvGrpSpPr>
        <p:cNvPr id="86" name="Shape 86"/>
        <p:cNvGrpSpPr/>
        <p:nvPr/>
      </p:nvGrpSpPr>
      <p:grpSpPr>
        <a:xfrm>
          <a:off x="0" y="0"/>
          <a:ext cx="0" cy="0"/>
          <a:chOff x="0" y="0"/>
          <a:chExt cx="0" cy="0"/>
        </a:xfrm>
      </p:grpSpPr>
      <p:sp>
        <p:nvSpPr>
          <p:cNvPr id="87" name="Google Shape;87;gf4846aa7dd_0_5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f4846aa7dd_0_5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9" name="Google Shape;89;gf4846aa7dd_0_5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f4846aa7dd_0_5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f4846aa7dd_0_52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5">
  <p:cSld name="OBJECT_6">
    <p:spTree>
      <p:nvGrpSpPr>
        <p:cNvPr id="92" name="Shape 92"/>
        <p:cNvGrpSpPr/>
        <p:nvPr/>
      </p:nvGrpSpPr>
      <p:grpSpPr>
        <a:xfrm>
          <a:off x="0" y="0"/>
          <a:ext cx="0" cy="0"/>
          <a:chOff x="0" y="0"/>
          <a:chExt cx="0" cy="0"/>
        </a:xfrm>
      </p:grpSpPr>
      <p:sp>
        <p:nvSpPr>
          <p:cNvPr id="93" name="Google Shape;93;gf4846aa7dd_0_11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f4846aa7dd_0_11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95" name="Google Shape;95;gf4846aa7dd_0_117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f4846aa7dd_0_11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f4846aa7dd_0_117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8">
  <p:cSld name="OBJECT_9">
    <p:spTree>
      <p:nvGrpSpPr>
        <p:cNvPr id="98" name="Shape 98"/>
        <p:cNvGrpSpPr/>
        <p:nvPr/>
      </p:nvGrpSpPr>
      <p:grpSpPr>
        <a:xfrm>
          <a:off x="0" y="0"/>
          <a:ext cx="0" cy="0"/>
          <a:chOff x="0" y="0"/>
          <a:chExt cx="0" cy="0"/>
        </a:xfrm>
      </p:grpSpPr>
      <p:sp>
        <p:nvSpPr>
          <p:cNvPr id="99" name="Google Shape;99;gf4846aa7dd_0_19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f4846aa7dd_0_19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1" name="Google Shape;101;gf4846aa7dd_0_19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f4846aa7dd_0_19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f4846aa7dd_0_1922"/>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7">
  <p:cSld name="OBJECT_8">
    <p:spTree>
      <p:nvGrpSpPr>
        <p:cNvPr id="104" name="Shape 104"/>
        <p:cNvGrpSpPr/>
        <p:nvPr/>
      </p:nvGrpSpPr>
      <p:grpSpPr>
        <a:xfrm>
          <a:off x="0" y="0"/>
          <a:ext cx="0" cy="0"/>
          <a:chOff x="0" y="0"/>
          <a:chExt cx="0" cy="0"/>
        </a:xfrm>
      </p:grpSpPr>
      <p:sp>
        <p:nvSpPr>
          <p:cNvPr id="105" name="Google Shape;105;gf4846aa7dd_0_165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f4846aa7dd_0_165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7" name="Google Shape;107;gf4846aa7dd_0_165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f4846aa7dd_0_16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f4846aa7dd_0_1655"/>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2">
  <p:cSld name="OBJECT_13">
    <p:spTree>
      <p:nvGrpSpPr>
        <p:cNvPr id="110" name="Shape 110"/>
        <p:cNvGrpSpPr/>
        <p:nvPr/>
      </p:nvGrpSpPr>
      <p:grpSpPr>
        <a:xfrm>
          <a:off x="0" y="0"/>
          <a:ext cx="0" cy="0"/>
          <a:chOff x="0" y="0"/>
          <a:chExt cx="0" cy="0"/>
        </a:xfrm>
      </p:grpSpPr>
      <p:sp>
        <p:nvSpPr>
          <p:cNvPr id="111" name="Google Shape;111;g13d738efa72_0_768"/>
          <p:cNvSpPr txBox="1"/>
          <p:nvPr>
            <p:ph type="title"/>
          </p:nvPr>
        </p:nvSpPr>
        <p:spPr>
          <a:xfrm>
            <a:off x="838200" y="8372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400"/>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13d738efa72_0_768"/>
          <p:cNvSpPr txBox="1"/>
          <p:nvPr>
            <p:ph idx="1" type="body"/>
          </p:nvPr>
        </p:nvSpPr>
        <p:spPr>
          <a:xfrm>
            <a:off x="838200" y="2162925"/>
            <a:ext cx="10515600" cy="4351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13" name="Google Shape;113;g13d738efa72_0_7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ormorant Light"/>
                <a:ea typeface="Cormorant Light"/>
                <a:cs typeface="Cormorant Light"/>
                <a:sym typeface="Cormoran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OBJECT_4">
    <p:spTree>
      <p:nvGrpSpPr>
        <p:cNvPr id="114" name="Shape 114"/>
        <p:cNvGrpSpPr/>
        <p:nvPr/>
      </p:nvGrpSpPr>
      <p:grpSpPr>
        <a:xfrm>
          <a:off x="0" y="0"/>
          <a:ext cx="0" cy="0"/>
          <a:chOff x="0" y="0"/>
          <a:chExt cx="0" cy="0"/>
        </a:xfrm>
      </p:grpSpPr>
      <p:sp>
        <p:nvSpPr>
          <p:cNvPr id="115" name="Google Shape;115;gf4846aa7dd_0_6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f4846aa7dd_0_64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17" name="Google Shape;117;gf4846aa7dd_0_6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f4846aa7dd_0_6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f4846aa7dd_0_641"/>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0" name="Shape 120"/>
        <p:cNvGrpSpPr/>
        <p:nvPr/>
      </p:nvGrpSpPr>
      <p:grpSpPr>
        <a:xfrm>
          <a:off x="0" y="0"/>
          <a:ext cx="0" cy="0"/>
          <a:chOff x="0" y="0"/>
          <a:chExt cx="0" cy="0"/>
        </a:xfrm>
      </p:grpSpPr>
      <p:sp>
        <p:nvSpPr>
          <p:cNvPr id="121" name="Google Shape;121;p49"/>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26" name="Shape 126"/>
        <p:cNvGrpSpPr/>
        <p:nvPr/>
      </p:nvGrpSpPr>
      <p:grpSpPr>
        <a:xfrm>
          <a:off x="0" y="0"/>
          <a:ext cx="0" cy="0"/>
          <a:chOff x="0" y="0"/>
          <a:chExt cx="0" cy="0"/>
        </a:xfrm>
      </p:grpSpPr>
      <p:sp>
        <p:nvSpPr>
          <p:cNvPr id="127" name="Google Shape;127;gf4846aa7dd_0_118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f4846aa7dd_0_118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gf4846aa7dd_0_118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0" name="Google Shape;130;gf4846aa7dd_0_118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gf4846aa7dd_0_118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2" name="Google Shape;132;gf4846aa7dd_0_1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f4846aa7dd_0_1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f4846aa7dd_0_118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6">
  <p:cSld name="OBJECT_7">
    <p:spTree>
      <p:nvGrpSpPr>
        <p:cNvPr id="135" name="Shape 135"/>
        <p:cNvGrpSpPr/>
        <p:nvPr/>
      </p:nvGrpSpPr>
      <p:grpSpPr>
        <a:xfrm>
          <a:off x="0" y="0"/>
          <a:ext cx="0" cy="0"/>
          <a:chOff x="0" y="0"/>
          <a:chExt cx="0" cy="0"/>
        </a:xfrm>
      </p:grpSpPr>
      <p:sp>
        <p:nvSpPr>
          <p:cNvPr id="136" name="Google Shape;136;gf4846aa7dd_0_15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f4846aa7dd_0_150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8" name="Google Shape;138;gf4846aa7dd_0_15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f4846aa7dd_0_15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f4846aa7dd_0_150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9">
  <p:cSld name="OBJECT_10">
    <p:spTree>
      <p:nvGrpSpPr>
        <p:cNvPr id="141" name="Shape 141"/>
        <p:cNvGrpSpPr/>
        <p:nvPr/>
      </p:nvGrpSpPr>
      <p:grpSpPr>
        <a:xfrm>
          <a:off x="0" y="0"/>
          <a:ext cx="0" cy="0"/>
          <a:chOff x="0" y="0"/>
          <a:chExt cx="0" cy="0"/>
        </a:xfrm>
      </p:grpSpPr>
      <p:sp>
        <p:nvSpPr>
          <p:cNvPr id="142" name="Google Shape;142;g13d738efa72_0_8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13d738efa72_0_8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44" name="Google Shape;144;g13d738efa72_0_8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13d738efa72_0_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13d738efa72_0_8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p:nvPr/>
        </p:nvSpPr>
        <p:spPr>
          <a:xfrm>
            <a:off x="9377361" y="6415087"/>
            <a:ext cx="2814955" cy="443230"/>
          </a:xfrm>
          <a:custGeom>
            <a:rect b="b" l="l" r="r" t="t"/>
            <a:pathLst>
              <a:path extrusionOk="0" h="443229" w="2814954">
                <a:moveTo>
                  <a:pt x="0" y="0"/>
                </a:moveTo>
                <a:lnTo>
                  <a:pt x="2814636" y="0"/>
                </a:lnTo>
                <a:lnTo>
                  <a:pt x="2814636" y="442912"/>
                </a:lnTo>
                <a:lnTo>
                  <a:pt x="0" y="442912"/>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 name="Google Shape;7;p4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 name="Google Shape;8;p44"/>
          <p:cNvSpPr/>
          <p:nvPr/>
        </p:nvSpPr>
        <p:spPr>
          <a:xfrm>
            <a:off x="9501186" y="6510336"/>
            <a:ext cx="252729" cy="252729"/>
          </a:xfrm>
          <a:custGeom>
            <a:rect b="b" l="l" r="r" t="t"/>
            <a:pathLst>
              <a:path extrusionOk="0" h="252729" w="252729">
                <a:moveTo>
                  <a:pt x="0" y="0"/>
                </a:moveTo>
                <a:lnTo>
                  <a:pt x="252411" y="0"/>
                </a:lnTo>
                <a:lnTo>
                  <a:pt x="252411" y="252412"/>
                </a:lnTo>
                <a:lnTo>
                  <a:pt x="0" y="252412"/>
                </a:lnTo>
                <a:lnTo>
                  <a:pt x="0" y="0"/>
                </a:lnTo>
                <a:close/>
              </a:path>
            </a:pathLst>
          </a:custGeom>
          <a:solidFill>
            <a:srgbClr val="FCDE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 name="Google Shape;9;p44"/>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400" u="none" cap="none" strike="noStrike">
                <a:solidFill>
                  <a:srgbClr val="00AEAA"/>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44"/>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1" name="Google Shape;11;p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4"/>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 name="Google Shape;15;p44"/>
          <p:cNvPicPr preferRelativeResize="0"/>
          <p:nvPr/>
        </p:nvPicPr>
        <p:blipFill rotWithShape="1">
          <a:blip r:embed="rId1">
            <a:alphaModFix/>
          </a:blip>
          <a:srcRect b="10486" l="0" r="0" t="0"/>
          <a:stretch/>
        </p:blipFill>
        <p:spPr>
          <a:xfrm>
            <a:off x="1112945" y="267945"/>
            <a:ext cx="2711809" cy="664341"/>
          </a:xfrm>
          <a:prstGeom prst="rect">
            <a:avLst/>
          </a:prstGeom>
          <a:noFill/>
          <a:ln>
            <a:noFill/>
          </a:ln>
        </p:spPr>
      </p:pic>
      <p:pic>
        <p:nvPicPr>
          <p:cNvPr descr="OTRA – Observatorio de Transparencia Umanizales" id="16" name="Google Shape;16;p44"/>
          <p:cNvPicPr preferRelativeResize="0"/>
          <p:nvPr/>
        </p:nvPicPr>
        <p:blipFill rotWithShape="1">
          <a:blip r:embed="rId2">
            <a:alphaModFix/>
          </a:blip>
          <a:srcRect b="10521" l="0" r="0" t="12270"/>
          <a:stretch/>
        </p:blipFill>
        <p:spPr>
          <a:xfrm>
            <a:off x="0" y="0"/>
            <a:ext cx="1203811" cy="929443"/>
          </a:xfrm>
          <a:prstGeom prst="rect">
            <a:avLst/>
          </a:prstGeom>
          <a:noFill/>
          <a:ln>
            <a:noFill/>
          </a:ln>
        </p:spPr>
      </p:pic>
      <p:sp>
        <p:nvSpPr>
          <p:cNvPr id="17" name="Google Shape;17;p44"/>
          <p:cNvSpPr/>
          <p:nvPr/>
        </p:nvSpPr>
        <p:spPr>
          <a:xfrm>
            <a:off x="3824754" y="362992"/>
            <a:ext cx="1918003" cy="5664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1.png"/><Relationship Id="rId5"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45.png"/><Relationship Id="rId5" Type="http://schemas.openxmlformats.org/officeDocument/2006/relationships/image" Target="../media/image28.png"/><Relationship Id="rId6"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4.png"/><Relationship Id="rId4" Type="http://schemas.openxmlformats.org/officeDocument/2006/relationships/image" Target="../media/image52.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4.png"/><Relationship Id="rId4" Type="http://schemas.openxmlformats.org/officeDocument/2006/relationships/image" Target="../media/image50.png"/><Relationship Id="rId5"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4.png"/><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4.png"/><Relationship Id="rId4" Type="http://schemas.openxmlformats.org/officeDocument/2006/relationships/hyperlink" Target="https://colab.research.google.com/drive/1ONOur509N3MRoEhiceRTVyZSh3TAB5UR?usp=drive_link" TargetMode="External"/><Relationship Id="rId5" Type="http://schemas.openxmlformats.org/officeDocument/2006/relationships/hyperlink" Target="https://docs.google.com/document/d/1BMfN0dWsfa9H2vegbf0SppYXEQT1btiVIwKmy74lcr8/edit?usp=sharing" TargetMode="External"/><Relationship Id="rId6" Type="http://schemas.openxmlformats.org/officeDocument/2006/relationships/image" Target="../media/image53.png"/><Relationship Id="rId7" Type="http://schemas.openxmlformats.org/officeDocument/2006/relationships/image" Target="../media/image49.png"/><Relationship Id="rId8"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4.png"/><Relationship Id="rId4" Type="http://schemas.openxmlformats.org/officeDocument/2006/relationships/hyperlink" Target="https://www.educative.io/answers/how-to-find-the-length-of-a-string-in-java" TargetMode="External"/><Relationship Id="rId5" Type="http://schemas.openxmlformats.org/officeDocument/2006/relationships/hyperlink" Target="https://www.educative.io/answers/what-is-objectsequals-in-java" TargetMode="External"/><Relationship Id="rId6" Type="http://schemas.openxmlformats.org/officeDocument/2006/relationships/hyperlink" Target="https://stackoverflow.com/questions/32948425/how-to-read-int-double-and-sentence-of-string-using-same-scanner-variable"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 name="Shape 150"/>
        <p:cNvGrpSpPr/>
        <p:nvPr/>
      </p:nvGrpSpPr>
      <p:grpSpPr>
        <a:xfrm>
          <a:off x="0" y="0"/>
          <a:ext cx="0" cy="0"/>
          <a:chOff x="0" y="0"/>
          <a:chExt cx="0" cy="0"/>
        </a:xfrm>
      </p:grpSpPr>
      <p:sp>
        <p:nvSpPr>
          <p:cNvPr id="151" name="Google Shape;151;p1"/>
          <p:cNvSpPr/>
          <p:nvPr/>
        </p:nvSpPr>
        <p:spPr>
          <a:xfrm>
            <a:off x="4665662" y="5356225"/>
            <a:ext cx="7526655" cy="150177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1"/>
          <p:cNvSpPr/>
          <p:nvPr/>
        </p:nvSpPr>
        <p:spPr>
          <a:xfrm>
            <a:off x="0" y="1725611"/>
            <a:ext cx="1389380" cy="5132705"/>
          </a:xfrm>
          <a:custGeom>
            <a:rect b="b" l="l" r="r" t="t"/>
            <a:pathLst>
              <a:path extrusionOk="0" h="5132705" w="1389380">
                <a:moveTo>
                  <a:pt x="0" y="0"/>
                </a:moveTo>
                <a:lnTo>
                  <a:pt x="1389061" y="0"/>
                </a:lnTo>
                <a:lnTo>
                  <a:pt x="1389061"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1"/>
          <p:cNvSpPr/>
          <p:nvPr/>
        </p:nvSpPr>
        <p:spPr>
          <a:xfrm>
            <a:off x="4868862" y="555148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1"/>
          <p:cNvPicPr preferRelativeResize="0"/>
          <p:nvPr/>
        </p:nvPicPr>
        <p:blipFill rotWithShape="1">
          <a:blip r:embed="rId3">
            <a:alphaModFix/>
          </a:blip>
          <a:srcRect b="0" l="0" r="2190" t="0"/>
          <a:stretch/>
        </p:blipFill>
        <p:spPr>
          <a:xfrm>
            <a:off x="1888150" y="2387375"/>
            <a:ext cx="10304175" cy="2083250"/>
          </a:xfrm>
          <a:prstGeom prst="rect">
            <a:avLst/>
          </a:prstGeom>
          <a:noFill/>
          <a:ln>
            <a:noFill/>
          </a:ln>
        </p:spPr>
      </p:pic>
      <p:sp>
        <p:nvSpPr>
          <p:cNvPr id="155" name="Google Shape;155;p1"/>
          <p:cNvSpPr/>
          <p:nvPr/>
        </p:nvSpPr>
        <p:spPr>
          <a:xfrm>
            <a:off x="3124200" y="1462355"/>
            <a:ext cx="9067800" cy="152576"/>
          </a:xfrm>
          <a:custGeom>
            <a:rect b="b" l="l" r="r" t="t"/>
            <a:pathLst>
              <a:path extrusionOk="0" h="344805" w="9067800">
                <a:moveTo>
                  <a:pt x="0" y="0"/>
                </a:moveTo>
                <a:lnTo>
                  <a:pt x="9067799" y="0"/>
                </a:lnTo>
                <a:lnTo>
                  <a:pt x="9067799" y="344486"/>
                </a:lnTo>
                <a:lnTo>
                  <a:pt x="0" y="344486"/>
                </a:lnTo>
                <a:lnTo>
                  <a:pt x="0" y="0"/>
                </a:lnTo>
                <a:close/>
              </a:path>
            </a:pathLst>
          </a:custGeom>
          <a:solidFill>
            <a:srgbClr val="003870"/>
          </a:solidFill>
          <a:ln cap="flat" cmpd="sng" w="9525">
            <a:solidFill>
              <a:srgbClr val="00387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6" name="Google Shape;156;p1"/>
          <p:cNvPicPr preferRelativeResize="0"/>
          <p:nvPr/>
        </p:nvPicPr>
        <p:blipFill rotWithShape="1">
          <a:blip r:embed="rId4">
            <a:alphaModFix/>
          </a:blip>
          <a:srcRect b="17577" l="0" r="0" t="17296"/>
          <a:stretch/>
        </p:blipFill>
        <p:spPr>
          <a:xfrm>
            <a:off x="3533413" y="178125"/>
            <a:ext cx="2825825" cy="1051600"/>
          </a:xfrm>
          <a:prstGeom prst="rect">
            <a:avLst/>
          </a:prstGeom>
          <a:noFill/>
          <a:ln>
            <a:noFill/>
          </a:ln>
        </p:spPr>
      </p:pic>
      <p:sp>
        <p:nvSpPr>
          <p:cNvPr id="157" name="Google Shape;157;p1"/>
          <p:cNvSpPr txBox="1"/>
          <p:nvPr/>
        </p:nvSpPr>
        <p:spPr>
          <a:xfrm>
            <a:off x="6445788" y="3653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58" name="Google Shape;158;p1"/>
          <p:cNvSpPr/>
          <p:nvPr/>
        </p:nvSpPr>
        <p:spPr>
          <a:xfrm>
            <a:off x="6341088" y="4657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2"/>
          <p:cNvSpPr/>
          <p:nvPr/>
        </p:nvSpPr>
        <p:spPr>
          <a:xfrm>
            <a:off x="4665662" y="5935662"/>
            <a:ext cx="7526655" cy="922338"/>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2"/>
          <p:cNvSpPr/>
          <p:nvPr/>
        </p:nvSpPr>
        <p:spPr>
          <a:xfrm>
            <a:off x="4854090" y="610743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2"/>
          <p:cNvSpPr txBox="1"/>
          <p:nvPr>
            <p:ph type="title"/>
          </p:nvPr>
        </p:nvSpPr>
        <p:spPr>
          <a:xfrm>
            <a:off x="583625" y="1257461"/>
            <a:ext cx="11082000" cy="936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en-US" sz="6000"/>
              <a:t>Programación I - Clase 5</a:t>
            </a:r>
            <a:endParaRPr sz="6000"/>
          </a:p>
        </p:txBody>
      </p:sp>
      <p:sp>
        <p:nvSpPr>
          <p:cNvPr id="167" name="Google Shape;167;p2"/>
          <p:cNvSpPr txBox="1"/>
          <p:nvPr/>
        </p:nvSpPr>
        <p:spPr>
          <a:xfrm>
            <a:off x="952325" y="2758875"/>
            <a:ext cx="10344600" cy="2206200"/>
          </a:xfrm>
          <a:prstGeom prst="rect">
            <a:avLst/>
          </a:prstGeom>
          <a:noFill/>
          <a:ln>
            <a:noFill/>
          </a:ln>
        </p:spPr>
        <p:txBody>
          <a:bodyPr anchorCtr="0" anchor="t" bIns="0" lIns="0" spcFirstLastPara="1" rIns="0" wrap="square" tIns="13950">
            <a:spAutoFit/>
          </a:bodyPr>
          <a:lstStyle/>
          <a:p>
            <a:pPr indent="0" lvl="0" marL="12700" marR="0" rtl="0" algn="ctr">
              <a:lnSpc>
                <a:spcPct val="102222"/>
              </a:lnSpc>
              <a:spcBef>
                <a:spcPts val="0"/>
              </a:spcBef>
              <a:spcAft>
                <a:spcPts val="0"/>
              </a:spcAft>
              <a:buClr>
                <a:srgbClr val="000000"/>
              </a:buClr>
              <a:buSzPts val="2700"/>
              <a:buFont typeface="Arial"/>
              <a:buNone/>
            </a:pPr>
            <a:r>
              <a:rPr b="1" i="0" lang="en-US" sz="2700" u="none" cap="none" strike="noStrike">
                <a:solidFill>
                  <a:schemeClr val="dk1"/>
                </a:solidFill>
                <a:latin typeface="Trebuchet MS"/>
                <a:ea typeface="Trebuchet MS"/>
                <a:cs typeface="Trebuchet MS"/>
                <a:sym typeface="Trebuchet MS"/>
              </a:rPr>
              <a:t>Johan Sebastian Piña Duran</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2700"/>
              <a:buFont typeface="Arial"/>
              <a:buNone/>
            </a:pPr>
            <a:r>
              <a:rPr b="0" i="0" lang="en-US" sz="2700" u="none" cap="none" strike="noStrike">
                <a:solidFill>
                  <a:schemeClr val="dk1"/>
                </a:solidFill>
                <a:latin typeface="Trebuchet MS"/>
                <a:ea typeface="Trebuchet MS"/>
                <a:cs typeface="Trebuchet MS"/>
                <a:sym typeface="Trebuchet MS"/>
              </a:rPr>
              <a:t>Universidad de Caldas</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5080" rtl="0" algn="ctr">
              <a:lnSpc>
                <a:spcPct val="70300"/>
              </a:lnSpc>
              <a:spcBef>
                <a:spcPts val="480"/>
              </a:spcBef>
              <a:spcAft>
                <a:spcPts val="0"/>
              </a:spcAft>
              <a:buClr>
                <a:schemeClr val="dk1"/>
              </a:buClr>
              <a:buSzPts val="1100"/>
              <a:buFont typeface="Arial"/>
              <a:buNone/>
            </a:pPr>
            <a:r>
              <a:rPr b="0" i="0" lang="en-US" sz="2700" u="none" cap="none" strike="noStrike">
                <a:solidFill>
                  <a:schemeClr val="dk1"/>
                </a:solidFill>
                <a:latin typeface="Trebuchet MS"/>
                <a:ea typeface="Trebuchet MS"/>
                <a:cs typeface="Trebuchet MS"/>
                <a:sym typeface="Trebuchet MS"/>
              </a:rPr>
              <a:t>johan.duran@ucaldas.edu.co</a:t>
            </a:r>
            <a:endParaRPr b="0" i="0" sz="2700" u="none" cap="none" strike="noStrike">
              <a:solidFill>
                <a:schemeClr val="dk1"/>
              </a:solidFill>
              <a:latin typeface="Trebuchet MS"/>
              <a:ea typeface="Trebuchet MS"/>
              <a:cs typeface="Trebuchet MS"/>
              <a:sym typeface="Trebuchet MS"/>
            </a:endParaRPr>
          </a:p>
        </p:txBody>
      </p:sp>
      <p:pic>
        <p:nvPicPr>
          <p:cNvPr id="168" name="Google Shape;168;p2"/>
          <p:cNvPicPr preferRelativeResize="0"/>
          <p:nvPr/>
        </p:nvPicPr>
        <p:blipFill rotWithShape="1">
          <a:blip r:embed="rId3">
            <a:alphaModFix/>
          </a:blip>
          <a:srcRect b="17577" l="0" r="0" t="17296"/>
          <a:stretch/>
        </p:blipFill>
        <p:spPr>
          <a:xfrm>
            <a:off x="115000" y="205850"/>
            <a:ext cx="2825825" cy="1051600"/>
          </a:xfrm>
          <a:prstGeom prst="rect">
            <a:avLst/>
          </a:prstGeom>
          <a:noFill/>
          <a:ln>
            <a:noFill/>
          </a:ln>
        </p:spPr>
      </p:pic>
      <p:sp>
        <p:nvSpPr>
          <p:cNvPr id="169" name="Google Shape;169;p2"/>
          <p:cNvSpPr txBox="1"/>
          <p:nvPr/>
        </p:nvSpPr>
        <p:spPr>
          <a:xfrm>
            <a:off x="3027375" y="393100"/>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70" name="Google Shape;170;p2"/>
          <p:cNvSpPr/>
          <p:nvPr/>
        </p:nvSpPr>
        <p:spPr>
          <a:xfrm>
            <a:off x="2922675" y="493475"/>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g1dc50864afa_0_29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g1dc50864afa_0_29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g1dc50864afa_0_29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8" name="Google Shape;178;g1dc50864afa_0_297"/>
          <p:cNvPicPr preferRelativeResize="0"/>
          <p:nvPr/>
        </p:nvPicPr>
        <p:blipFill rotWithShape="1">
          <a:blip r:embed="rId3">
            <a:alphaModFix/>
          </a:blip>
          <a:srcRect b="17577" l="0" r="0" t="17296"/>
          <a:stretch/>
        </p:blipFill>
        <p:spPr>
          <a:xfrm>
            <a:off x="0" y="0"/>
            <a:ext cx="2825825" cy="1051600"/>
          </a:xfrm>
          <a:prstGeom prst="rect">
            <a:avLst/>
          </a:prstGeom>
          <a:noFill/>
          <a:ln>
            <a:noFill/>
          </a:ln>
        </p:spPr>
      </p:pic>
      <p:sp>
        <p:nvSpPr>
          <p:cNvPr id="179" name="Google Shape;179;g1dc50864afa_0_29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dc50864afa_0_297"/>
          <p:cNvSpPr txBox="1"/>
          <p:nvPr>
            <p:ph type="title"/>
          </p:nvPr>
        </p:nvSpPr>
        <p:spPr>
          <a:xfrm>
            <a:off x="943000" y="1709275"/>
            <a:ext cx="3145200" cy="582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700">
                <a:latin typeface="Trebuchet MS"/>
                <a:ea typeface="Trebuchet MS"/>
                <a:cs typeface="Trebuchet MS"/>
                <a:sym typeface="Trebuchet MS"/>
                <a:extLst>
                  <a:ext uri="http://customooxmlschemas.google.com/">
                    <go:slidesCustomData xmlns:go="http://customooxmlschemas.google.com/" textRoundtripDataId="0"/>
                  </a:ext>
                </a:extLst>
              </a:rPr>
              <a:t>Agenda</a:t>
            </a:r>
            <a:endParaRPr sz="3700">
              <a:latin typeface="Trebuchet MS"/>
              <a:ea typeface="Trebuchet MS"/>
              <a:cs typeface="Trebuchet MS"/>
              <a:sym typeface="Trebuchet MS"/>
            </a:endParaRPr>
          </a:p>
        </p:txBody>
      </p:sp>
      <p:sp>
        <p:nvSpPr>
          <p:cNvPr id="181" name="Google Shape;181;g1dc50864afa_0_29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82" name="Google Shape;182;g1dc50864afa_0_29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1dc50864afa_0_297"/>
          <p:cNvSpPr txBox="1"/>
          <p:nvPr/>
        </p:nvSpPr>
        <p:spPr>
          <a:xfrm>
            <a:off x="865300" y="2903050"/>
            <a:ext cx="6822300" cy="2239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15000"/>
              </a:lnSpc>
              <a:spcBef>
                <a:spcPts val="0"/>
              </a:spcBef>
              <a:spcAft>
                <a:spcPts val="0"/>
              </a:spcAft>
              <a:buClr>
                <a:srgbClr val="000000"/>
              </a:buClr>
              <a:buSzPts val="3000"/>
              <a:buFont typeface="Trebuchet MS"/>
              <a:buAutoNum type="arabicPeriod"/>
            </a:pPr>
            <a:r>
              <a:rPr b="0" i="0" lang="en-US" sz="3000" u="none" cap="none" strike="noStrike">
                <a:solidFill>
                  <a:srgbClr val="000000"/>
                </a:solidFill>
                <a:latin typeface="Trebuchet MS"/>
                <a:ea typeface="Trebuchet MS"/>
                <a:cs typeface="Trebuchet MS"/>
                <a:sym typeface="Trebuchet MS"/>
              </a:rPr>
              <a:t>Condicionales</a:t>
            </a:r>
            <a:endParaRPr b="0" i="0" sz="3000" u="none" cap="none" strike="noStrike">
              <a:solidFill>
                <a:srgbClr val="000000"/>
              </a:solidFill>
              <a:latin typeface="Trebuchet MS"/>
              <a:ea typeface="Trebuchet MS"/>
              <a:cs typeface="Trebuchet MS"/>
              <a:sym typeface="Trebuchet MS"/>
            </a:endParaRPr>
          </a:p>
          <a:p>
            <a:pPr indent="-419100" lvl="0" marL="914400" marR="0" rtl="0" algn="l">
              <a:lnSpc>
                <a:spcPct val="115000"/>
              </a:lnSpc>
              <a:spcBef>
                <a:spcPts val="0"/>
              </a:spcBef>
              <a:spcAft>
                <a:spcPts val="0"/>
              </a:spcAft>
              <a:buClr>
                <a:srgbClr val="000000"/>
              </a:buClr>
              <a:buSzPts val="3000"/>
              <a:buFont typeface="Trebuchet MS"/>
              <a:buChar char="●"/>
            </a:pPr>
            <a:r>
              <a:rPr b="0" i="0" lang="en-US" sz="3000" u="none" cap="none" strike="noStrike">
                <a:solidFill>
                  <a:srgbClr val="000000"/>
                </a:solidFill>
                <a:latin typeface="Trebuchet MS"/>
                <a:ea typeface="Trebuchet MS"/>
                <a:cs typeface="Trebuchet MS"/>
                <a:sym typeface="Trebuchet MS"/>
              </a:rPr>
              <a:t>if - else - else if</a:t>
            </a:r>
            <a:endParaRPr b="0" i="0" sz="3000" u="none" cap="none" strike="noStrike">
              <a:solidFill>
                <a:srgbClr val="000000"/>
              </a:solidFill>
              <a:latin typeface="Trebuchet MS"/>
              <a:ea typeface="Trebuchet MS"/>
              <a:cs typeface="Trebuchet MS"/>
              <a:sym typeface="Trebuchet MS"/>
            </a:endParaRPr>
          </a:p>
          <a:p>
            <a:pPr indent="-419100" lvl="0" marL="914400" marR="0" rtl="0" algn="l">
              <a:lnSpc>
                <a:spcPct val="115000"/>
              </a:lnSpc>
              <a:spcBef>
                <a:spcPts val="0"/>
              </a:spcBef>
              <a:spcAft>
                <a:spcPts val="0"/>
              </a:spcAft>
              <a:buClr>
                <a:srgbClr val="000000"/>
              </a:buClr>
              <a:buSzPts val="3000"/>
              <a:buFont typeface="Trebuchet MS"/>
              <a:buChar char="●"/>
            </a:pPr>
            <a:r>
              <a:rPr b="0" i="0" lang="en-US" sz="3000" u="none" cap="none" strike="noStrike">
                <a:solidFill>
                  <a:schemeClr val="dk1"/>
                </a:solidFill>
                <a:latin typeface="Trebuchet MS"/>
                <a:ea typeface="Trebuchet MS"/>
                <a:cs typeface="Trebuchet MS"/>
                <a:sym typeface="Trebuchet MS"/>
              </a:rPr>
              <a:t>Condicionales anidados/dobles</a:t>
            </a:r>
            <a:endParaRPr b="0" i="0" sz="3000" u="none" cap="none" strike="noStrike">
              <a:solidFill>
                <a:srgbClr val="000000"/>
              </a:solidFill>
              <a:latin typeface="Trebuchet MS"/>
              <a:ea typeface="Trebuchet MS"/>
              <a:cs typeface="Trebuchet MS"/>
              <a:sym typeface="Trebuchet MS"/>
            </a:endParaRPr>
          </a:p>
          <a:p>
            <a:pPr indent="-419100" lvl="0" marL="457200" marR="0" rtl="0" algn="l">
              <a:lnSpc>
                <a:spcPct val="115000"/>
              </a:lnSpc>
              <a:spcBef>
                <a:spcPts val="0"/>
              </a:spcBef>
              <a:spcAft>
                <a:spcPts val="0"/>
              </a:spcAft>
              <a:buClr>
                <a:srgbClr val="000000"/>
              </a:buClr>
              <a:buSzPts val="3000"/>
              <a:buFont typeface="Trebuchet MS"/>
              <a:buAutoNum type="arabicPeriod"/>
            </a:pPr>
            <a:r>
              <a:rPr b="0" i="0" lang="en-US" sz="3000" u="none" cap="none" strike="noStrike">
                <a:solidFill>
                  <a:srgbClr val="000000"/>
                </a:solidFill>
                <a:latin typeface="Trebuchet MS"/>
                <a:ea typeface="Trebuchet MS"/>
                <a:cs typeface="Trebuchet MS"/>
                <a:sym typeface="Trebuchet MS"/>
              </a:rPr>
              <a:t>Switch Case</a:t>
            </a:r>
            <a:endParaRPr b="0" i="0" sz="3000" u="none" cap="none" strike="noStrike">
              <a:solidFill>
                <a:srgbClr val="000000"/>
              </a:solidFill>
              <a:latin typeface="Trebuchet MS"/>
              <a:ea typeface="Trebuchet MS"/>
              <a:cs typeface="Trebuchet MS"/>
              <a:sym typeface="Trebuchet MS"/>
            </a:endParaRPr>
          </a:p>
        </p:txBody>
      </p:sp>
      <p:pic>
        <p:nvPicPr>
          <p:cNvPr id="184" name="Google Shape;184;g1dc50864afa_0_297"/>
          <p:cNvPicPr preferRelativeResize="0"/>
          <p:nvPr/>
        </p:nvPicPr>
        <p:blipFill rotWithShape="1">
          <a:blip r:embed="rId4">
            <a:alphaModFix/>
          </a:blip>
          <a:srcRect b="0" l="0" r="0" t="0"/>
          <a:stretch/>
        </p:blipFill>
        <p:spPr>
          <a:xfrm>
            <a:off x="7874475" y="2245375"/>
            <a:ext cx="3427174" cy="3427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g1dcbc411a8e_0_29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g1dcbc411a8e_0_29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g1dcbc411a8e_0_29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2" name="Google Shape;192;g1dcbc411a8e_0_291"/>
          <p:cNvPicPr preferRelativeResize="0"/>
          <p:nvPr/>
        </p:nvPicPr>
        <p:blipFill rotWithShape="1">
          <a:blip r:embed="rId3">
            <a:alphaModFix/>
          </a:blip>
          <a:srcRect b="17579" l="0" r="0" t="17296"/>
          <a:stretch/>
        </p:blipFill>
        <p:spPr>
          <a:xfrm>
            <a:off x="0" y="0"/>
            <a:ext cx="2825825" cy="1051600"/>
          </a:xfrm>
          <a:prstGeom prst="rect">
            <a:avLst/>
          </a:prstGeom>
          <a:noFill/>
          <a:ln>
            <a:noFill/>
          </a:ln>
        </p:spPr>
      </p:pic>
      <p:sp>
        <p:nvSpPr>
          <p:cNvPr id="193" name="Google Shape;193;g1dcbc411a8e_0_29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1dcbc411a8e_0_29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95" name="Google Shape;195;g1dcbc411a8e_0_29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1dcbc411a8e_0_291"/>
          <p:cNvSpPr txBox="1"/>
          <p:nvPr>
            <p:ph type="title"/>
          </p:nvPr>
        </p:nvSpPr>
        <p:spPr>
          <a:xfrm>
            <a:off x="887100" y="2864313"/>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Condicionales</a:t>
            </a:r>
            <a:endParaRPr sz="6000">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g1dcbc411a8e_0_30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1dcbc411a8e_0_30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3" name="Google Shape;203;g1dcbc411a8e_0_302"/>
          <p:cNvPicPr preferRelativeResize="0"/>
          <p:nvPr/>
        </p:nvPicPr>
        <p:blipFill rotWithShape="1">
          <a:blip r:embed="rId3">
            <a:alphaModFix/>
          </a:blip>
          <a:srcRect b="17579" l="0" r="0" t="17296"/>
          <a:stretch/>
        </p:blipFill>
        <p:spPr>
          <a:xfrm>
            <a:off x="0" y="0"/>
            <a:ext cx="2825825" cy="1051600"/>
          </a:xfrm>
          <a:prstGeom prst="rect">
            <a:avLst/>
          </a:prstGeom>
          <a:noFill/>
          <a:ln>
            <a:noFill/>
          </a:ln>
        </p:spPr>
      </p:pic>
      <p:sp>
        <p:nvSpPr>
          <p:cNvPr id="204" name="Google Shape;204;g1dcbc411a8e_0_30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1dcbc411a8e_0_30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06" name="Google Shape;206;g1dcbc411a8e_0_30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1dcbc411a8e_0_30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08" name="Google Shape;208;g1dcbc411a8e_0_30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g1dcbc411a8e_0_30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g1dcbc411a8e_0_302"/>
          <p:cNvSpPr txBox="1"/>
          <p:nvPr/>
        </p:nvSpPr>
        <p:spPr>
          <a:xfrm>
            <a:off x="8313875" y="2123625"/>
            <a:ext cx="3605400" cy="1212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chemeClr val="dk1"/>
              </a:buClr>
              <a:buSzPts val="1100"/>
              <a:buFont typeface="Arial"/>
              <a:buNone/>
            </a:pPr>
            <a:r>
              <a:rPr b="0" i="1" lang="en-US" sz="1500" u="none" cap="none" strike="noStrike">
                <a:solidFill>
                  <a:schemeClr val="dk1"/>
                </a:solidFill>
                <a:highlight>
                  <a:srgbClr val="FFFFFF"/>
                </a:highlight>
                <a:latin typeface="Trebuchet MS"/>
                <a:ea typeface="Trebuchet MS"/>
                <a:cs typeface="Trebuchet MS"/>
                <a:sym typeface="Trebuchet MS"/>
              </a:rPr>
              <a:t>La toma de decisiones realmente exitosa reside en un equilibrio entre pensamiento deliberado e intuitivo.</a:t>
            </a:r>
            <a:endParaRPr b="0" i="1" sz="1500" u="none" cap="none" strike="noStrike">
              <a:solidFill>
                <a:schemeClr val="dk1"/>
              </a:solidFill>
              <a:highlight>
                <a:srgbClr val="FFFFFF"/>
              </a:highlight>
              <a:latin typeface="Trebuchet MS"/>
              <a:ea typeface="Trebuchet MS"/>
              <a:cs typeface="Trebuchet MS"/>
              <a:sym typeface="Trebuchet MS"/>
            </a:endParaRPr>
          </a:p>
          <a:p>
            <a:pPr indent="0" lvl="0" marL="0" marR="0" rtl="0" algn="just">
              <a:lnSpc>
                <a:spcPct val="115000"/>
              </a:lnSpc>
              <a:spcBef>
                <a:spcPts val="0"/>
              </a:spcBef>
              <a:spcAft>
                <a:spcPts val="0"/>
              </a:spcAft>
              <a:buClr>
                <a:schemeClr val="dk1"/>
              </a:buClr>
              <a:buSzPts val="1100"/>
              <a:buFont typeface="Arial"/>
              <a:buNone/>
            </a:pPr>
            <a:r>
              <a:rPr b="1" i="1" lang="en-US" sz="1500" u="none" cap="none" strike="noStrike">
                <a:solidFill>
                  <a:schemeClr val="dk1"/>
                </a:solidFill>
                <a:highlight>
                  <a:srgbClr val="FFFFFF"/>
                </a:highlight>
                <a:latin typeface="Trebuchet MS"/>
                <a:ea typeface="Trebuchet MS"/>
                <a:cs typeface="Trebuchet MS"/>
                <a:sym typeface="Trebuchet MS"/>
              </a:rPr>
              <a:t>Malcolm Gladwell</a:t>
            </a:r>
            <a:endParaRPr b="0" i="1" sz="1500" u="none" cap="none" strike="noStrike">
              <a:solidFill>
                <a:srgbClr val="000000"/>
              </a:solidFill>
              <a:latin typeface="Trebuchet MS"/>
              <a:ea typeface="Trebuchet MS"/>
              <a:cs typeface="Trebuchet MS"/>
              <a:sym typeface="Trebuchet MS"/>
            </a:endParaRPr>
          </a:p>
        </p:txBody>
      </p:sp>
      <p:pic>
        <p:nvPicPr>
          <p:cNvPr id="211" name="Google Shape;211;g1dcbc411a8e_0_302"/>
          <p:cNvPicPr preferRelativeResize="0"/>
          <p:nvPr/>
        </p:nvPicPr>
        <p:blipFill rotWithShape="1">
          <a:blip r:embed="rId4">
            <a:alphaModFix/>
          </a:blip>
          <a:srcRect b="0" l="0" r="0" t="0"/>
          <a:stretch/>
        </p:blipFill>
        <p:spPr>
          <a:xfrm>
            <a:off x="9185073" y="3732361"/>
            <a:ext cx="2315900" cy="2315900"/>
          </a:xfrm>
          <a:prstGeom prst="rect">
            <a:avLst/>
          </a:prstGeom>
          <a:noFill/>
          <a:ln>
            <a:noFill/>
          </a:ln>
        </p:spPr>
      </p:pic>
      <p:sp>
        <p:nvSpPr>
          <p:cNvPr id="212" name="Google Shape;212;g1dcbc411a8e_0_302"/>
          <p:cNvSpPr txBox="1"/>
          <p:nvPr/>
        </p:nvSpPr>
        <p:spPr>
          <a:xfrm>
            <a:off x="872438" y="1728450"/>
            <a:ext cx="6831300" cy="173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00AFAA"/>
                </a:solidFill>
                <a:latin typeface="Trebuchet MS"/>
                <a:ea typeface="Trebuchet MS"/>
                <a:cs typeface="Trebuchet MS"/>
                <a:sym typeface="Trebuchet MS"/>
              </a:rPr>
              <a:t>¿Qué son los condicionales?</a:t>
            </a:r>
            <a:endParaRPr b="0" i="0" sz="2600" u="none" cap="none" strike="noStrike">
              <a:solidFill>
                <a:srgbClr val="00AFAA"/>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AFAA"/>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Trebuchet MS"/>
                <a:ea typeface="Trebuchet MS"/>
                <a:cs typeface="Trebuchet MS"/>
                <a:sym typeface="Trebuchet MS"/>
              </a:rPr>
              <a:t>Es una estructura que controla el flujo del programa</a:t>
            </a:r>
            <a:endParaRPr b="0" i="0" sz="2500" u="none" cap="none" strike="noStrike">
              <a:solidFill>
                <a:schemeClr val="dk1"/>
              </a:solidFill>
              <a:latin typeface="Trebuchet MS"/>
              <a:ea typeface="Trebuchet MS"/>
              <a:cs typeface="Trebuchet MS"/>
              <a:sym typeface="Trebuchet MS"/>
            </a:endParaRPr>
          </a:p>
        </p:txBody>
      </p:sp>
      <p:pic>
        <p:nvPicPr>
          <p:cNvPr id="213" name="Google Shape;213;g1dcbc411a8e_0_302"/>
          <p:cNvPicPr preferRelativeResize="0"/>
          <p:nvPr/>
        </p:nvPicPr>
        <p:blipFill rotWithShape="1">
          <a:blip r:embed="rId5">
            <a:alphaModFix/>
          </a:blip>
          <a:srcRect b="0" l="0" r="0" t="0"/>
          <a:stretch/>
        </p:blipFill>
        <p:spPr>
          <a:xfrm>
            <a:off x="1418168" y="3836025"/>
            <a:ext cx="6285582" cy="241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g1dd6d73f377_2_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g1dd6d73f377_2_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20" name="Google Shape;220;g1dd6d73f377_2_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21" name="Google Shape;221;g1dd6d73f377_2_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1dd6d73f377_2_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23" name="Google Shape;223;g1dd6d73f377_2_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1dd6d73f377_2_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25" name="Google Shape;225;g1dd6d73f377_2_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g1dd6d73f377_2_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g1dd6d73f377_2_2"/>
          <p:cNvSpPr txBox="1"/>
          <p:nvPr>
            <p:ph type="title"/>
          </p:nvPr>
        </p:nvSpPr>
        <p:spPr>
          <a:xfrm>
            <a:off x="639900" y="1599850"/>
            <a:ext cx="76845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 </a:t>
            </a:r>
            <a:r>
              <a:rPr lang="en-US" sz="4000">
                <a:latin typeface="Courier New"/>
                <a:ea typeface="Courier New"/>
                <a:cs typeface="Courier New"/>
                <a:sym typeface="Courier New"/>
              </a:rPr>
              <a:t>[if]</a:t>
            </a:r>
            <a:endParaRPr sz="4000">
              <a:latin typeface="Courier New"/>
              <a:ea typeface="Courier New"/>
              <a:cs typeface="Courier New"/>
              <a:sym typeface="Courier New"/>
            </a:endParaRPr>
          </a:p>
        </p:txBody>
      </p:sp>
      <p:sp>
        <p:nvSpPr>
          <p:cNvPr id="228" name="Google Shape;228;g1dd6d73f377_2_2"/>
          <p:cNvSpPr txBox="1"/>
          <p:nvPr/>
        </p:nvSpPr>
        <p:spPr>
          <a:xfrm>
            <a:off x="639900" y="2617000"/>
            <a:ext cx="59775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Se utiliza </a:t>
            </a:r>
            <a:r>
              <a:rPr b="1" i="0" lang="en-US" sz="2200" u="none" cap="none" strike="noStrike">
                <a:solidFill>
                  <a:srgbClr val="0000CD"/>
                </a:solidFill>
                <a:latin typeface="Courier New"/>
                <a:ea typeface="Courier New"/>
                <a:cs typeface="Courier New"/>
                <a:sym typeface="Courier New"/>
              </a:rPr>
              <a:t>if</a:t>
            </a:r>
            <a:r>
              <a:rPr b="0" i="0" lang="en-US" sz="2200" u="none" cap="none" strike="noStrike">
                <a:solidFill>
                  <a:schemeClr val="dk1"/>
                </a:solidFill>
                <a:latin typeface="Trebuchet MS"/>
                <a:ea typeface="Trebuchet MS"/>
                <a:cs typeface="Trebuchet MS"/>
                <a:sym typeface="Trebuchet MS"/>
              </a:rPr>
              <a:t> para especificar un bloque de código a ejecutar (acción a realizar), si una condición especificada es verdadera.</a:t>
            </a:r>
            <a:endParaRPr b="0" i="0" sz="2200" u="none" cap="none" strike="noStrike">
              <a:solidFill>
                <a:srgbClr val="000000"/>
              </a:solidFill>
              <a:latin typeface="Arial"/>
              <a:ea typeface="Arial"/>
              <a:cs typeface="Arial"/>
              <a:sym typeface="Arial"/>
            </a:endParaRPr>
          </a:p>
        </p:txBody>
      </p:sp>
      <p:sp>
        <p:nvSpPr>
          <p:cNvPr id="229" name="Google Shape;229;g1dd6d73f377_2_2"/>
          <p:cNvSpPr txBox="1"/>
          <p:nvPr/>
        </p:nvSpPr>
        <p:spPr>
          <a:xfrm>
            <a:off x="759950" y="4572000"/>
            <a:ext cx="6191400" cy="110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CD"/>
                </a:solidFill>
                <a:highlight>
                  <a:srgbClr val="FFFFFF"/>
                </a:highlight>
                <a:latin typeface="Courier New"/>
                <a:ea typeface="Courier New"/>
                <a:cs typeface="Courier New"/>
                <a:sym typeface="Courier New"/>
              </a:rPr>
              <a:t>if</a:t>
            </a:r>
            <a:r>
              <a:rPr b="0" i="0" lang="en-US" sz="2000" u="none" cap="none" strike="noStrike">
                <a:solidFill>
                  <a:srgbClr val="0000CD"/>
                </a:solidFill>
                <a:highlight>
                  <a:srgbClr val="FFFFFF"/>
                </a:highlight>
                <a:latin typeface="Courier New"/>
                <a:ea typeface="Courier New"/>
                <a:cs typeface="Courier New"/>
                <a:sym typeface="Courier New"/>
              </a:rPr>
              <a:t> </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condición</a:t>
            </a:r>
            <a:r>
              <a:rPr b="1" i="0" lang="en-US" sz="2000" u="none" cap="none" strike="noStrike">
                <a:solidFill>
                  <a:schemeClr val="dk1"/>
                </a:solidFill>
                <a:highlight>
                  <a:srgbClr val="FFFFFF"/>
                </a:highlight>
                <a:latin typeface="Courier New"/>
                <a:ea typeface="Courier New"/>
                <a:cs typeface="Courier New"/>
                <a:sym typeface="Courier New"/>
              </a:rPr>
              <a:t>) {</a:t>
            </a:r>
            <a:endParaRPr b="1"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rgbClr val="FFFFFF"/>
                </a:highlight>
                <a:latin typeface="Courier New"/>
                <a:ea typeface="Courier New"/>
                <a:cs typeface="Courier New"/>
                <a:sym typeface="Courier New"/>
              </a:rPr>
              <a:t>//</a:t>
            </a:r>
            <a:r>
              <a:rPr b="0" i="1" lang="en-US" sz="1900" u="none" cap="none" strike="noStrike">
                <a:solidFill>
                  <a:schemeClr val="dk1"/>
                </a:solidFill>
                <a:highlight>
                  <a:srgbClr val="FFFFFF"/>
                </a:highlight>
                <a:latin typeface="Courier New"/>
                <a:ea typeface="Courier New"/>
                <a:cs typeface="Courier New"/>
                <a:sym typeface="Courier New"/>
              </a:rPr>
              <a:t>Acción si la condición es verdadera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1dd6d73f377_2_2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g1dd6d73f377_2_2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6" name="Google Shape;236;g1dd6d73f377_2_2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37" name="Google Shape;237;g1dd6d73f377_2_2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1dd6d73f377_2_2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39" name="Google Shape;239;g1dd6d73f377_2_2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1dd6d73f377_2_2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41" name="Google Shape;241;g1dd6d73f377_2_2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g1dd6d73f377_2_2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g1dd6d73f377_2_23"/>
          <p:cNvSpPr txBox="1"/>
          <p:nvPr>
            <p:ph type="title"/>
          </p:nvPr>
        </p:nvSpPr>
        <p:spPr>
          <a:xfrm>
            <a:off x="639900" y="1599850"/>
            <a:ext cx="76845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 </a:t>
            </a:r>
            <a:r>
              <a:rPr lang="en-US" sz="4000">
                <a:latin typeface="Courier New"/>
                <a:ea typeface="Courier New"/>
                <a:cs typeface="Courier New"/>
                <a:sym typeface="Courier New"/>
              </a:rPr>
              <a:t>[if]</a:t>
            </a:r>
            <a:endParaRPr sz="4000">
              <a:latin typeface="Courier New"/>
              <a:ea typeface="Courier New"/>
              <a:cs typeface="Courier New"/>
              <a:sym typeface="Courier New"/>
            </a:endParaRPr>
          </a:p>
        </p:txBody>
      </p:sp>
      <p:sp>
        <p:nvSpPr>
          <p:cNvPr id="244" name="Google Shape;244;g1dd6d73f377_2_23"/>
          <p:cNvSpPr txBox="1"/>
          <p:nvPr/>
        </p:nvSpPr>
        <p:spPr>
          <a:xfrm>
            <a:off x="639900" y="2617000"/>
            <a:ext cx="59775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Se utiliza </a:t>
            </a:r>
            <a:r>
              <a:rPr b="1" i="0" lang="en-US" sz="2200" u="none" cap="none" strike="noStrike">
                <a:solidFill>
                  <a:srgbClr val="0000CD"/>
                </a:solidFill>
                <a:latin typeface="Courier New"/>
                <a:ea typeface="Courier New"/>
                <a:cs typeface="Courier New"/>
                <a:sym typeface="Courier New"/>
              </a:rPr>
              <a:t>if</a:t>
            </a:r>
            <a:r>
              <a:rPr b="0" i="0" lang="en-US" sz="2200" u="none" cap="none" strike="noStrike">
                <a:solidFill>
                  <a:schemeClr val="dk1"/>
                </a:solidFill>
                <a:latin typeface="Trebuchet MS"/>
                <a:ea typeface="Trebuchet MS"/>
                <a:cs typeface="Trebuchet MS"/>
                <a:sym typeface="Trebuchet MS"/>
              </a:rPr>
              <a:t> para especificar un bloque de código a ejecutar (acción a realizar), si una condición especificada es verdadera.</a:t>
            </a:r>
            <a:endParaRPr b="0" i="0" sz="2200" u="none" cap="none" strike="noStrike">
              <a:solidFill>
                <a:srgbClr val="000000"/>
              </a:solidFill>
              <a:latin typeface="Arial"/>
              <a:ea typeface="Arial"/>
              <a:cs typeface="Arial"/>
              <a:sym typeface="Arial"/>
            </a:endParaRPr>
          </a:p>
        </p:txBody>
      </p:sp>
      <p:sp>
        <p:nvSpPr>
          <p:cNvPr id="245" name="Google Shape;245;g1dd6d73f377_2_23"/>
          <p:cNvSpPr txBox="1"/>
          <p:nvPr/>
        </p:nvSpPr>
        <p:spPr>
          <a:xfrm>
            <a:off x="759950" y="4572000"/>
            <a:ext cx="6191400" cy="110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CD"/>
                </a:solidFill>
                <a:highlight>
                  <a:srgbClr val="FFFFFF"/>
                </a:highlight>
                <a:latin typeface="Courier New"/>
                <a:ea typeface="Courier New"/>
                <a:cs typeface="Courier New"/>
                <a:sym typeface="Courier New"/>
              </a:rPr>
              <a:t>if</a:t>
            </a:r>
            <a:r>
              <a:rPr b="0" i="0" lang="en-US" sz="2000" u="none" cap="none" strike="noStrike">
                <a:solidFill>
                  <a:srgbClr val="0000CD"/>
                </a:solidFill>
                <a:highlight>
                  <a:srgbClr val="FFFFFF"/>
                </a:highlight>
                <a:latin typeface="Courier New"/>
                <a:ea typeface="Courier New"/>
                <a:cs typeface="Courier New"/>
                <a:sym typeface="Courier New"/>
              </a:rPr>
              <a:t> </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condición</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rgbClr val="FFFFFF"/>
                </a:highlight>
                <a:latin typeface="Courier New"/>
                <a:ea typeface="Courier New"/>
                <a:cs typeface="Courier New"/>
                <a:sym typeface="Courier New"/>
              </a:rPr>
              <a:t>//</a:t>
            </a:r>
            <a:r>
              <a:rPr b="0" i="1" lang="en-US" sz="1900" u="none" cap="none" strike="noStrike">
                <a:solidFill>
                  <a:schemeClr val="dk1"/>
                </a:solidFill>
                <a:highlight>
                  <a:srgbClr val="FFFFFF"/>
                </a:highlight>
                <a:latin typeface="Courier New"/>
                <a:ea typeface="Courier New"/>
                <a:cs typeface="Courier New"/>
                <a:sym typeface="Courier New"/>
              </a:rPr>
              <a:t>Acción si la condición es verdadera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p:txBody>
      </p:sp>
      <p:pic>
        <p:nvPicPr>
          <p:cNvPr id="246" name="Google Shape;246;g1dd6d73f377_2_23"/>
          <p:cNvPicPr preferRelativeResize="0"/>
          <p:nvPr/>
        </p:nvPicPr>
        <p:blipFill rotWithShape="1">
          <a:blip r:embed="rId4">
            <a:alphaModFix/>
          </a:blip>
          <a:srcRect b="0" l="0" r="0" t="0"/>
          <a:stretch/>
        </p:blipFill>
        <p:spPr>
          <a:xfrm>
            <a:off x="7751125" y="1331875"/>
            <a:ext cx="3519001" cy="48198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g1dd6d73f377_2_3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g1dd6d73f377_2_3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53" name="Google Shape;253;g1dd6d73f377_2_3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54" name="Google Shape;254;g1dd6d73f377_2_3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1dd6d73f377_2_3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56" name="Google Shape;256;g1dd6d73f377_2_3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1dd6d73f377_2_3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58" name="Google Shape;258;g1dd6d73f377_2_3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g1dd6d73f377_2_3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g1dd6d73f377_2_39"/>
          <p:cNvSpPr txBox="1"/>
          <p:nvPr>
            <p:ph type="title"/>
          </p:nvPr>
        </p:nvSpPr>
        <p:spPr>
          <a:xfrm>
            <a:off x="639900" y="1599850"/>
            <a:ext cx="82029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 </a:t>
            </a:r>
            <a:r>
              <a:rPr lang="en-US" sz="4000">
                <a:latin typeface="Courier New"/>
                <a:ea typeface="Courier New"/>
                <a:cs typeface="Courier New"/>
                <a:sym typeface="Courier New"/>
              </a:rPr>
              <a:t>[else]</a:t>
            </a:r>
            <a:endParaRPr sz="4000">
              <a:latin typeface="Courier New"/>
              <a:ea typeface="Courier New"/>
              <a:cs typeface="Courier New"/>
              <a:sym typeface="Courier New"/>
            </a:endParaRPr>
          </a:p>
        </p:txBody>
      </p:sp>
      <p:sp>
        <p:nvSpPr>
          <p:cNvPr id="261" name="Google Shape;261;g1dd6d73f377_2_39"/>
          <p:cNvSpPr txBox="1"/>
          <p:nvPr/>
        </p:nvSpPr>
        <p:spPr>
          <a:xfrm>
            <a:off x="639900" y="2617000"/>
            <a:ext cx="59775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Se utiliza </a:t>
            </a:r>
            <a:r>
              <a:rPr b="1" i="0" lang="en-US" sz="2200" u="none" cap="none" strike="noStrike">
                <a:solidFill>
                  <a:srgbClr val="0000CD"/>
                </a:solidFill>
                <a:latin typeface="Courier New"/>
                <a:ea typeface="Courier New"/>
                <a:cs typeface="Courier New"/>
                <a:sym typeface="Courier New"/>
              </a:rPr>
              <a:t>else</a:t>
            </a:r>
            <a:r>
              <a:rPr b="0" i="0" lang="en-US" sz="2200" u="none" cap="none" strike="noStrike">
                <a:solidFill>
                  <a:schemeClr val="dk1"/>
                </a:solidFill>
                <a:latin typeface="Trebuchet MS"/>
                <a:ea typeface="Trebuchet MS"/>
                <a:cs typeface="Trebuchet MS"/>
                <a:sym typeface="Trebuchet MS"/>
              </a:rPr>
              <a:t> para especificar un bloque de código a ejecutar (acción a realizar), si la misma condición es falsa.</a:t>
            </a:r>
            <a:endParaRPr b="0" i="0" sz="2200" u="none" cap="none" strike="noStrike">
              <a:solidFill>
                <a:srgbClr val="000000"/>
              </a:solidFill>
              <a:latin typeface="Arial"/>
              <a:ea typeface="Arial"/>
              <a:cs typeface="Arial"/>
              <a:sym typeface="Arial"/>
            </a:endParaRPr>
          </a:p>
        </p:txBody>
      </p:sp>
      <p:sp>
        <p:nvSpPr>
          <p:cNvPr id="262" name="Google Shape;262;g1dd6d73f377_2_39"/>
          <p:cNvSpPr txBox="1"/>
          <p:nvPr/>
        </p:nvSpPr>
        <p:spPr>
          <a:xfrm>
            <a:off x="774750" y="4219150"/>
            <a:ext cx="6191400" cy="172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rgbClr val="0000CD"/>
                </a:solidFill>
                <a:highlight>
                  <a:srgbClr val="FFFFFF"/>
                </a:highlight>
                <a:latin typeface="Courier New"/>
                <a:ea typeface="Courier New"/>
                <a:cs typeface="Courier New"/>
                <a:sym typeface="Courier New"/>
              </a:rPr>
              <a:t>if </a:t>
            </a:r>
            <a:r>
              <a:rPr b="0" i="0" lang="en-US" sz="2000" u="none" cap="none" strike="noStrike">
                <a:solidFill>
                  <a:schemeClr val="dk1"/>
                </a:solidFill>
                <a:highlight>
                  <a:srgbClr val="FFFFFF"/>
                </a:highlight>
                <a:latin typeface="Courier New"/>
                <a:ea typeface="Courier New"/>
                <a:cs typeface="Courier New"/>
                <a:sym typeface="Courier New"/>
              </a:rPr>
              <a:t>(condicion) {</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chemeClr val="lt1"/>
                </a:highlight>
                <a:latin typeface="Courier New"/>
                <a:ea typeface="Courier New"/>
                <a:cs typeface="Courier New"/>
                <a:sym typeface="Courier New"/>
              </a:rPr>
              <a:t>//</a:t>
            </a:r>
            <a:r>
              <a:rPr b="0" i="1" lang="en-US" sz="1900" u="none" cap="none" strike="noStrike">
                <a:solidFill>
                  <a:schemeClr val="dk1"/>
                </a:solidFill>
                <a:highlight>
                  <a:schemeClr val="lt1"/>
                </a:highlight>
                <a:latin typeface="Courier New"/>
                <a:ea typeface="Courier New"/>
                <a:cs typeface="Courier New"/>
                <a:sym typeface="Courier New"/>
              </a:rPr>
              <a:t>Acción si la condición es verdadera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rgbClr val="0000CD"/>
                </a:solidFill>
                <a:highlight>
                  <a:srgbClr val="FFFFFF"/>
                </a:highlight>
                <a:latin typeface="Courier New"/>
                <a:ea typeface="Courier New"/>
                <a:cs typeface="Courier New"/>
                <a:sym typeface="Courier New"/>
              </a:rPr>
              <a:t>else </a:t>
            </a: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chemeClr val="lt1"/>
                </a:highlight>
                <a:latin typeface="Courier New"/>
                <a:ea typeface="Courier New"/>
                <a:cs typeface="Courier New"/>
                <a:sym typeface="Courier New"/>
              </a:rPr>
              <a:t>//</a:t>
            </a:r>
            <a:r>
              <a:rPr b="0" i="1" lang="en-US" sz="1900" u="none" cap="none" strike="noStrike">
                <a:solidFill>
                  <a:schemeClr val="dk1"/>
                </a:solidFill>
                <a:highlight>
                  <a:schemeClr val="lt1"/>
                </a:highlight>
                <a:latin typeface="Courier New"/>
                <a:ea typeface="Courier New"/>
                <a:cs typeface="Courier New"/>
                <a:sym typeface="Courier New"/>
              </a:rPr>
              <a:t>Acción si la condición es falsa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g1dd6d73f377_2_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g1dd6d73f377_2_5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9" name="Google Shape;269;g1dd6d73f377_2_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70" name="Google Shape;270;g1dd6d73f377_2_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1dd6d73f377_2_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72" name="Google Shape;272;g1dd6d73f377_2_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1dd6d73f377_2_5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74" name="Google Shape;274;g1dd6d73f377_2_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g1dd6d73f377_2_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g1dd6d73f377_2_58"/>
          <p:cNvSpPr txBox="1"/>
          <p:nvPr>
            <p:ph type="title"/>
          </p:nvPr>
        </p:nvSpPr>
        <p:spPr>
          <a:xfrm>
            <a:off x="639900" y="1599850"/>
            <a:ext cx="82029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 </a:t>
            </a:r>
            <a:r>
              <a:rPr lang="en-US" sz="4000">
                <a:latin typeface="Courier New"/>
                <a:ea typeface="Courier New"/>
                <a:cs typeface="Courier New"/>
                <a:sym typeface="Courier New"/>
              </a:rPr>
              <a:t>[else]</a:t>
            </a:r>
            <a:endParaRPr sz="4000">
              <a:latin typeface="Courier New"/>
              <a:ea typeface="Courier New"/>
              <a:cs typeface="Courier New"/>
              <a:sym typeface="Courier New"/>
            </a:endParaRPr>
          </a:p>
        </p:txBody>
      </p:sp>
      <p:sp>
        <p:nvSpPr>
          <p:cNvPr id="277" name="Google Shape;277;g1dd6d73f377_2_58"/>
          <p:cNvSpPr txBox="1"/>
          <p:nvPr/>
        </p:nvSpPr>
        <p:spPr>
          <a:xfrm>
            <a:off x="639900" y="2617000"/>
            <a:ext cx="59775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Se utiliza </a:t>
            </a:r>
            <a:r>
              <a:rPr b="1" i="0" lang="en-US" sz="2200" u="none" cap="none" strike="noStrike">
                <a:solidFill>
                  <a:srgbClr val="0000CD"/>
                </a:solidFill>
                <a:latin typeface="Courier New"/>
                <a:ea typeface="Courier New"/>
                <a:cs typeface="Courier New"/>
                <a:sym typeface="Courier New"/>
              </a:rPr>
              <a:t>else</a:t>
            </a:r>
            <a:r>
              <a:rPr b="0" i="0" lang="en-US" sz="2200" u="none" cap="none" strike="noStrike">
                <a:solidFill>
                  <a:schemeClr val="dk1"/>
                </a:solidFill>
                <a:latin typeface="Trebuchet MS"/>
                <a:ea typeface="Trebuchet MS"/>
                <a:cs typeface="Trebuchet MS"/>
                <a:sym typeface="Trebuchet MS"/>
              </a:rPr>
              <a:t> para especificar un bloque de código a ejecutar (acción a realizar), si la misma condición es falsa.</a:t>
            </a:r>
            <a:endParaRPr b="0" i="0" sz="2200" u="none" cap="none" strike="noStrike">
              <a:solidFill>
                <a:srgbClr val="000000"/>
              </a:solidFill>
              <a:latin typeface="Arial"/>
              <a:ea typeface="Arial"/>
              <a:cs typeface="Arial"/>
              <a:sym typeface="Arial"/>
            </a:endParaRPr>
          </a:p>
        </p:txBody>
      </p:sp>
      <p:sp>
        <p:nvSpPr>
          <p:cNvPr id="278" name="Google Shape;278;g1dd6d73f377_2_58"/>
          <p:cNvSpPr txBox="1"/>
          <p:nvPr/>
        </p:nvSpPr>
        <p:spPr>
          <a:xfrm>
            <a:off x="774750" y="4219150"/>
            <a:ext cx="6191400" cy="172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CD"/>
                </a:solidFill>
                <a:highlight>
                  <a:srgbClr val="FFFFFF"/>
                </a:highlight>
                <a:latin typeface="Courier New"/>
                <a:ea typeface="Courier New"/>
                <a:cs typeface="Courier New"/>
                <a:sym typeface="Courier New"/>
              </a:rPr>
              <a:t>if </a:t>
            </a:r>
            <a:r>
              <a:rPr b="0" i="0" lang="en-US" sz="2000" u="none" cap="none" strike="noStrike">
                <a:solidFill>
                  <a:schemeClr val="dk1"/>
                </a:solidFill>
                <a:highlight>
                  <a:srgbClr val="FFFFFF"/>
                </a:highlight>
                <a:latin typeface="Courier New"/>
                <a:ea typeface="Courier New"/>
                <a:cs typeface="Courier New"/>
                <a:sym typeface="Courier New"/>
              </a:rPr>
              <a:t>(condicion) {</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chemeClr val="lt1"/>
                </a:highlight>
                <a:latin typeface="Courier New"/>
                <a:ea typeface="Courier New"/>
                <a:cs typeface="Courier New"/>
                <a:sym typeface="Courier New"/>
              </a:rPr>
              <a:t>//</a:t>
            </a:r>
            <a:r>
              <a:rPr b="0" i="1" lang="en-US" sz="1900" u="none" cap="none" strike="noStrike">
                <a:solidFill>
                  <a:schemeClr val="dk1"/>
                </a:solidFill>
                <a:highlight>
                  <a:schemeClr val="lt1"/>
                </a:highlight>
                <a:latin typeface="Courier New"/>
                <a:ea typeface="Courier New"/>
                <a:cs typeface="Courier New"/>
                <a:sym typeface="Courier New"/>
              </a:rPr>
              <a:t>Acción si la condición es verdadera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rgbClr val="0000CD"/>
                </a:solidFill>
                <a:highlight>
                  <a:srgbClr val="FFFFFF"/>
                </a:highlight>
                <a:latin typeface="Courier New"/>
                <a:ea typeface="Courier New"/>
                <a:cs typeface="Courier New"/>
                <a:sym typeface="Courier New"/>
              </a:rPr>
              <a:t>else </a:t>
            </a: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chemeClr val="lt1"/>
                </a:highlight>
                <a:latin typeface="Courier New"/>
                <a:ea typeface="Courier New"/>
                <a:cs typeface="Courier New"/>
                <a:sym typeface="Courier New"/>
              </a:rPr>
              <a:t>//</a:t>
            </a:r>
            <a:r>
              <a:rPr b="0" i="1" lang="en-US" sz="1900" u="none" cap="none" strike="noStrike">
                <a:solidFill>
                  <a:schemeClr val="dk1"/>
                </a:solidFill>
                <a:highlight>
                  <a:schemeClr val="lt1"/>
                </a:highlight>
                <a:latin typeface="Courier New"/>
                <a:ea typeface="Courier New"/>
                <a:cs typeface="Courier New"/>
                <a:sym typeface="Courier New"/>
              </a:rPr>
              <a:t>Acción si la condición es falsa</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p:txBody>
      </p:sp>
      <p:pic>
        <p:nvPicPr>
          <p:cNvPr id="279" name="Google Shape;279;g1dd6d73f377_2_58"/>
          <p:cNvPicPr preferRelativeResize="0"/>
          <p:nvPr/>
        </p:nvPicPr>
        <p:blipFill rotWithShape="1">
          <a:blip r:embed="rId4">
            <a:alphaModFix/>
          </a:blip>
          <a:srcRect b="0" l="0" r="0" t="0"/>
          <a:stretch/>
        </p:blipFill>
        <p:spPr>
          <a:xfrm>
            <a:off x="7207425" y="2215443"/>
            <a:ext cx="4895600" cy="39287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g1dd6d73f377_2_7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g1dd6d73f377_2_7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86" name="Google Shape;286;g1dd6d73f377_2_7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87" name="Google Shape;287;g1dd6d73f377_2_7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1dd6d73f377_2_7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89" name="Google Shape;289;g1dd6d73f377_2_7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1dd6d73f377_2_7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291" name="Google Shape;291;g1dd6d73f377_2_7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g1dd6d73f377_2_7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g1dd6d73f377_2_74"/>
          <p:cNvSpPr txBox="1"/>
          <p:nvPr>
            <p:ph type="title"/>
          </p:nvPr>
        </p:nvSpPr>
        <p:spPr>
          <a:xfrm>
            <a:off x="639900" y="1371250"/>
            <a:ext cx="82029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 </a:t>
            </a:r>
            <a:r>
              <a:rPr lang="en-US" sz="4000">
                <a:latin typeface="Courier New"/>
                <a:ea typeface="Courier New"/>
                <a:cs typeface="Courier New"/>
                <a:sym typeface="Courier New"/>
              </a:rPr>
              <a:t>[else if]</a:t>
            </a:r>
            <a:endParaRPr sz="4000">
              <a:latin typeface="Courier New"/>
              <a:ea typeface="Courier New"/>
              <a:cs typeface="Courier New"/>
              <a:sym typeface="Courier New"/>
            </a:endParaRPr>
          </a:p>
        </p:txBody>
      </p:sp>
      <p:sp>
        <p:nvSpPr>
          <p:cNvPr id="294" name="Google Shape;294;g1dd6d73f377_2_74"/>
          <p:cNvSpPr txBox="1"/>
          <p:nvPr/>
        </p:nvSpPr>
        <p:spPr>
          <a:xfrm>
            <a:off x="639900" y="2204425"/>
            <a:ext cx="6662400" cy="86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Se utiliza </a:t>
            </a:r>
            <a:r>
              <a:rPr b="1" i="0" lang="en-US" sz="2200" u="none" cap="none" strike="noStrike">
                <a:solidFill>
                  <a:srgbClr val="0000CD"/>
                </a:solidFill>
                <a:latin typeface="Courier New"/>
                <a:ea typeface="Courier New"/>
                <a:cs typeface="Courier New"/>
                <a:sym typeface="Courier New"/>
              </a:rPr>
              <a:t>else if</a:t>
            </a:r>
            <a:r>
              <a:rPr b="0" i="0" lang="en-US" sz="2200" u="none" cap="none" strike="noStrike">
                <a:solidFill>
                  <a:schemeClr val="dk1"/>
                </a:solidFill>
                <a:latin typeface="Trebuchet MS"/>
                <a:ea typeface="Trebuchet MS"/>
                <a:cs typeface="Trebuchet MS"/>
                <a:sym typeface="Trebuchet MS"/>
              </a:rPr>
              <a:t> para especificar una nueva condición a probar, si la primera condición es falsa.</a:t>
            </a:r>
            <a:endParaRPr b="0" i="0" sz="2200" u="none" cap="none" strike="noStrike">
              <a:solidFill>
                <a:schemeClr val="dk1"/>
              </a:solidFill>
              <a:latin typeface="Trebuchet MS"/>
              <a:ea typeface="Trebuchet MS"/>
              <a:cs typeface="Trebuchet MS"/>
              <a:sym typeface="Trebuchet MS"/>
            </a:endParaRPr>
          </a:p>
        </p:txBody>
      </p:sp>
      <p:sp>
        <p:nvSpPr>
          <p:cNvPr id="295" name="Google Shape;295;g1dd6d73f377_2_74"/>
          <p:cNvSpPr txBox="1"/>
          <p:nvPr/>
        </p:nvSpPr>
        <p:spPr>
          <a:xfrm>
            <a:off x="780750" y="3370925"/>
            <a:ext cx="10630500" cy="2632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CD"/>
                </a:solidFill>
                <a:highlight>
                  <a:srgbClr val="FFFFFF"/>
                </a:highlight>
                <a:latin typeface="Courier New"/>
                <a:ea typeface="Courier New"/>
                <a:cs typeface="Courier New"/>
                <a:sym typeface="Courier New"/>
              </a:rPr>
              <a:t>if</a:t>
            </a:r>
            <a:r>
              <a:rPr b="0" i="0" lang="en-US" sz="2000" u="none" cap="none" strike="noStrike">
                <a:solidFill>
                  <a:schemeClr val="dk1"/>
                </a:solidFill>
                <a:highlight>
                  <a:srgbClr val="FFFFFF"/>
                </a:highlight>
                <a:latin typeface="Courier New"/>
                <a:ea typeface="Courier New"/>
                <a:cs typeface="Courier New"/>
                <a:sym typeface="Courier New"/>
              </a:rPr>
              <a:t> (condición 1) {</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rgbClr val="FFFFFF"/>
                </a:highlight>
                <a:latin typeface="Courier New"/>
                <a:ea typeface="Courier New"/>
                <a:cs typeface="Courier New"/>
                <a:sym typeface="Courier New"/>
              </a:rPr>
              <a:t>// </a:t>
            </a:r>
            <a:r>
              <a:rPr b="0" i="1" lang="en-US" sz="1900" u="none" cap="none" strike="noStrike">
                <a:solidFill>
                  <a:schemeClr val="dk1"/>
                </a:solidFill>
                <a:highlight>
                  <a:srgbClr val="FFFFFF"/>
                </a:highlight>
                <a:latin typeface="Courier New"/>
                <a:ea typeface="Courier New"/>
                <a:cs typeface="Courier New"/>
                <a:sym typeface="Courier New"/>
              </a:rPr>
              <a:t>Acción a realizar si la condición 1 es verdadera</a:t>
            </a:r>
            <a:endParaRPr b="0" i="1"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rgbClr val="0000CD"/>
                </a:solidFill>
                <a:highlight>
                  <a:srgbClr val="FFFFFF"/>
                </a:highlight>
                <a:latin typeface="Courier New"/>
                <a:ea typeface="Courier New"/>
                <a:cs typeface="Courier New"/>
                <a:sym typeface="Courier New"/>
              </a:rPr>
              <a:t>else if</a:t>
            </a:r>
            <a:r>
              <a:rPr b="0" i="0" lang="en-US" sz="2000" u="none" cap="none" strike="noStrike">
                <a:solidFill>
                  <a:schemeClr val="dk1"/>
                </a:solidFill>
                <a:highlight>
                  <a:srgbClr val="FFFFFF"/>
                </a:highlight>
                <a:latin typeface="Courier New"/>
                <a:ea typeface="Courier New"/>
                <a:cs typeface="Courier New"/>
                <a:sym typeface="Courier New"/>
              </a:rPr>
              <a:t> (condición 2) {</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rgbClr val="FFFFFF"/>
                </a:highlight>
                <a:latin typeface="Courier New"/>
                <a:ea typeface="Courier New"/>
                <a:cs typeface="Courier New"/>
                <a:sym typeface="Courier New"/>
              </a:rPr>
              <a:t>// </a:t>
            </a:r>
            <a:r>
              <a:rPr b="0" i="1" lang="en-US" sz="1900" u="none" cap="none" strike="noStrike">
                <a:solidFill>
                  <a:schemeClr val="dk1"/>
                </a:solidFill>
                <a:highlight>
                  <a:schemeClr val="lt1"/>
                </a:highlight>
                <a:latin typeface="Courier New"/>
                <a:ea typeface="Courier New"/>
                <a:cs typeface="Courier New"/>
                <a:sym typeface="Courier New"/>
              </a:rPr>
              <a:t>Acción a realizar</a:t>
            </a:r>
            <a:r>
              <a:rPr b="0" i="1" lang="en-US" sz="1900" u="none" cap="none" strike="noStrike">
                <a:solidFill>
                  <a:schemeClr val="dk1"/>
                </a:solidFill>
                <a:highlight>
                  <a:srgbClr val="FFFFFF"/>
                </a:highlight>
                <a:latin typeface="Courier New"/>
                <a:ea typeface="Courier New"/>
                <a:cs typeface="Courier New"/>
                <a:sym typeface="Courier New"/>
              </a:rPr>
              <a:t> si la condición 1 es falsa y la condición 2 es verdadera</a:t>
            </a:r>
            <a:endParaRPr b="0" i="1"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rgbClr val="0000CD"/>
                </a:solidFill>
                <a:highlight>
                  <a:srgbClr val="FFFFFF"/>
                </a:highlight>
                <a:latin typeface="Courier New"/>
                <a:ea typeface="Courier New"/>
                <a:cs typeface="Courier New"/>
                <a:sym typeface="Courier New"/>
              </a:rPr>
              <a:t>else</a:t>
            </a:r>
            <a:r>
              <a:rPr b="0" i="0" lang="en-US" sz="2000" u="none" cap="none" strike="noStrike">
                <a:solidFill>
                  <a:schemeClr val="dk1"/>
                </a:solidFill>
                <a:highlight>
                  <a:srgbClr val="FFFFFF"/>
                </a:highlight>
                <a:latin typeface="Courier New"/>
                <a:ea typeface="Courier New"/>
                <a:cs typeface="Courier New"/>
                <a:sym typeface="Courier New"/>
              </a:rPr>
              <a:t> {</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chemeClr val="dk1"/>
                </a:solidFill>
                <a:highlight>
                  <a:srgbClr val="FFFFFF"/>
                </a:highlight>
                <a:latin typeface="Courier New"/>
                <a:ea typeface="Courier New"/>
                <a:cs typeface="Courier New"/>
                <a:sym typeface="Courier New"/>
              </a:rPr>
              <a:t>// </a:t>
            </a:r>
            <a:r>
              <a:rPr b="0" i="1" lang="en-US" sz="1900" u="none" cap="none" strike="noStrike">
                <a:solidFill>
                  <a:schemeClr val="dk1"/>
                </a:solidFill>
                <a:highlight>
                  <a:schemeClr val="lt1"/>
                </a:highlight>
                <a:latin typeface="Courier New"/>
                <a:ea typeface="Courier New"/>
                <a:cs typeface="Courier New"/>
                <a:sym typeface="Courier New"/>
              </a:rPr>
              <a:t>Acción a realizar</a:t>
            </a:r>
            <a:r>
              <a:rPr b="0" i="1" lang="en-US" sz="1900" u="none" cap="none" strike="noStrike">
                <a:solidFill>
                  <a:schemeClr val="dk1"/>
                </a:solidFill>
                <a:highlight>
                  <a:srgbClr val="FFFFFF"/>
                </a:highlight>
                <a:latin typeface="Courier New"/>
                <a:ea typeface="Courier New"/>
                <a:cs typeface="Courier New"/>
                <a:sym typeface="Courier New"/>
              </a:rPr>
              <a:t> si las dos condiciones son falsas</a:t>
            </a:r>
            <a:endParaRPr b="0" i="1"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9" name="Shape 299"/>
        <p:cNvGrpSpPr/>
        <p:nvPr/>
      </p:nvGrpSpPr>
      <p:grpSpPr>
        <a:xfrm>
          <a:off x="0" y="0"/>
          <a:ext cx="0" cy="0"/>
          <a:chOff x="0" y="0"/>
          <a:chExt cx="0" cy="0"/>
        </a:xfrm>
      </p:grpSpPr>
      <p:sp>
        <p:nvSpPr>
          <p:cNvPr id="300" name="Google Shape;300;g1dd6d73f377_2_9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g1dd6d73f377_2_9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02" name="Google Shape;302;g1dd6d73f377_2_9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03" name="Google Shape;303;g1dd6d73f377_2_9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1dd6d73f377_2_9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05" name="Google Shape;305;g1dd6d73f377_2_9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1dd6d73f377_2_9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307" name="Google Shape;307;g1dd6d73f377_2_9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g1dd6d73f377_2_9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g1dd6d73f377_2_93"/>
          <p:cNvSpPr txBox="1"/>
          <p:nvPr>
            <p:ph type="title"/>
          </p:nvPr>
        </p:nvSpPr>
        <p:spPr>
          <a:xfrm>
            <a:off x="603850" y="2152100"/>
            <a:ext cx="5758800" cy="1231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Condicionales en Java</a:t>
            </a:r>
            <a:endParaRPr sz="40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rPr lang="en-US" sz="4000">
                <a:latin typeface="Courier New"/>
                <a:ea typeface="Courier New"/>
                <a:cs typeface="Courier New"/>
                <a:sym typeface="Courier New"/>
              </a:rPr>
              <a:t>[else if]</a:t>
            </a:r>
            <a:endParaRPr sz="4000">
              <a:latin typeface="Courier New"/>
              <a:ea typeface="Courier New"/>
              <a:cs typeface="Courier New"/>
              <a:sym typeface="Courier New"/>
            </a:endParaRPr>
          </a:p>
        </p:txBody>
      </p:sp>
      <p:sp>
        <p:nvSpPr>
          <p:cNvPr id="310" name="Google Shape;310;g1dd6d73f377_2_93"/>
          <p:cNvSpPr txBox="1"/>
          <p:nvPr/>
        </p:nvSpPr>
        <p:spPr>
          <a:xfrm>
            <a:off x="603850" y="3818925"/>
            <a:ext cx="47664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Trebuchet MS"/>
                <a:ea typeface="Trebuchet MS"/>
                <a:cs typeface="Trebuchet MS"/>
                <a:sym typeface="Trebuchet MS"/>
              </a:rPr>
              <a:t>Diagrama de Flujo</a:t>
            </a:r>
            <a:endParaRPr b="0" i="1" sz="2200" u="none" cap="none" strike="noStrike">
              <a:solidFill>
                <a:schemeClr val="dk1"/>
              </a:solidFill>
              <a:latin typeface="Trebuchet MS"/>
              <a:ea typeface="Trebuchet MS"/>
              <a:cs typeface="Trebuchet MS"/>
              <a:sym typeface="Trebuchet MS"/>
            </a:endParaRPr>
          </a:p>
        </p:txBody>
      </p:sp>
      <p:pic>
        <p:nvPicPr>
          <p:cNvPr id="311" name="Google Shape;311;g1dd6d73f377_2_93"/>
          <p:cNvPicPr preferRelativeResize="0"/>
          <p:nvPr/>
        </p:nvPicPr>
        <p:blipFill rotWithShape="1">
          <a:blip r:embed="rId4">
            <a:alphaModFix/>
          </a:blip>
          <a:srcRect b="0" l="0" r="0" t="0"/>
          <a:stretch/>
        </p:blipFill>
        <p:spPr>
          <a:xfrm>
            <a:off x="5730900" y="752725"/>
            <a:ext cx="6316877" cy="545015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5" name="Shape 315"/>
        <p:cNvGrpSpPr/>
        <p:nvPr/>
      </p:nvGrpSpPr>
      <p:grpSpPr>
        <a:xfrm>
          <a:off x="0" y="0"/>
          <a:ext cx="0" cy="0"/>
          <a:chOff x="0" y="0"/>
          <a:chExt cx="0" cy="0"/>
        </a:xfrm>
      </p:grpSpPr>
      <p:sp>
        <p:nvSpPr>
          <p:cNvPr id="316" name="Google Shape;316;g1dd6d73f377_2_11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17" name="Google Shape;317;g1dd6d73f377_2_11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18" name="Google Shape;318;g1dd6d73f377_2_11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1dd6d73f377_2_11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20" name="Google Shape;320;g1dd6d73f377_2_11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1dd6d73f377_2_119"/>
          <p:cNvSpPr txBox="1"/>
          <p:nvPr>
            <p:ph type="title"/>
          </p:nvPr>
        </p:nvSpPr>
        <p:spPr>
          <a:xfrm>
            <a:off x="3893675" y="893650"/>
            <a:ext cx="5291400" cy="538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3500">
                <a:latin typeface="Trebuchet MS"/>
                <a:ea typeface="Trebuchet MS"/>
                <a:cs typeface="Trebuchet MS"/>
                <a:sym typeface="Trebuchet MS"/>
              </a:rPr>
              <a:t>Condicionales en Python</a:t>
            </a:r>
            <a:endParaRPr sz="3500">
              <a:latin typeface="Trebuchet MS"/>
              <a:ea typeface="Trebuchet MS"/>
              <a:cs typeface="Trebuchet MS"/>
              <a:sym typeface="Trebuchet MS"/>
            </a:endParaRPr>
          </a:p>
        </p:txBody>
      </p:sp>
      <p:sp>
        <p:nvSpPr>
          <p:cNvPr id="322" name="Google Shape;322;g1dd6d73f377_2_119"/>
          <p:cNvSpPr txBox="1"/>
          <p:nvPr/>
        </p:nvSpPr>
        <p:spPr>
          <a:xfrm>
            <a:off x="817625" y="1906025"/>
            <a:ext cx="5079300"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if</a:t>
            </a:r>
            <a:r>
              <a:rPr b="0" i="0" lang="en-US" sz="2000" u="none" cap="none" strike="noStrike">
                <a:solidFill>
                  <a:srgbClr val="000000"/>
                </a:solidFill>
                <a:latin typeface="Trebuchet MS"/>
                <a:ea typeface="Trebuchet MS"/>
                <a:cs typeface="Trebuchet MS"/>
                <a:sym typeface="Trebuchet MS"/>
              </a:rPr>
              <a:t> para especificar un bloque de código a ejecutar, si una condición especificada es verdadera.</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p:txBody>
      </p:sp>
      <p:sp>
        <p:nvSpPr>
          <p:cNvPr id="323" name="Google Shape;323;g1dd6d73f377_2_11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g1dd6d73f377_2_11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325" name="Google Shape;325;g1dd6d73f377_2_119"/>
          <p:cNvSpPr txBox="1"/>
          <p:nvPr/>
        </p:nvSpPr>
        <p:spPr>
          <a:xfrm>
            <a:off x="6894125" y="1906025"/>
            <a:ext cx="50793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p:txBody>
      </p:sp>
      <p:sp>
        <p:nvSpPr>
          <p:cNvPr id="326" name="Google Shape;326;g1dd6d73f377_2_119"/>
          <p:cNvSpPr/>
          <p:nvPr/>
        </p:nvSpPr>
        <p:spPr>
          <a:xfrm>
            <a:off x="6176650" y="2295875"/>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0" name="Shape 330"/>
        <p:cNvGrpSpPr/>
        <p:nvPr/>
      </p:nvGrpSpPr>
      <p:grpSpPr>
        <a:xfrm>
          <a:off x="0" y="0"/>
          <a:ext cx="0" cy="0"/>
          <a:chOff x="0" y="0"/>
          <a:chExt cx="0" cy="0"/>
        </a:xfrm>
      </p:grpSpPr>
      <p:sp>
        <p:nvSpPr>
          <p:cNvPr id="331" name="Google Shape;331;g1dd2b324201_0_3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32" name="Google Shape;332;g1dd2b324201_0_3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33" name="Google Shape;333;g1dd2b324201_0_3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1dd2b324201_0_3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35" name="Google Shape;335;g1dd2b324201_0_3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1dd2b324201_0_32"/>
          <p:cNvSpPr txBox="1"/>
          <p:nvPr>
            <p:ph type="title"/>
          </p:nvPr>
        </p:nvSpPr>
        <p:spPr>
          <a:xfrm>
            <a:off x="3893675" y="893650"/>
            <a:ext cx="5291400" cy="538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3500">
                <a:latin typeface="Trebuchet MS"/>
                <a:ea typeface="Trebuchet MS"/>
                <a:cs typeface="Trebuchet MS"/>
                <a:sym typeface="Trebuchet MS"/>
              </a:rPr>
              <a:t>Condicionales en Python</a:t>
            </a:r>
            <a:endParaRPr sz="3500">
              <a:latin typeface="Trebuchet MS"/>
              <a:ea typeface="Trebuchet MS"/>
              <a:cs typeface="Trebuchet MS"/>
              <a:sym typeface="Trebuchet MS"/>
            </a:endParaRPr>
          </a:p>
        </p:txBody>
      </p:sp>
      <p:sp>
        <p:nvSpPr>
          <p:cNvPr id="337" name="Google Shape;337;g1dd2b324201_0_32"/>
          <p:cNvSpPr txBox="1"/>
          <p:nvPr/>
        </p:nvSpPr>
        <p:spPr>
          <a:xfrm>
            <a:off x="817625" y="1906025"/>
            <a:ext cx="5079300" cy="3570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if</a:t>
            </a:r>
            <a:r>
              <a:rPr b="0" i="0" lang="en-US" sz="2000" u="none" cap="none" strike="noStrike">
                <a:solidFill>
                  <a:srgbClr val="000000"/>
                </a:solidFill>
                <a:latin typeface="Trebuchet MS"/>
                <a:ea typeface="Trebuchet MS"/>
                <a:cs typeface="Trebuchet MS"/>
                <a:sym typeface="Trebuchet MS"/>
              </a:rPr>
              <a:t> para especificar un bloque de código a ejecutar, si una condición especificada es verdadera.</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else</a:t>
            </a:r>
            <a:r>
              <a:rPr b="0" i="0" lang="en-US" sz="2000" u="none" cap="none" strike="noStrike">
                <a:solidFill>
                  <a:srgbClr val="000000"/>
                </a:solidFill>
                <a:latin typeface="Trebuchet MS"/>
                <a:ea typeface="Trebuchet MS"/>
                <a:cs typeface="Trebuchet MS"/>
                <a:sym typeface="Trebuchet MS"/>
              </a:rPr>
              <a:t> para especificar un bloque de código a ejecutar, si la misma condición es falsa.</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p:txBody>
      </p:sp>
      <p:sp>
        <p:nvSpPr>
          <p:cNvPr id="338" name="Google Shape;338;g1dd2b324201_0_3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g1dd2b324201_0_3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340" name="Google Shape;340;g1dd2b324201_0_32"/>
          <p:cNvSpPr txBox="1"/>
          <p:nvPr/>
        </p:nvSpPr>
        <p:spPr>
          <a:xfrm>
            <a:off x="6894125" y="1906025"/>
            <a:ext cx="50793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p:txBody>
      </p:sp>
      <p:sp>
        <p:nvSpPr>
          <p:cNvPr id="341" name="Google Shape;341;g1dd2b324201_0_32"/>
          <p:cNvSpPr txBox="1"/>
          <p:nvPr/>
        </p:nvSpPr>
        <p:spPr>
          <a:xfrm>
            <a:off x="6894125" y="3077713"/>
            <a:ext cx="50793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else</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"a is greater than b"</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p:txBody>
      </p:sp>
      <p:sp>
        <p:nvSpPr>
          <p:cNvPr id="342" name="Google Shape;342;g1dd2b324201_0_32"/>
          <p:cNvSpPr/>
          <p:nvPr/>
        </p:nvSpPr>
        <p:spPr>
          <a:xfrm>
            <a:off x="6176650" y="2295875"/>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1dd2b324201_0_32"/>
          <p:cNvSpPr/>
          <p:nvPr/>
        </p:nvSpPr>
        <p:spPr>
          <a:xfrm>
            <a:off x="6163925" y="3781350"/>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7" name="Shape 347"/>
        <p:cNvGrpSpPr/>
        <p:nvPr/>
      </p:nvGrpSpPr>
      <p:grpSpPr>
        <a:xfrm>
          <a:off x="0" y="0"/>
          <a:ext cx="0" cy="0"/>
          <a:chOff x="0" y="0"/>
          <a:chExt cx="0" cy="0"/>
        </a:xfrm>
      </p:grpSpPr>
      <p:sp>
        <p:nvSpPr>
          <p:cNvPr id="348" name="Google Shape;348;g1dd6d73f377_2_13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49" name="Google Shape;349;g1dd6d73f377_2_13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50" name="Google Shape;350;g1dd6d73f377_2_13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g1dd6d73f377_2_13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52" name="Google Shape;352;g1dd6d73f377_2_13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1dd6d73f377_2_137"/>
          <p:cNvSpPr txBox="1"/>
          <p:nvPr>
            <p:ph type="title"/>
          </p:nvPr>
        </p:nvSpPr>
        <p:spPr>
          <a:xfrm>
            <a:off x="3893675" y="893650"/>
            <a:ext cx="5291400" cy="538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3500">
                <a:latin typeface="Trebuchet MS"/>
                <a:ea typeface="Trebuchet MS"/>
                <a:cs typeface="Trebuchet MS"/>
                <a:sym typeface="Trebuchet MS"/>
              </a:rPr>
              <a:t>Condicionales en Python</a:t>
            </a:r>
            <a:endParaRPr sz="3500">
              <a:latin typeface="Trebuchet MS"/>
              <a:ea typeface="Trebuchet MS"/>
              <a:cs typeface="Trebuchet MS"/>
              <a:sym typeface="Trebuchet MS"/>
            </a:endParaRPr>
          </a:p>
        </p:txBody>
      </p:sp>
      <p:sp>
        <p:nvSpPr>
          <p:cNvPr id="354" name="Google Shape;354;g1dd6d73f377_2_137"/>
          <p:cNvSpPr txBox="1"/>
          <p:nvPr/>
        </p:nvSpPr>
        <p:spPr>
          <a:xfrm>
            <a:off x="817625" y="1906025"/>
            <a:ext cx="5079300" cy="4186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if</a:t>
            </a:r>
            <a:r>
              <a:rPr b="0" i="0" lang="en-US" sz="2000" u="none" cap="none" strike="noStrike">
                <a:solidFill>
                  <a:srgbClr val="000000"/>
                </a:solidFill>
                <a:latin typeface="Trebuchet MS"/>
                <a:ea typeface="Trebuchet MS"/>
                <a:cs typeface="Trebuchet MS"/>
                <a:sym typeface="Trebuchet MS"/>
              </a:rPr>
              <a:t> para especificar un bloque de código a ejecutar, si una condición especificada es verdadera.</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else</a:t>
            </a:r>
            <a:r>
              <a:rPr b="0" i="0" lang="en-US" sz="2000" u="none" cap="none" strike="noStrike">
                <a:solidFill>
                  <a:srgbClr val="000000"/>
                </a:solidFill>
                <a:latin typeface="Trebuchet MS"/>
                <a:ea typeface="Trebuchet MS"/>
                <a:cs typeface="Trebuchet MS"/>
                <a:sym typeface="Trebuchet MS"/>
              </a:rPr>
              <a:t> para especificar un bloque de código a ejecutar, si la misma condición es falsa.</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Se utiliza </a:t>
            </a:r>
            <a:r>
              <a:rPr b="0" i="0" lang="en-US" sz="2000" u="none" cap="none" strike="noStrike">
                <a:solidFill>
                  <a:srgbClr val="000000"/>
                </a:solidFill>
                <a:latin typeface="Courier New"/>
                <a:ea typeface="Courier New"/>
                <a:cs typeface="Courier New"/>
                <a:sym typeface="Courier New"/>
              </a:rPr>
              <a:t>elif</a:t>
            </a:r>
            <a:r>
              <a:rPr b="0" i="0" lang="en-US" sz="2000" u="none" cap="none" strike="noStrike">
                <a:solidFill>
                  <a:srgbClr val="000000"/>
                </a:solidFill>
                <a:latin typeface="Trebuchet MS"/>
                <a:ea typeface="Trebuchet MS"/>
                <a:cs typeface="Trebuchet MS"/>
                <a:sym typeface="Trebuchet MS"/>
              </a:rPr>
              <a:t> para especificar una nueva condición a probar, si la primera condición es falsa.</a:t>
            </a:r>
            <a:endParaRPr b="0" i="0" sz="2000" u="none" cap="none" strike="noStrike">
              <a:solidFill>
                <a:srgbClr val="000000"/>
              </a:solidFill>
              <a:latin typeface="Trebuchet MS"/>
              <a:ea typeface="Trebuchet MS"/>
              <a:cs typeface="Trebuchet MS"/>
              <a:sym typeface="Trebuchet MS"/>
            </a:endParaRPr>
          </a:p>
        </p:txBody>
      </p:sp>
      <p:sp>
        <p:nvSpPr>
          <p:cNvPr id="355" name="Google Shape;355;g1dd6d73f377_2_13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g1dd6d73f377_2_13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Condicionales</a:t>
            </a:r>
            <a:endParaRPr b="0" i="0" sz="2000" u="none" cap="none" strike="noStrike">
              <a:solidFill>
                <a:srgbClr val="003870"/>
              </a:solidFill>
              <a:latin typeface="Trebuchet MS"/>
              <a:ea typeface="Trebuchet MS"/>
              <a:cs typeface="Trebuchet MS"/>
              <a:sym typeface="Trebuchet MS"/>
            </a:endParaRPr>
          </a:p>
        </p:txBody>
      </p:sp>
      <p:sp>
        <p:nvSpPr>
          <p:cNvPr id="357" name="Google Shape;357;g1dd6d73f377_2_137"/>
          <p:cNvSpPr txBox="1"/>
          <p:nvPr/>
        </p:nvSpPr>
        <p:spPr>
          <a:xfrm>
            <a:off x="6894125" y="1906025"/>
            <a:ext cx="50793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p:txBody>
      </p:sp>
      <p:sp>
        <p:nvSpPr>
          <p:cNvPr id="358" name="Google Shape;358;g1dd6d73f377_2_137"/>
          <p:cNvSpPr txBox="1"/>
          <p:nvPr/>
        </p:nvSpPr>
        <p:spPr>
          <a:xfrm>
            <a:off x="6894125" y="3077713"/>
            <a:ext cx="50793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else</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"a is greater than b"</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p:txBody>
      </p:sp>
      <p:sp>
        <p:nvSpPr>
          <p:cNvPr id="359" name="Google Shape;359;g1dd6d73f377_2_137"/>
          <p:cNvSpPr txBox="1"/>
          <p:nvPr/>
        </p:nvSpPr>
        <p:spPr>
          <a:xfrm>
            <a:off x="6885700" y="4682025"/>
            <a:ext cx="5014500" cy="193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if </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&gt;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"b is greater than a"</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elif </a:t>
            </a:r>
            <a:r>
              <a:rPr b="1" i="0" lang="en-US" sz="1900" u="none" cap="none" strike="noStrike">
                <a:solidFill>
                  <a:schemeClr val="dk1"/>
                </a:solidFill>
                <a:highlight>
                  <a:srgbClr val="FFFFFF"/>
                </a:highlight>
                <a:latin typeface="Courier New"/>
                <a:ea typeface="Courier New"/>
                <a:cs typeface="Courier New"/>
                <a:sym typeface="Courier New"/>
              </a:rPr>
              <a:t>(a == b):</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"a and b are equal"</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00CD"/>
                </a:solidFill>
                <a:highlight>
                  <a:srgbClr val="FFFFFF"/>
                </a:highlight>
                <a:latin typeface="Courier New"/>
                <a:ea typeface="Courier New"/>
                <a:cs typeface="Courier New"/>
                <a:sym typeface="Courier New"/>
              </a:rPr>
              <a:t>else</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highlight>
                  <a:srgbClr val="FFFFFF"/>
                </a:highlight>
                <a:latin typeface="Courier New"/>
                <a:ea typeface="Courier New"/>
                <a:cs typeface="Courier New"/>
                <a:sym typeface="Courier New"/>
              </a:rPr>
              <a:t>  </a:t>
            </a:r>
            <a:r>
              <a:rPr b="1" i="0" lang="en-US" sz="1900" u="none" cap="none" strike="noStrike">
                <a:solidFill>
                  <a:srgbClr val="0000CD"/>
                </a:solidFill>
                <a:highlight>
                  <a:srgbClr val="FFFFFF"/>
                </a:highlight>
                <a:latin typeface="Courier New"/>
                <a:ea typeface="Courier New"/>
                <a:cs typeface="Courier New"/>
                <a:sym typeface="Courier New"/>
              </a:rPr>
              <a:t>print</a:t>
            </a:r>
            <a:r>
              <a:rPr b="1" i="0" lang="en-US" sz="1900" u="none" cap="none" strike="noStrike">
                <a:solidFill>
                  <a:schemeClr val="dk1"/>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"a is greater than b"</a:t>
            </a:r>
            <a:r>
              <a:rPr b="1" i="0" lang="en-US" sz="1900" u="none" cap="none" strike="noStrike">
                <a:solidFill>
                  <a:schemeClr val="dk1"/>
                </a:solidFill>
                <a:highlight>
                  <a:srgbClr val="FFFFFF"/>
                </a:highlight>
                <a:latin typeface="Courier New"/>
                <a:ea typeface="Courier New"/>
                <a:cs typeface="Courier New"/>
                <a:sym typeface="Courier New"/>
              </a:rPr>
              <a:t>)</a:t>
            </a:r>
            <a:endParaRPr b="1" i="0" sz="1900" u="none" cap="none" strike="noStrike">
              <a:solidFill>
                <a:schemeClr val="dk1"/>
              </a:solidFill>
              <a:highlight>
                <a:srgbClr val="FFFFFF"/>
              </a:highlight>
              <a:latin typeface="Courier New"/>
              <a:ea typeface="Courier New"/>
              <a:cs typeface="Courier New"/>
              <a:sym typeface="Courier New"/>
            </a:endParaRPr>
          </a:p>
        </p:txBody>
      </p:sp>
      <p:sp>
        <p:nvSpPr>
          <p:cNvPr id="360" name="Google Shape;360;g1dd6d73f377_2_137"/>
          <p:cNvSpPr/>
          <p:nvPr/>
        </p:nvSpPr>
        <p:spPr>
          <a:xfrm>
            <a:off x="6176650" y="2295875"/>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1dd6d73f377_2_137"/>
          <p:cNvSpPr/>
          <p:nvPr/>
        </p:nvSpPr>
        <p:spPr>
          <a:xfrm>
            <a:off x="6163925" y="3781350"/>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1dd6d73f377_2_137"/>
          <p:cNvSpPr/>
          <p:nvPr/>
        </p:nvSpPr>
        <p:spPr>
          <a:xfrm>
            <a:off x="6159713" y="5555475"/>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g1dcbc411a8e_0_51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g1dcbc411a8e_0_51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g1dcbc411a8e_0_51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0" name="Google Shape;370;g1dcbc411a8e_0_510"/>
          <p:cNvPicPr preferRelativeResize="0"/>
          <p:nvPr/>
        </p:nvPicPr>
        <p:blipFill rotWithShape="1">
          <a:blip r:embed="rId3">
            <a:alphaModFix/>
          </a:blip>
          <a:srcRect b="17579" l="0" r="0" t="17296"/>
          <a:stretch/>
        </p:blipFill>
        <p:spPr>
          <a:xfrm>
            <a:off x="0" y="0"/>
            <a:ext cx="2825825" cy="1051600"/>
          </a:xfrm>
          <a:prstGeom prst="rect">
            <a:avLst/>
          </a:prstGeom>
          <a:noFill/>
          <a:ln>
            <a:noFill/>
          </a:ln>
        </p:spPr>
      </p:pic>
      <p:sp>
        <p:nvSpPr>
          <p:cNvPr id="371" name="Google Shape;371;g1dcbc411a8e_0_51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1dcbc411a8e_0_51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73" name="Google Shape;373;g1dcbc411a8e_0_51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1dcbc411a8e_0_510"/>
          <p:cNvSpPr txBox="1"/>
          <p:nvPr>
            <p:ph type="title"/>
          </p:nvPr>
        </p:nvSpPr>
        <p:spPr>
          <a:xfrm>
            <a:off x="1805275" y="2401850"/>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Estructura </a:t>
            </a:r>
            <a:endParaRPr sz="6000">
              <a:latin typeface="Trebuchet MS"/>
              <a:ea typeface="Trebuchet MS"/>
              <a:cs typeface="Trebuchet MS"/>
              <a:sym typeface="Trebuchet MS"/>
            </a:endParaRPr>
          </a:p>
          <a:p>
            <a:pPr indent="0" lvl="0" marL="0" rtl="0" algn="ctr">
              <a:lnSpc>
                <a:spcPct val="100000"/>
              </a:lnSpc>
              <a:spcBef>
                <a:spcPts val="0"/>
              </a:spcBef>
              <a:spcAft>
                <a:spcPts val="0"/>
              </a:spcAft>
              <a:buSzPts val="1400"/>
              <a:buNone/>
            </a:pPr>
            <a:r>
              <a:rPr lang="en-US" sz="6000">
                <a:latin typeface="Courier New"/>
                <a:ea typeface="Courier New"/>
                <a:cs typeface="Courier New"/>
                <a:sym typeface="Courier New"/>
              </a:rPr>
              <a:t>[if]</a:t>
            </a:r>
            <a:endParaRPr sz="6000">
              <a:latin typeface="Courier New"/>
              <a:ea typeface="Courier New"/>
              <a:cs typeface="Courier New"/>
              <a:sym typeface="Courier New"/>
            </a:endParaRPr>
          </a:p>
        </p:txBody>
      </p:sp>
      <p:pic>
        <p:nvPicPr>
          <p:cNvPr id="375" name="Google Shape;375;g1dcbc411a8e_0_510"/>
          <p:cNvPicPr preferRelativeResize="0"/>
          <p:nvPr/>
        </p:nvPicPr>
        <p:blipFill rotWithShape="1">
          <a:blip r:embed="rId4">
            <a:alphaModFix/>
          </a:blip>
          <a:srcRect b="0" l="0" r="0" t="0"/>
          <a:stretch/>
        </p:blipFill>
        <p:spPr>
          <a:xfrm>
            <a:off x="457500" y="4355725"/>
            <a:ext cx="2368325" cy="2368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9" name="Shape 379"/>
        <p:cNvGrpSpPr/>
        <p:nvPr/>
      </p:nvGrpSpPr>
      <p:grpSpPr>
        <a:xfrm>
          <a:off x="0" y="0"/>
          <a:ext cx="0" cy="0"/>
          <a:chOff x="0" y="0"/>
          <a:chExt cx="0" cy="0"/>
        </a:xfrm>
      </p:grpSpPr>
      <p:sp>
        <p:nvSpPr>
          <p:cNvPr id="380" name="Google Shape;380;g1b61ca9f410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g1b61ca9f410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g1b61ca9f410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83" name="Google Shape;383;g1b61ca9f410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84" name="Google Shape;384;g1b61ca9f410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1b61ca9f410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86" name="Google Shape;386;g1b61ca9f410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1b61ca9f410_0_0"/>
          <p:cNvSpPr txBox="1"/>
          <p:nvPr/>
        </p:nvSpPr>
        <p:spPr>
          <a:xfrm>
            <a:off x="593325" y="1475525"/>
            <a:ext cx="90909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1.</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imprima “</a:t>
            </a:r>
            <a:r>
              <a:rPr b="0" i="0" lang="en-US" sz="2000" u="none" cap="none" strike="noStrike">
                <a:solidFill>
                  <a:schemeClr val="dk1"/>
                </a:solidFill>
                <a:latin typeface="Trebuchet MS"/>
                <a:ea typeface="Trebuchet MS"/>
                <a:cs typeface="Trebuchet MS"/>
                <a:sym typeface="Trebuchet MS"/>
              </a:rPr>
              <a:t>20 es mayor que 18</a:t>
            </a:r>
            <a:r>
              <a:rPr b="0" i="0" lang="en-US" sz="2000" u="none" cap="none" strike="noStrike">
                <a:solidFill>
                  <a:srgbClr val="000000"/>
                </a:solidFill>
                <a:latin typeface="Trebuchet MS"/>
                <a:ea typeface="Trebuchet MS"/>
                <a:cs typeface="Trebuchet MS"/>
                <a:sym typeface="Trebuchet MS"/>
              </a:rPr>
              <a:t>” si el número 20 es mayor que el número 18.</a:t>
            </a:r>
            <a:endParaRPr b="0" i="0" sz="2000" u="none" cap="none" strike="noStrike">
              <a:solidFill>
                <a:srgbClr val="000000"/>
              </a:solidFill>
              <a:latin typeface="Trebuchet MS"/>
              <a:ea typeface="Trebuchet MS"/>
              <a:cs typeface="Trebuchet MS"/>
              <a:sym typeface="Trebuchet MS"/>
            </a:endParaRPr>
          </a:p>
        </p:txBody>
      </p:sp>
      <p:sp>
        <p:nvSpPr>
          <p:cNvPr id="388" name="Google Shape;388;g1b61ca9f410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g1b61ca9f410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Java</a:t>
            </a:r>
            <a:endParaRPr b="0" i="0" sz="2000" u="none" cap="none" strike="noStrike">
              <a:solidFill>
                <a:srgbClr val="003870"/>
              </a:solidFill>
              <a:latin typeface="Trebuchet MS"/>
              <a:ea typeface="Trebuchet MS"/>
              <a:cs typeface="Trebuchet MS"/>
              <a:sym typeface="Trebuchet MS"/>
            </a:endParaRPr>
          </a:p>
        </p:txBody>
      </p:sp>
      <p:pic>
        <p:nvPicPr>
          <p:cNvPr id="390" name="Google Shape;390;g1b61ca9f410_0_0"/>
          <p:cNvPicPr preferRelativeResize="0"/>
          <p:nvPr/>
        </p:nvPicPr>
        <p:blipFill rotWithShape="1">
          <a:blip r:embed="rId4">
            <a:alphaModFix/>
          </a:blip>
          <a:srcRect b="0" l="0" r="0" t="0"/>
          <a:stretch/>
        </p:blipFill>
        <p:spPr>
          <a:xfrm>
            <a:off x="10034350" y="1475525"/>
            <a:ext cx="1508700" cy="1508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4" name="Shape 394"/>
        <p:cNvGrpSpPr/>
        <p:nvPr/>
      </p:nvGrpSpPr>
      <p:grpSpPr>
        <a:xfrm>
          <a:off x="0" y="0"/>
          <a:ext cx="0" cy="0"/>
          <a:chOff x="0" y="0"/>
          <a:chExt cx="0" cy="0"/>
        </a:xfrm>
      </p:grpSpPr>
      <p:sp>
        <p:nvSpPr>
          <p:cNvPr id="395" name="Google Shape;395;g1dd6d73f377_2_15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g1dd6d73f377_2_15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g1dd6d73f377_2_15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98" name="Google Shape;398;g1dd6d73f377_2_15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99" name="Google Shape;399;g1dd6d73f377_2_15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1dd6d73f377_2_15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01" name="Google Shape;401;g1dd6d73f377_2_15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2" name="Google Shape;402;g1dd6d73f377_2_157"/>
          <p:cNvPicPr preferRelativeResize="0"/>
          <p:nvPr/>
        </p:nvPicPr>
        <p:blipFill rotWithShape="1">
          <a:blip r:embed="rId4">
            <a:alphaModFix/>
          </a:blip>
          <a:srcRect b="0" l="0" r="0" t="0"/>
          <a:stretch/>
        </p:blipFill>
        <p:spPr>
          <a:xfrm>
            <a:off x="10034350" y="1475525"/>
            <a:ext cx="1508700" cy="1508700"/>
          </a:xfrm>
          <a:prstGeom prst="rect">
            <a:avLst/>
          </a:prstGeom>
          <a:noFill/>
          <a:ln>
            <a:noFill/>
          </a:ln>
        </p:spPr>
      </p:pic>
      <p:sp>
        <p:nvSpPr>
          <p:cNvPr id="403" name="Google Shape;403;g1dd6d73f377_2_157"/>
          <p:cNvSpPr txBox="1"/>
          <p:nvPr/>
        </p:nvSpPr>
        <p:spPr>
          <a:xfrm>
            <a:off x="593325" y="1475525"/>
            <a:ext cx="90909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1.</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imprima “</a:t>
            </a:r>
            <a:r>
              <a:rPr b="0" i="0" lang="en-US" sz="2000" u="none" cap="none" strike="noStrike">
                <a:solidFill>
                  <a:schemeClr val="dk1"/>
                </a:solidFill>
                <a:latin typeface="Trebuchet MS"/>
                <a:ea typeface="Trebuchet MS"/>
                <a:cs typeface="Trebuchet MS"/>
                <a:sym typeface="Trebuchet MS"/>
              </a:rPr>
              <a:t>20 es mayor que 18</a:t>
            </a:r>
            <a:r>
              <a:rPr b="0" i="0" lang="en-US" sz="2000" u="none" cap="none" strike="noStrike">
                <a:solidFill>
                  <a:srgbClr val="000000"/>
                </a:solidFill>
                <a:latin typeface="Trebuchet MS"/>
                <a:ea typeface="Trebuchet MS"/>
                <a:cs typeface="Trebuchet MS"/>
                <a:sym typeface="Trebuchet MS"/>
              </a:rPr>
              <a:t>” si el número 20 es mayor que el número 18.</a:t>
            </a:r>
            <a:endParaRPr b="0" i="0" sz="2000" u="none" cap="none" strike="noStrike">
              <a:solidFill>
                <a:srgbClr val="000000"/>
              </a:solidFill>
              <a:latin typeface="Trebuchet MS"/>
              <a:ea typeface="Trebuchet MS"/>
              <a:cs typeface="Trebuchet MS"/>
              <a:sym typeface="Trebuchet MS"/>
            </a:endParaRPr>
          </a:p>
        </p:txBody>
      </p:sp>
      <p:sp>
        <p:nvSpPr>
          <p:cNvPr id="404" name="Google Shape;404;g1dd6d73f377_2_15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g1dd6d73f377_2_15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Java</a:t>
            </a:r>
            <a:endParaRPr b="0" i="0" sz="2000" u="none" cap="none" strike="noStrike">
              <a:solidFill>
                <a:srgbClr val="003870"/>
              </a:solidFill>
              <a:latin typeface="Trebuchet MS"/>
              <a:ea typeface="Trebuchet MS"/>
              <a:cs typeface="Trebuchet MS"/>
              <a:sym typeface="Trebuchet MS"/>
            </a:endParaRPr>
          </a:p>
        </p:txBody>
      </p:sp>
      <p:sp>
        <p:nvSpPr>
          <p:cNvPr id="406" name="Google Shape;406;g1dd6d73f377_2_157"/>
          <p:cNvSpPr txBox="1"/>
          <p:nvPr>
            <p:ph type="title"/>
          </p:nvPr>
        </p:nvSpPr>
        <p:spPr>
          <a:xfrm>
            <a:off x="711825" y="3168750"/>
            <a:ext cx="7168200" cy="1077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2000">
                <a:solidFill>
                  <a:srgbClr val="0077AA"/>
                </a:solidFill>
                <a:highlight>
                  <a:srgbClr val="FFFFFF"/>
                </a:highlight>
                <a:latin typeface="Courier New"/>
                <a:ea typeface="Courier New"/>
                <a:cs typeface="Courier New"/>
                <a:sym typeface="Courier New"/>
              </a:rPr>
              <a:t>if</a:t>
            </a:r>
            <a:r>
              <a:rPr b="1"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20</a:t>
            </a:r>
            <a:r>
              <a:rPr lang="en-US" sz="2000">
                <a:solidFill>
                  <a:schemeClr val="dk1"/>
                </a:solidFill>
                <a:highlight>
                  <a:srgbClr val="FFFFFF"/>
                </a:highlight>
                <a:latin typeface="Courier New"/>
                <a:ea typeface="Courier New"/>
                <a:cs typeface="Courier New"/>
                <a:sym typeface="Courier New"/>
              </a:rPr>
              <a:t> </a:t>
            </a:r>
            <a:r>
              <a:rPr lang="en-US" sz="2000">
                <a:solidFill>
                  <a:srgbClr val="9A6E3A"/>
                </a:solidFill>
                <a:highlight>
                  <a:srgbClr val="FFFFFF"/>
                </a:highlight>
                <a:latin typeface="Courier New"/>
                <a:ea typeface="Courier New"/>
                <a:cs typeface="Courier New"/>
                <a:sym typeface="Courier New"/>
              </a:rPr>
              <a:t>&gt;</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18</a:t>
            </a:r>
            <a:r>
              <a:rPr b="1" lang="en-US" sz="2000">
                <a:solidFill>
                  <a:schemeClr val="dk1"/>
                </a:solidFill>
                <a:highlight>
                  <a:srgbClr val="FFFFFF"/>
                </a:highlight>
                <a:latin typeface="Courier New"/>
                <a:ea typeface="Courier New"/>
                <a:cs typeface="Courier New"/>
                <a:sym typeface="Courier New"/>
              </a:rPr>
              <a:t>) {</a:t>
            </a:r>
            <a:endParaRPr b="1" sz="20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rPr b="1" lang="en-US" sz="2000">
                <a:solidFill>
                  <a:schemeClr val="dk1"/>
                </a:solidFill>
                <a:highlight>
                  <a:srgbClr val="FFFFFF"/>
                </a:highlight>
                <a:latin typeface="Courier New"/>
                <a:ea typeface="Courier New"/>
                <a:cs typeface="Courier New"/>
                <a:sym typeface="Courier New"/>
              </a:rPr>
              <a:t>  </a:t>
            </a:r>
            <a:r>
              <a:rPr b="1" lang="en-US" sz="2000">
                <a:solidFill>
                  <a:srgbClr val="DD4A68"/>
                </a:solidFill>
                <a:highlight>
                  <a:srgbClr val="FFFFFF"/>
                </a:highlight>
                <a:latin typeface="Courier New"/>
                <a:ea typeface="Courier New"/>
                <a:cs typeface="Courier New"/>
                <a:sym typeface="Courier New"/>
              </a:rPr>
              <a:t>System</a:t>
            </a:r>
            <a:r>
              <a:rPr b="1" lang="en-US" sz="2000">
                <a:solidFill>
                  <a:srgbClr val="999999"/>
                </a:solidFill>
                <a:highlight>
                  <a:srgbClr val="FFFFFF"/>
                </a:highlight>
                <a:latin typeface="Courier New"/>
                <a:ea typeface="Courier New"/>
                <a:cs typeface="Courier New"/>
                <a:sym typeface="Courier New"/>
              </a:rPr>
              <a:t>.</a:t>
            </a:r>
            <a:r>
              <a:rPr b="1" lang="en-US" sz="2000">
                <a:solidFill>
                  <a:schemeClr val="dk1"/>
                </a:solidFill>
                <a:highlight>
                  <a:srgbClr val="FFFFFF"/>
                </a:highlight>
                <a:latin typeface="Courier New"/>
                <a:ea typeface="Courier New"/>
                <a:cs typeface="Courier New"/>
                <a:sym typeface="Courier New"/>
              </a:rPr>
              <a:t>out</a:t>
            </a:r>
            <a:r>
              <a:rPr b="1" lang="en-US" sz="2000">
                <a:solidFill>
                  <a:srgbClr val="999999"/>
                </a:solidFill>
                <a:highlight>
                  <a:srgbClr val="FFFFFF"/>
                </a:highlight>
                <a:latin typeface="Courier New"/>
                <a:ea typeface="Courier New"/>
                <a:cs typeface="Courier New"/>
                <a:sym typeface="Courier New"/>
              </a:rPr>
              <a:t>.</a:t>
            </a:r>
            <a:r>
              <a:rPr b="1" lang="en-US" sz="2000">
                <a:solidFill>
                  <a:srgbClr val="DD4A68"/>
                </a:solidFill>
                <a:highlight>
                  <a:srgbClr val="FFFFFF"/>
                </a:highlight>
                <a:latin typeface="Courier New"/>
                <a:ea typeface="Courier New"/>
                <a:cs typeface="Courier New"/>
                <a:sym typeface="Courier New"/>
              </a:rPr>
              <a:t>println</a:t>
            </a:r>
            <a:r>
              <a:rPr b="1" lang="en-US" sz="2000">
                <a:solidFill>
                  <a:schemeClr val="dk1"/>
                </a:solidFill>
                <a:highlight>
                  <a:srgbClr val="FFFFFF"/>
                </a:highlight>
                <a:latin typeface="Courier New"/>
                <a:ea typeface="Courier New"/>
                <a:cs typeface="Courier New"/>
                <a:sym typeface="Courier New"/>
              </a:rPr>
              <a:t>(</a:t>
            </a:r>
            <a:r>
              <a:rPr lang="en-US" sz="2000">
                <a:solidFill>
                  <a:srgbClr val="669900"/>
                </a:solidFill>
                <a:highlight>
                  <a:srgbClr val="FFFFFF"/>
                </a:highlight>
                <a:latin typeface="Courier New"/>
                <a:ea typeface="Courier New"/>
                <a:cs typeface="Courier New"/>
                <a:sym typeface="Courier New"/>
              </a:rPr>
              <a:t>"20 es mayor que 18"</a:t>
            </a: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highlight>
                <a:srgbClr val="FFFFFF"/>
              </a:highlight>
              <a:latin typeface="Courier New"/>
              <a:ea typeface="Courier New"/>
              <a:cs typeface="Courier New"/>
              <a:sym typeface="Courier New"/>
            </a:endParaRPr>
          </a:p>
          <a:p>
            <a:pPr indent="0" lvl="0" marL="0" marR="152400" rtl="0" algn="l">
              <a:lnSpc>
                <a:spcPct val="150000"/>
              </a:lnSpc>
              <a:spcBef>
                <a:spcPts val="1200"/>
              </a:spcBef>
              <a:spcAft>
                <a:spcPts val="1200"/>
              </a:spcAft>
              <a:buSzPts val="1400"/>
              <a:buNone/>
            </a:pP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0" name="Shape 410"/>
        <p:cNvGrpSpPr/>
        <p:nvPr/>
      </p:nvGrpSpPr>
      <p:grpSpPr>
        <a:xfrm>
          <a:off x="0" y="0"/>
          <a:ext cx="0" cy="0"/>
          <a:chOff x="0" y="0"/>
          <a:chExt cx="0" cy="0"/>
        </a:xfrm>
      </p:grpSpPr>
      <p:sp>
        <p:nvSpPr>
          <p:cNvPr id="411" name="Google Shape;411;g1dd6d73f377_2_17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g1dd6d73f377_2_17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3" name="Google Shape;413;g1dd6d73f377_2_17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14" name="Google Shape;414;g1dd6d73f377_2_17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15" name="Google Shape;415;g1dd6d73f377_2_17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1dd6d73f377_2_17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17" name="Google Shape;417;g1dd6d73f377_2_17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8" name="Google Shape;418;g1dd6d73f377_2_176"/>
          <p:cNvPicPr preferRelativeResize="0"/>
          <p:nvPr/>
        </p:nvPicPr>
        <p:blipFill rotWithShape="1">
          <a:blip r:embed="rId4">
            <a:alphaModFix/>
          </a:blip>
          <a:srcRect b="0" l="0" r="0" t="0"/>
          <a:stretch/>
        </p:blipFill>
        <p:spPr>
          <a:xfrm>
            <a:off x="10034350" y="1475525"/>
            <a:ext cx="1508700" cy="1508700"/>
          </a:xfrm>
          <a:prstGeom prst="rect">
            <a:avLst/>
          </a:prstGeom>
          <a:noFill/>
          <a:ln>
            <a:noFill/>
          </a:ln>
        </p:spPr>
      </p:pic>
      <p:sp>
        <p:nvSpPr>
          <p:cNvPr id="419" name="Google Shape;419;g1dd6d73f377_2_176"/>
          <p:cNvSpPr txBox="1"/>
          <p:nvPr/>
        </p:nvSpPr>
        <p:spPr>
          <a:xfrm>
            <a:off x="593325" y="1475525"/>
            <a:ext cx="90909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1.</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imprima “</a:t>
            </a:r>
            <a:r>
              <a:rPr b="0" i="0" lang="en-US" sz="2000" u="none" cap="none" strike="noStrike">
                <a:solidFill>
                  <a:schemeClr val="dk1"/>
                </a:solidFill>
                <a:latin typeface="Trebuchet MS"/>
                <a:ea typeface="Trebuchet MS"/>
                <a:cs typeface="Trebuchet MS"/>
                <a:sym typeface="Trebuchet MS"/>
              </a:rPr>
              <a:t>20 es mayor que 18</a:t>
            </a:r>
            <a:r>
              <a:rPr b="0" i="0" lang="en-US" sz="2000" u="none" cap="none" strike="noStrike">
                <a:solidFill>
                  <a:srgbClr val="000000"/>
                </a:solidFill>
                <a:latin typeface="Trebuchet MS"/>
                <a:ea typeface="Trebuchet MS"/>
                <a:cs typeface="Trebuchet MS"/>
                <a:sym typeface="Trebuchet MS"/>
              </a:rPr>
              <a:t>” si el número 20 es mayor que el número 18.</a:t>
            </a:r>
            <a:endParaRPr b="0" i="0" sz="2000" u="none" cap="none" strike="noStrike">
              <a:solidFill>
                <a:srgbClr val="000000"/>
              </a:solidFill>
              <a:latin typeface="Trebuchet MS"/>
              <a:ea typeface="Trebuchet MS"/>
              <a:cs typeface="Trebuchet MS"/>
              <a:sym typeface="Trebuchet MS"/>
            </a:endParaRPr>
          </a:p>
        </p:txBody>
      </p:sp>
      <p:sp>
        <p:nvSpPr>
          <p:cNvPr id="420" name="Google Shape;420;g1dd6d73f377_2_17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g1dd6d73f377_2_17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Java</a:t>
            </a:r>
            <a:endParaRPr b="0" i="0" sz="2000" u="none" cap="none" strike="noStrike">
              <a:solidFill>
                <a:srgbClr val="003870"/>
              </a:solidFill>
              <a:latin typeface="Trebuchet MS"/>
              <a:ea typeface="Trebuchet MS"/>
              <a:cs typeface="Trebuchet MS"/>
              <a:sym typeface="Trebuchet MS"/>
            </a:endParaRPr>
          </a:p>
        </p:txBody>
      </p:sp>
      <p:sp>
        <p:nvSpPr>
          <p:cNvPr id="422" name="Google Shape;422;g1dd6d73f377_2_176"/>
          <p:cNvSpPr txBox="1"/>
          <p:nvPr>
            <p:ph type="title"/>
          </p:nvPr>
        </p:nvSpPr>
        <p:spPr>
          <a:xfrm>
            <a:off x="711825" y="3168750"/>
            <a:ext cx="7168200" cy="1077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2000">
                <a:solidFill>
                  <a:srgbClr val="0077AA"/>
                </a:solidFill>
                <a:highlight>
                  <a:srgbClr val="FFFFFF"/>
                </a:highlight>
                <a:latin typeface="Courier New"/>
                <a:ea typeface="Courier New"/>
                <a:cs typeface="Courier New"/>
                <a:sym typeface="Courier New"/>
              </a:rPr>
              <a:t>if</a:t>
            </a:r>
            <a:r>
              <a:rPr b="1"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20</a:t>
            </a:r>
            <a:r>
              <a:rPr lang="en-US" sz="2000">
                <a:solidFill>
                  <a:schemeClr val="dk1"/>
                </a:solidFill>
                <a:highlight>
                  <a:srgbClr val="FFFFFF"/>
                </a:highlight>
                <a:latin typeface="Courier New"/>
                <a:ea typeface="Courier New"/>
                <a:cs typeface="Courier New"/>
                <a:sym typeface="Courier New"/>
              </a:rPr>
              <a:t> </a:t>
            </a:r>
            <a:r>
              <a:rPr lang="en-US" sz="2000">
                <a:solidFill>
                  <a:srgbClr val="9A6E3A"/>
                </a:solidFill>
                <a:highlight>
                  <a:srgbClr val="FFFFFF"/>
                </a:highlight>
                <a:latin typeface="Courier New"/>
                <a:ea typeface="Courier New"/>
                <a:cs typeface="Courier New"/>
                <a:sym typeface="Courier New"/>
              </a:rPr>
              <a:t>&gt;</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18</a:t>
            </a:r>
            <a:r>
              <a:rPr b="1" lang="en-US" sz="2000">
                <a:solidFill>
                  <a:schemeClr val="dk1"/>
                </a:solidFill>
                <a:highlight>
                  <a:srgbClr val="FFFFFF"/>
                </a:highlight>
                <a:latin typeface="Courier New"/>
                <a:ea typeface="Courier New"/>
                <a:cs typeface="Courier New"/>
                <a:sym typeface="Courier New"/>
              </a:rPr>
              <a:t>) {</a:t>
            </a:r>
            <a:endParaRPr b="1" sz="20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rPr b="1" lang="en-US" sz="2000">
                <a:solidFill>
                  <a:schemeClr val="dk1"/>
                </a:solidFill>
                <a:highlight>
                  <a:srgbClr val="FFFFFF"/>
                </a:highlight>
                <a:latin typeface="Courier New"/>
                <a:ea typeface="Courier New"/>
                <a:cs typeface="Courier New"/>
                <a:sym typeface="Courier New"/>
              </a:rPr>
              <a:t>  </a:t>
            </a:r>
            <a:r>
              <a:rPr b="1" lang="en-US" sz="2000">
                <a:solidFill>
                  <a:srgbClr val="DD4A68"/>
                </a:solidFill>
                <a:highlight>
                  <a:srgbClr val="FFFFFF"/>
                </a:highlight>
                <a:latin typeface="Courier New"/>
                <a:ea typeface="Courier New"/>
                <a:cs typeface="Courier New"/>
                <a:sym typeface="Courier New"/>
              </a:rPr>
              <a:t>System</a:t>
            </a:r>
            <a:r>
              <a:rPr b="1" lang="en-US" sz="2000">
                <a:solidFill>
                  <a:srgbClr val="999999"/>
                </a:solidFill>
                <a:highlight>
                  <a:srgbClr val="FFFFFF"/>
                </a:highlight>
                <a:latin typeface="Courier New"/>
                <a:ea typeface="Courier New"/>
                <a:cs typeface="Courier New"/>
                <a:sym typeface="Courier New"/>
              </a:rPr>
              <a:t>.</a:t>
            </a:r>
            <a:r>
              <a:rPr b="1" lang="en-US" sz="2000">
                <a:solidFill>
                  <a:schemeClr val="dk1"/>
                </a:solidFill>
                <a:highlight>
                  <a:srgbClr val="FFFFFF"/>
                </a:highlight>
                <a:latin typeface="Courier New"/>
                <a:ea typeface="Courier New"/>
                <a:cs typeface="Courier New"/>
                <a:sym typeface="Courier New"/>
              </a:rPr>
              <a:t>out</a:t>
            </a:r>
            <a:r>
              <a:rPr b="1" lang="en-US" sz="2000">
                <a:solidFill>
                  <a:srgbClr val="999999"/>
                </a:solidFill>
                <a:highlight>
                  <a:srgbClr val="FFFFFF"/>
                </a:highlight>
                <a:latin typeface="Courier New"/>
                <a:ea typeface="Courier New"/>
                <a:cs typeface="Courier New"/>
                <a:sym typeface="Courier New"/>
              </a:rPr>
              <a:t>.</a:t>
            </a:r>
            <a:r>
              <a:rPr b="1" lang="en-US" sz="2000">
                <a:solidFill>
                  <a:srgbClr val="DD4A68"/>
                </a:solidFill>
                <a:highlight>
                  <a:srgbClr val="FFFFFF"/>
                </a:highlight>
                <a:latin typeface="Courier New"/>
                <a:ea typeface="Courier New"/>
                <a:cs typeface="Courier New"/>
                <a:sym typeface="Courier New"/>
              </a:rPr>
              <a:t>println</a:t>
            </a:r>
            <a:r>
              <a:rPr b="1" lang="en-US" sz="2000">
                <a:solidFill>
                  <a:schemeClr val="dk1"/>
                </a:solidFill>
                <a:highlight>
                  <a:srgbClr val="FFFFFF"/>
                </a:highlight>
                <a:latin typeface="Courier New"/>
                <a:ea typeface="Courier New"/>
                <a:cs typeface="Courier New"/>
                <a:sym typeface="Courier New"/>
              </a:rPr>
              <a:t>(</a:t>
            </a:r>
            <a:r>
              <a:rPr lang="en-US" sz="2000">
                <a:solidFill>
                  <a:srgbClr val="669900"/>
                </a:solidFill>
                <a:highlight>
                  <a:srgbClr val="FFFFFF"/>
                </a:highlight>
                <a:latin typeface="Courier New"/>
                <a:ea typeface="Courier New"/>
                <a:cs typeface="Courier New"/>
                <a:sym typeface="Courier New"/>
              </a:rPr>
              <a:t>"20 es mayor que 18"</a:t>
            </a: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highlight>
                <a:srgbClr val="FFFFFF"/>
              </a:highlight>
              <a:latin typeface="Courier New"/>
              <a:ea typeface="Courier New"/>
              <a:cs typeface="Courier New"/>
              <a:sym typeface="Courier New"/>
            </a:endParaRPr>
          </a:p>
          <a:p>
            <a:pPr indent="0" lvl="0" marL="0" marR="152400" rtl="0" algn="l">
              <a:lnSpc>
                <a:spcPct val="150000"/>
              </a:lnSpc>
              <a:spcBef>
                <a:spcPts val="1200"/>
              </a:spcBef>
              <a:spcAft>
                <a:spcPts val="1200"/>
              </a:spcAft>
              <a:buSzPts val="1400"/>
              <a:buNone/>
            </a:pP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latin typeface="Courier New"/>
              <a:ea typeface="Courier New"/>
              <a:cs typeface="Courier New"/>
              <a:sym typeface="Courier New"/>
            </a:endParaRPr>
          </a:p>
        </p:txBody>
      </p:sp>
      <p:sp>
        <p:nvSpPr>
          <p:cNvPr id="423" name="Google Shape;423;g1dd6d73f377_2_176"/>
          <p:cNvSpPr txBox="1"/>
          <p:nvPr/>
        </p:nvSpPr>
        <p:spPr>
          <a:xfrm>
            <a:off x="5054800" y="4307300"/>
            <a:ext cx="6739800" cy="1954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75000"/>
              </a:lnSpc>
              <a:spcBef>
                <a:spcPts val="0"/>
              </a:spcBef>
              <a:spcAft>
                <a:spcPts val="0"/>
              </a:spcAft>
              <a:buClr>
                <a:srgbClr val="000000"/>
              </a:buClr>
              <a:buSzPts val="2000"/>
              <a:buFont typeface="Arial"/>
              <a:buNone/>
            </a:pPr>
            <a:r>
              <a:rPr b="1" i="0" lang="en-US" sz="2000" u="none" cap="none" strike="noStrike">
                <a:solidFill>
                  <a:srgbClr val="0077AA"/>
                </a:solidFill>
                <a:highlight>
                  <a:srgbClr val="FFFFFF"/>
                </a:highlight>
                <a:latin typeface="Courier New"/>
                <a:ea typeface="Courier New"/>
                <a:cs typeface="Courier New"/>
                <a:sym typeface="Courier New"/>
              </a:rPr>
              <a:t>int</a:t>
            </a:r>
            <a:r>
              <a:rPr b="1"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chemeClr val="dk1"/>
                </a:solidFill>
                <a:highlight>
                  <a:srgbClr val="FFFFFF"/>
                </a:highlight>
                <a:latin typeface="Courier New"/>
                <a:ea typeface="Courier New"/>
                <a:cs typeface="Courier New"/>
                <a:sym typeface="Courier New"/>
              </a:rPr>
              <a:t>x </a:t>
            </a:r>
            <a:r>
              <a:rPr b="0" i="0" lang="en-US" sz="2000" u="none" cap="none" strike="noStrike">
                <a:solidFill>
                  <a:srgbClr val="9A6E3A"/>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rgbClr val="990055"/>
                </a:solidFill>
                <a:highlight>
                  <a:srgbClr val="FFFFFF"/>
                </a:highlight>
                <a:latin typeface="Courier New"/>
                <a:ea typeface="Courier New"/>
                <a:cs typeface="Courier New"/>
                <a:sym typeface="Courier New"/>
              </a:rPr>
              <a:t>10</a:t>
            </a: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2000"/>
              <a:buFont typeface="Arial"/>
              <a:buNone/>
            </a:pPr>
            <a:r>
              <a:rPr b="1" i="0" lang="en-US" sz="2000" u="none" cap="none" strike="noStrike">
                <a:solidFill>
                  <a:srgbClr val="0077AA"/>
                </a:solidFill>
                <a:highlight>
                  <a:srgbClr val="FFFFFF"/>
                </a:highlight>
                <a:latin typeface="Courier New"/>
                <a:ea typeface="Courier New"/>
                <a:cs typeface="Courier New"/>
                <a:sym typeface="Courier New"/>
              </a:rPr>
              <a:t>int</a:t>
            </a:r>
            <a:r>
              <a:rPr b="1"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chemeClr val="dk1"/>
                </a:solidFill>
                <a:highlight>
                  <a:srgbClr val="FFFFFF"/>
                </a:highlight>
                <a:latin typeface="Courier New"/>
                <a:ea typeface="Courier New"/>
                <a:cs typeface="Courier New"/>
                <a:sym typeface="Courier New"/>
              </a:rPr>
              <a:t>y </a:t>
            </a:r>
            <a:r>
              <a:rPr b="0" i="0" lang="en-US" sz="2000" u="none" cap="none" strike="noStrike">
                <a:solidFill>
                  <a:srgbClr val="9A6E3A"/>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rgbClr val="990055"/>
                </a:solidFill>
                <a:highlight>
                  <a:srgbClr val="FFFFFF"/>
                </a:highlight>
                <a:latin typeface="Courier New"/>
                <a:ea typeface="Courier New"/>
                <a:cs typeface="Courier New"/>
                <a:sym typeface="Courier New"/>
              </a:rPr>
              <a:t>1</a:t>
            </a:r>
            <a:r>
              <a:rPr b="0" i="0" lang="en-US" sz="2000" u="none" cap="none" strike="noStrike">
                <a:solidFill>
                  <a:schemeClr val="dk1"/>
                </a:solidFill>
                <a:highlight>
                  <a:srgbClr val="FFFFFF"/>
                </a:highlight>
                <a:latin typeface="Courier New"/>
                <a:ea typeface="Courier New"/>
                <a:cs typeface="Courier New"/>
                <a:sym typeface="Courier New"/>
              </a:rPr>
              <a:t>;</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2000"/>
              <a:buFont typeface="Arial"/>
              <a:buNone/>
            </a:pPr>
            <a:r>
              <a:rPr b="1" i="0" lang="en-US" sz="2000" u="none" cap="none" strike="noStrike">
                <a:solidFill>
                  <a:srgbClr val="0077AA"/>
                </a:solidFill>
                <a:highlight>
                  <a:srgbClr val="FFFFFF"/>
                </a:highlight>
                <a:latin typeface="Courier New"/>
                <a:ea typeface="Courier New"/>
                <a:cs typeface="Courier New"/>
                <a:sym typeface="Courier New"/>
              </a:rPr>
              <a:t>if</a:t>
            </a:r>
            <a:r>
              <a:rPr b="1"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chemeClr val="dk1"/>
                </a:solidFill>
                <a:highlight>
                  <a:srgbClr val="FFFFFF"/>
                </a:highlight>
                <a:latin typeface="Courier New"/>
                <a:ea typeface="Courier New"/>
                <a:cs typeface="Courier New"/>
                <a:sym typeface="Courier New"/>
              </a:rPr>
              <a:t>x </a:t>
            </a:r>
            <a:r>
              <a:rPr b="0" i="0" lang="en-US" sz="2000" u="none" cap="none" strike="noStrike">
                <a:solidFill>
                  <a:srgbClr val="9A6E3A"/>
                </a:solidFill>
                <a:highlight>
                  <a:srgbClr val="FFFFFF"/>
                </a:highlight>
                <a:latin typeface="Courier New"/>
                <a:ea typeface="Courier New"/>
                <a:cs typeface="Courier New"/>
                <a:sym typeface="Courier New"/>
              </a:rPr>
              <a:t>&gt;</a:t>
            </a:r>
            <a:r>
              <a:rPr b="0" i="0" lang="en-US" sz="2000" u="none" cap="none" strike="noStrike">
                <a:solidFill>
                  <a:schemeClr val="dk1"/>
                </a:solidFill>
                <a:highlight>
                  <a:srgbClr val="FFFFFF"/>
                </a:highlight>
                <a:latin typeface="Courier New"/>
                <a:ea typeface="Courier New"/>
                <a:cs typeface="Courier New"/>
                <a:sym typeface="Courier New"/>
              </a:rPr>
              <a:t> y</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2000"/>
              <a:buFont typeface="Arial"/>
              <a:buNone/>
            </a:pPr>
            <a:r>
              <a:rPr b="1" i="0" lang="en-US" sz="2000" u="none" cap="none" strike="noStrike">
                <a:solidFill>
                  <a:srgbClr val="DD4A68"/>
                </a:solidFill>
                <a:highlight>
                  <a:srgbClr val="FFFFFF"/>
                </a:highlight>
                <a:latin typeface="Courier New"/>
                <a:ea typeface="Courier New"/>
                <a:cs typeface="Courier New"/>
                <a:sym typeface="Courier New"/>
              </a:rPr>
              <a:t>  System</a:t>
            </a:r>
            <a:r>
              <a:rPr b="1" i="0" lang="en-US" sz="2000" u="none" cap="none" strike="noStrike">
                <a:solidFill>
                  <a:srgbClr val="999999"/>
                </a:solidFill>
                <a:highlight>
                  <a:srgbClr val="FFFFFF"/>
                </a:highlight>
                <a:latin typeface="Courier New"/>
                <a:ea typeface="Courier New"/>
                <a:cs typeface="Courier New"/>
                <a:sym typeface="Courier New"/>
              </a:rPr>
              <a:t>.</a:t>
            </a:r>
            <a:r>
              <a:rPr b="1" i="0" lang="en-US" sz="2000" u="none" cap="none" strike="noStrike">
                <a:solidFill>
                  <a:schemeClr val="dk1"/>
                </a:solidFill>
                <a:highlight>
                  <a:srgbClr val="FFFFFF"/>
                </a:highlight>
                <a:latin typeface="Courier New"/>
                <a:ea typeface="Courier New"/>
                <a:cs typeface="Courier New"/>
                <a:sym typeface="Courier New"/>
              </a:rPr>
              <a:t>out</a:t>
            </a:r>
            <a:r>
              <a:rPr b="1" i="0" lang="en-US" sz="2000" u="none" cap="none" strike="noStrike">
                <a:solidFill>
                  <a:srgbClr val="999999"/>
                </a:solidFill>
                <a:highlight>
                  <a:srgbClr val="FFFFFF"/>
                </a:highlight>
                <a:latin typeface="Courier New"/>
                <a:ea typeface="Courier New"/>
                <a:cs typeface="Courier New"/>
                <a:sym typeface="Courier New"/>
              </a:rPr>
              <a:t>.</a:t>
            </a:r>
            <a:r>
              <a:rPr b="1" i="0" lang="en-US" sz="2000" u="none" cap="none" strike="noStrike">
                <a:solidFill>
                  <a:srgbClr val="DD4A68"/>
                </a:solidFill>
                <a:highlight>
                  <a:srgbClr val="FFFFFF"/>
                </a:highlight>
                <a:latin typeface="Courier New"/>
                <a:ea typeface="Courier New"/>
                <a:cs typeface="Courier New"/>
                <a:sym typeface="Courier New"/>
              </a:rPr>
              <a:t>println</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rgbClr val="669900"/>
                </a:solidFill>
                <a:highlight>
                  <a:srgbClr val="FFFFFF"/>
                </a:highlight>
                <a:latin typeface="Courier New"/>
                <a:ea typeface="Courier New"/>
                <a:cs typeface="Courier New"/>
                <a:sym typeface="Courier New"/>
              </a:rPr>
              <a:t>"x </a:t>
            </a:r>
            <a:r>
              <a:rPr b="0" i="0" lang="en-US" sz="2000" u="none" cap="none" strike="noStrike">
                <a:solidFill>
                  <a:srgbClr val="669900"/>
                </a:solidFill>
                <a:highlight>
                  <a:schemeClr val="lt1"/>
                </a:highlight>
                <a:latin typeface="Courier New"/>
                <a:ea typeface="Courier New"/>
                <a:cs typeface="Courier New"/>
                <a:sym typeface="Courier New"/>
              </a:rPr>
              <a:t>es mayor que</a:t>
            </a:r>
            <a:r>
              <a:rPr b="0" i="0" lang="en-US" sz="2000" u="none" cap="none" strike="noStrike">
                <a:solidFill>
                  <a:srgbClr val="669900"/>
                </a:solidFill>
                <a:highlight>
                  <a:srgbClr val="FFFFFF"/>
                </a:highlight>
                <a:latin typeface="Courier New"/>
                <a:ea typeface="Courier New"/>
                <a:cs typeface="Courier New"/>
                <a:sym typeface="Courier New"/>
              </a:rPr>
              <a:t> y"</a:t>
            </a: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1200"/>
              </a:spcAft>
              <a:buClr>
                <a:srgbClr val="000000"/>
              </a:buClr>
              <a:buSzPts val="2000"/>
              <a:buFont typeface="Arial"/>
              <a:buNone/>
            </a:pP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424" name="Google Shape;424;g1dd6d73f377_2_176"/>
          <p:cNvSpPr txBox="1"/>
          <p:nvPr/>
        </p:nvSpPr>
        <p:spPr>
          <a:xfrm>
            <a:off x="889500" y="4950275"/>
            <a:ext cx="3519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Comparando dos números enteros</a:t>
            </a:r>
            <a:endParaRPr b="0" i="0" sz="2000" u="none" cap="none" strike="noStrike">
              <a:solidFill>
                <a:srgbClr val="000000"/>
              </a:solidFill>
              <a:latin typeface="Trebuchet MS"/>
              <a:ea typeface="Trebuchet MS"/>
              <a:cs typeface="Trebuchet MS"/>
              <a:sym typeface="Trebuchet MS"/>
            </a:endParaRPr>
          </a:p>
        </p:txBody>
      </p:sp>
      <p:sp>
        <p:nvSpPr>
          <p:cNvPr id="425" name="Google Shape;425;g1dd6d73f377_2_176"/>
          <p:cNvSpPr/>
          <p:nvPr/>
        </p:nvSpPr>
        <p:spPr>
          <a:xfrm>
            <a:off x="4408500" y="5254175"/>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429" name="Shape 429"/>
        <p:cNvGrpSpPr/>
        <p:nvPr/>
      </p:nvGrpSpPr>
      <p:grpSpPr>
        <a:xfrm>
          <a:off x="0" y="0"/>
          <a:ext cx="0" cy="0"/>
          <a:chOff x="0" y="0"/>
          <a:chExt cx="0" cy="0"/>
        </a:xfrm>
      </p:grpSpPr>
      <p:sp>
        <p:nvSpPr>
          <p:cNvPr id="430" name="Google Shape;430;g20e6a75d8f8_0_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g20e6a75d8f8_0_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g20e6a75d8f8_0_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33" name="Google Shape;433;g20e6a75d8f8_0_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34" name="Google Shape;434;g20e6a75d8f8_0_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20e6a75d8f8_0_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36" name="Google Shape;436;g20e6a75d8f8_0_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20e6a75d8f8_0_9"/>
          <p:cNvSpPr txBox="1"/>
          <p:nvPr/>
        </p:nvSpPr>
        <p:spPr>
          <a:xfrm>
            <a:off x="514850" y="2706513"/>
            <a:ext cx="7248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66D9EF"/>
                </a:solidFill>
                <a:latin typeface="Trebuchet MS"/>
                <a:ea typeface="Trebuchet MS"/>
                <a:cs typeface="Trebuchet MS"/>
                <a:sym typeface="Trebuchet MS"/>
              </a:rPr>
              <a:t>if</a:t>
            </a:r>
            <a:r>
              <a:rPr b="0" i="0" lang="en-US" sz="2000" u="none" cap="none" strike="noStrike">
                <a:solidFill>
                  <a:schemeClr val="dk1"/>
                </a:solidFill>
                <a:latin typeface="Trebuchet MS"/>
                <a:ea typeface="Trebuchet MS"/>
                <a:cs typeface="Trebuchet MS"/>
                <a:sym typeface="Trebuchet MS"/>
              </a:rPr>
              <a:t> (nevando &amp;&amp; (temperatura &gt;= </a:t>
            </a:r>
            <a:r>
              <a:rPr b="0" i="0" lang="en-US" sz="2000" u="none" cap="none" strike="noStrike">
                <a:solidFill>
                  <a:srgbClr val="AE81FF"/>
                </a:solidFill>
                <a:latin typeface="Trebuchet MS"/>
                <a:ea typeface="Trebuchet MS"/>
                <a:cs typeface="Trebuchet MS"/>
                <a:sym typeface="Trebuchet MS"/>
              </a:rPr>
              <a:t>20</a:t>
            </a: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chemeClr val="dk1"/>
                </a:solidFill>
                <a:latin typeface="Trebuchet MS"/>
                <a:ea typeface="Trebuchet MS"/>
                <a:cs typeface="Trebuchet MS"/>
                <a:sym typeface="Trebuchet MS"/>
              </a:rPr>
              <a:t>&amp;&amp; temperatura &lt;= </a:t>
            </a:r>
            <a:r>
              <a:rPr b="0" i="0" lang="en-US" sz="2000" u="none" cap="none" strike="noStrike">
                <a:solidFill>
                  <a:srgbClr val="AE81FF"/>
                </a:solidFill>
                <a:latin typeface="Trebuchet MS"/>
                <a:ea typeface="Trebuchet MS"/>
                <a:cs typeface="Trebuchet MS"/>
                <a:sym typeface="Trebuchet MS"/>
              </a:rPr>
              <a:t>30</a:t>
            </a:r>
            <a:r>
              <a:rPr b="0" i="0" lang="en-US" sz="2000" u="none" cap="none" strike="noStrike">
                <a:solidFill>
                  <a:srgbClr val="F8F8F2"/>
                </a:solidFill>
                <a:latin typeface="Trebuchet MS"/>
                <a:ea typeface="Trebuchet MS"/>
                <a:cs typeface="Trebuchet MS"/>
                <a:sym typeface="Trebuchet MS"/>
              </a:rPr>
              <a:t>)</a:t>
            </a:r>
            <a:r>
              <a:rPr b="0" i="0" lang="en-US" sz="2000" u="none" cap="none" strike="noStrike">
                <a:solidFill>
                  <a:schemeClr val="dk1"/>
                </a:solidFill>
                <a:latin typeface="Trebuchet MS"/>
                <a:ea typeface="Trebuchet MS"/>
                <a:cs typeface="Trebuchet MS"/>
                <a:sym typeface="Trebuchet MS"/>
              </a:rPr>
              <a:t>) {</a:t>
            </a:r>
            <a:endParaRPr b="0" i="0" sz="20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chemeClr val="dk1"/>
                </a:solidFill>
                <a:latin typeface="Trebuchet MS"/>
                <a:ea typeface="Trebuchet MS"/>
                <a:cs typeface="Trebuchet MS"/>
                <a:sym typeface="Trebuchet MS"/>
              </a:rPr>
              <a:t>   System.out.</a:t>
            </a:r>
            <a:r>
              <a:rPr b="0" i="0" lang="en-US" sz="2000" u="none" cap="none" strike="noStrike">
                <a:solidFill>
                  <a:srgbClr val="FF0000"/>
                </a:solidFill>
                <a:latin typeface="Trebuchet MS"/>
                <a:ea typeface="Trebuchet MS"/>
                <a:cs typeface="Trebuchet MS"/>
                <a:sym typeface="Trebuchet MS"/>
              </a:rPr>
              <a:t>println</a:t>
            </a:r>
            <a:r>
              <a:rPr b="0" i="0" lang="en-US" sz="2000" u="none" cap="none" strike="noStrike">
                <a:solidFill>
                  <a:schemeClr val="dk1"/>
                </a:solidFill>
                <a:latin typeface="Trebuchet MS"/>
                <a:ea typeface="Trebuchet MS"/>
                <a:cs typeface="Trebuchet MS"/>
                <a:sym typeface="Trebuchet MS"/>
              </a:rPr>
              <a:t>(</a:t>
            </a:r>
            <a:r>
              <a:rPr b="0" i="0" lang="en-US" sz="2000" u="none" cap="none" strike="noStrike">
                <a:solidFill>
                  <a:srgbClr val="66D9EF"/>
                </a:solidFill>
                <a:latin typeface="Trebuchet MS"/>
                <a:ea typeface="Trebuchet MS"/>
                <a:cs typeface="Trebuchet MS"/>
                <a:sym typeface="Trebuchet MS"/>
              </a:rPr>
              <a:t>"No me lo creo"</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438" name="Google Shape;438;g20e6a75d8f8_0_9"/>
          <p:cNvSpPr txBox="1"/>
          <p:nvPr/>
        </p:nvSpPr>
        <p:spPr>
          <a:xfrm>
            <a:off x="417900" y="1731600"/>
            <a:ext cx="9737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También podemos implementar otro tipo de operadores en las estructuras condicionales, como son los booleanos </a:t>
            </a:r>
            <a:endParaRPr b="0" i="0" sz="2000" u="none" cap="none" strike="noStrike">
              <a:solidFill>
                <a:srgbClr val="000000"/>
              </a:solidFill>
              <a:latin typeface="Trebuchet MS"/>
              <a:ea typeface="Trebuchet MS"/>
              <a:cs typeface="Trebuchet MS"/>
              <a:sym typeface="Trebuchet MS"/>
            </a:endParaRPr>
          </a:p>
        </p:txBody>
      </p:sp>
      <p:sp>
        <p:nvSpPr>
          <p:cNvPr id="439" name="Google Shape;439;g20e6a75d8f8_0_9"/>
          <p:cNvSpPr txBox="1"/>
          <p:nvPr/>
        </p:nvSpPr>
        <p:spPr>
          <a:xfrm>
            <a:off x="514850" y="4210325"/>
            <a:ext cx="75975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66D9EF"/>
                </a:solidFill>
                <a:latin typeface="Trebuchet MS"/>
                <a:ea typeface="Trebuchet MS"/>
                <a:cs typeface="Trebuchet MS"/>
                <a:sym typeface="Trebuchet MS"/>
              </a:rPr>
              <a:t>if</a:t>
            </a: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chemeClr val="dk1"/>
                </a:solidFill>
                <a:latin typeface="Trebuchet MS"/>
                <a:ea typeface="Trebuchet MS"/>
                <a:cs typeface="Trebuchet MS"/>
                <a:sym typeface="Trebuchet MS"/>
              </a:rPr>
              <a:t>((temperatura &lt;</a:t>
            </a: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rgbClr val="AE81FF"/>
                </a:solidFill>
                <a:latin typeface="Trebuchet MS"/>
                <a:ea typeface="Trebuchet MS"/>
                <a:cs typeface="Trebuchet MS"/>
                <a:sym typeface="Trebuchet MS"/>
              </a:rPr>
              <a:t>0</a:t>
            </a: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chemeClr val="dk1"/>
                </a:solidFill>
                <a:latin typeface="Trebuchet MS"/>
                <a:ea typeface="Trebuchet MS"/>
                <a:cs typeface="Trebuchet MS"/>
                <a:sym typeface="Trebuchet MS"/>
              </a:rPr>
              <a:t>|| temperatura &gt;</a:t>
            </a: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rgbClr val="AE81FF"/>
                </a:solidFill>
                <a:latin typeface="Trebuchet MS"/>
                <a:ea typeface="Trebuchet MS"/>
                <a:cs typeface="Trebuchet MS"/>
                <a:sym typeface="Trebuchet MS"/>
              </a:rPr>
              <a:t>30</a:t>
            </a:r>
            <a:r>
              <a:rPr b="0" i="0" lang="en-US" sz="2000" u="none" cap="none" strike="noStrike">
                <a:solidFill>
                  <a:schemeClr val="dk1"/>
                </a:solidFill>
                <a:latin typeface="Trebuchet MS"/>
                <a:ea typeface="Trebuchet MS"/>
                <a:cs typeface="Trebuchet MS"/>
                <a:sym typeface="Trebuchet MS"/>
              </a:rPr>
              <a:t>) &amp;&amp; haceSol) {</a:t>
            </a:r>
            <a:endParaRPr b="0" i="0" sz="20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8F8F2"/>
                </a:solidFill>
                <a:latin typeface="Trebuchet MS"/>
                <a:ea typeface="Trebuchet MS"/>
                <a:cs typeface="Trebuchet MS"/>
                <a:sym typeface="Trebuchet MS"/>
              </a:rPr>
              <a:t>    </a:t>
            </a:r>
            <a:r>
              <a:rPr b="0" i="0" lang="en-US" sz="2000" u="none" cap="none" strike="noStrike">
                <a:solidFill>
                  <a:schemeClr val="dk1"/>
                </a:solidFill>
                <a:latin typeface="Trebuchet MS"/>
                <a:ea typeface="Trebuchet MS"/>
                <a:cs typeface="Trebuchet MS"/>
                <a:sym typeface="Trebuchet MS"/>
              </a:rPr>
              <a:t>System.out.</a:t>
            </a:r>
            <a:r>
              <a:rPr b="0" i="0" lang="en-US" sz="2000" u="none" cap="none" strike="noStrike">
                <a:solidFill>
                  <a:srgbClr val="FF0000"/>
                </a:solidFill>
                <a:latin typeface="Trebuchet MS"/>
                <a:ea typeface="Trebuchet MS"/>
                <a:cs typeface="Trebuchet MS"/>
                <a:sym typeface="Trebuchet MS"/>
              </a:rPr>
              <a:t>println</a:t>
            </a:r>
            <a:r>
              <a:rPr b="0" i="0" lang="en-US" sz="2000" u="none" cap="none" strike="noStrike">
                <a:solidFill>
                  <a:schemeClr val="dk1"/>
                </a:solidFill>
                <a:latin typeface="Trebuchet MS"/>
                <a:ea typeface="Trebuchet MS"/>
                <a:cs typeface="Trebuchet MS"/>
                <a:sym typeface="Trebuchet MS"/>
              </a:rPr>
              <a:t>(</a:t>
            </a:r>
            <a:r>
              <a:rPr b="0" i="0" lang="en-US" sz="2000" u="none" cap="none" strike="noStrike">
                <a:solidFill>
                  <a:srgbClr val="66D9EF"/>
                </a:solidFill>
                <a:latin typeface="Trebuchet MS"/>
                <a:ea typeface="Trebuchet MS"/>
                <a:cs typeface="Trebuchet MS"/>
                <a:sym typeface="Trebuchet MS"/>
              </a:rPr>
              <a:t>"Mejor me quedo en casa"</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3" name="Shape 443"/>
        <p:cNvGrpSpPr/>
        <p:nvPr/>
      </p:nvGrpSpPr>
      <p:grpSpPr>
        <a:xfrm>
          <a:off x="0" y="0"/>
          <a:ext cx="0" cy="0"/>
          <a:chOff x="0" y="0"/>
          <a:chExt cx="0" cy="0"/>
        </a:xfrm>
      </p:grpSpPr>
      <p:sp>
        <p:nvSpPr>
          <p:cNvPr id="444" name="Google Shape;444;g1dd6d73f377_2_19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g1dd6d73f377_2_19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g1dd6d73f377_2_19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47" name="Google Shape;447;g1dd6d73f377_2_19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48" name="Google Shape;448;g1dd6d73f377_2_19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1dd6d73f377_2_19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50" name="Google Shape;450;g1dd6d73f377_2_19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1dd6d73f377_2_195"/>
          <p:cNvSpPr txBox="1"/>
          <p:nvPr/>
        </p:nvSpPr>
        <p:spPr>
          <a:xfrm>
            <a:off x="821925" y="1475525"/>
            <a:ext cx="7665300" cy="201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2.</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compare la temperatura y el clima.</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900"/>
              <a:buFont typeface="Arial"/>
              <a:buNone/>
            </a:pPr>
            <a:r>
              <a:rPr b="0" i="1" lang="en-US" sz="1900" u="none" cap="none" strike="noStrike">
                <a:solidFill>
                  <a:srgbClr val="000000"/>
                </a:solidFill>
                <a:latin typeface="Trebuchet MS"/>
                <a:ea typeface="Trebuchet MS"/>
                <a:cs typeface="Trebuchet MS"/>
                <a:sym typeface="Trebuchet MS"/>
              </a:rPr>
              <a:t>Casos hipotéticos de clima y temperatura:</a:t>
            </a:r>
            <a:endParaRPr b="0" i="1" sz="1900" u="none" cap="none" strike="noStrike">
              <a:solidFill>
                <a:srgbClr val="000000"/>
              </a:solidFill>
              <a:latin typeface="Trebuchet MS"/>
              <a:ea typeface="Trebuchet MS"/>
              <a:cs typeface="Trebuchet MS"/>
              <a:sym typeface="Trebuchet MS"/>
            </a:endParaRPr>
          </a:p>
        </p:txBody>
      </p:sp>
      <p:sp>
        <p:nvSpPr>
          <p:cNvPr id="452" name="Google Shape;452;g1dd6d73f377_2_19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g1dd6d73f377_2_19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Java</a:t>
            </a:r>
            <a:endParaRPr b="0" i="0" sz="2000" u="none" cap="none" strike="noStrike">
              <a:solidFill>
                <a:srgbClr val="003870"/>
              </a:solidFill>
              <a:latin typeface="Trebuchet MS"/>
              <a:ea typeface="Trebuchet MS"/>
              <a:cs typeface="Trebuchet MS"/>
              <a:sym typeface="Trebuchet MS"/>
            </a:endParaRPr>
          </a:p>
        </p:txBody>
      </p:sp>
      <p:sp>
        <p:nvSpPr>
          <p:cNvPr id="454" name="Google Shape;454;g1dd6d73f377_2_195"/>
          <p:cNvSpPr txBox="1"/>
          <p:nvPr/>
        </p:nvSpPr>
        <p:spPr>
          <a:xfrm>
            <a:off x="821925" y="3815275"/>
            <a:ext cx="10920000" cy="2031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String </a:t>
            </a:r>
            <a:r>
              <a:rPr b="0" i="0" lang="en-US" sz="2000" u="none" cap="none" strike="noStrike">
                <a:solidFill>
                  <a:schemeClr val="dk1"/>
                </a:solidFill>
                <a:latin typeface="Courier New"/>
                <a:ea typeface="Courier New"/>
                <a:cs typeface="Courier New"/>
                <a:sym typeface="Courier New"/>
              </a:rPr>
              <a:t>clima = "Nevando"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int </a:t>
            </a:r>
            <a:r>
              <a:rPr b="0" i="0" lang="en-US" sz="2000" u="none" cap="none" strike="noStrike">
                <a:solidFill>
                  <a:schemeClr val="dk1"/>
                </a:solidFill>
                <a:latin typeface="Courier New"/>
                <a:ea typeface="Courier New"/>
                <a:cs typeface="Courier New"/>
                <a:sym typeface="Courier New"/>
              </a:rPr>
              <a:t>temperatura = 28</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66D9E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CD"/>
                </a:solidFill>
                <a:latin typeface="Courier New"/>
                <a:ea typeface="Courier New"/>
                <a:cs typeface="Courier New"/>
                <a:sym typeface="Courier New"/>
              </a:rPr>
              <a:t>if </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chemeClr val="dk1"/>
                </a:solidFill>
                <a:latin typeface="Courier New"/>
                <a:ea typeface="Courier New"/>
                <a:cs typeface="Courier New"/>
                <a:sym typeface="Courier New"/>
              </a:rPr>
              <a:t>clima == "Nevando" </a:t>
            </a:r>
            <a:r>
              <a:rPr b="0" i="0" lang="en-US" sz="1800" u="none" cap="none" strike="noStrike">
                <a:solidFill>
                  <a:schemeClr val="dk1"/>
                </a:solidFill>
                <a:latin typeface="Calibri"/>
                <a:ea typeface="Calibri"/>
                <a:cs typeface="Calibri"/>
                <a:sym typeface="Calibri"/>
              </a:rPr>
              <a:t>&amp;&amp;</a:t>
            </a:r>
            <a:r>
              <a:rPr b="0" i="0" lang="en-US" sz="2000" u="none" cap="none" strike="noStrike">
                <a:solidFill>
                  <a:schemeClr val="dk1"/>
                </a:solidFill>
                <a:latin typeface="Courier New"/>
                <a:ea typeface="Courier New"/>
                <a:cs typeface="Courier New"/>
                <a:sym typeface="Courier New"/>
              </a:rPr>
              <a:t> (temperatura &gt;= </a:t>
            </a:r>
            <a:r>
              <a:rPr b="0" i="0" lang="en-US" sz="2000" u="none" cap="none" strike="noStrike">
                <a:solidFill>
                  <a:srgbClr val="AE81FF"/>
                </a:solidFill>
                <a:latin typeface="Courier New"/>
                <a:ea typeface="Courier New"/>
                <a:cs typeface="Courier New"/>
                <a:sym typeface="Courier New"/>
              </a:rPr>
              <a:t>20</a:t>
            </a:r>
            <a:r>
              <a:rPr b="0" i="0" lang="en-US" sz="2000" u="none" cap="none" strike="noStrike">
                <a:solidFill>
                  <a:srgbClr val="F8F8F2"/>
                </a:solidFill>
                <a:latin typeface="Courier New"/>
                <a:ea typeface="Courier New"/>
                <a:cs typeface="Courier New"/>
                <a:sym typeface="Courier New"/>
              </a:rPr>
              <a:t> </a:t>
            </a:r>
            <a:r>
              <a:rPr b="0" i="0" lang="en-US" sz="1800" u="none" cap="none" strike="noStrike">
                <a:solidFill>
                  <a:schemeClr val="dk1"/>
                </a:solidFill>
                <a:latin typeface="Calibri"/>
                <a:ea typeface="Calibri"/>
                <a:cs typeface="Calibri"/>
                <a:sym typeface="Calibri"/>
              </a:rPr>
              <a:t>&amp;&amp;</a:t>
            </a:r>
            <a:r>
              <a:rPr b="0" i="0" lang="en-US" sz="2000" u="none" cap="none" strike="noStrike">
                <a:solidFill>
                  <a:schemeClr val="dk1"/>
                </a:solidFill>
                <a:latin typeface="Courier New"/>
                <a:ea typeface="Courier New"/>
                <a:cs typeface="Courier New"/>
                <a:sym typeface="Courier New"/>
              </a:rPr>
              <a:t> temperatura &lt;= </a:t>
            </a:r>
            <a:r>
              <a:rPr b="0" i="0" lang="en-US" sz="2000" u="none" cap="none" strike="noStrike">
                <a:solidFill>
                  <a:srgbClr val="AE81FF"/>
                </a:solidFill>
                <a:latin typeface="Courier New"/>
                <a:ea typeface="Courier New"/>
                <a:cs typeface="Courier New"/>
                <a:sym typeface="Courier New"/>
              </a:rPr>
              <a:t>30</a:t>
            </a:r>
            <a:r>
              <a:rPr b="0" i="0" lang="en-US" sz="2000" u="none" cap="none" strike="noStrike">
                <a:solidFill>
                  <a:srgbClr val="F8F8F2"/>
                </a:solidFill>
                <a:latin typeface="Courier New"/>
                <a:ea typeface="Courier New"/>
                <a:cs typeface="Courier New"/>
                <a:sym typeface="Courier New"/>
              </a:rPr>
              <a:t>)</a:t>
            </a:r>
            <a:r>
              <a:rPr b="1" i="0" lang="en-US" sz="2000" u="none" cap="none" strike="noStrike">
                <a:solidFill>
                  <a:schemeClr val="dk1"/>
                </a:solidFill>
                <a:latin typeface="Courier New"/>
                <a:ea typeface="Courier New"/>
                <a:cs typeface="Courier New"/>
                <a:sym typeface="Courier New"/>
              </a:rPr>
              <a:t>)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8F8F2"/>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System.out.</a:t>
            </a:r>
            <a:r>
              <a:rPr b="1" i="0" lang="en-US" sz="2000" u="none" cap="none" strike="noStrike">
                <a:solidFill>
                  <a:srgbClr val="FF0000"/>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chemeClr val="dk1"/>
                </a:solidFill>
                <a:latin typeface="Courier New"/>
                <a:ea typeface="Courier New"/>
                <a:cs typeface="Courier New"/>
                <a:sym typeface="Courier New"/>
              </a:rPr>
              <a:t>"El clima está muy loco"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455" name="Google Shape;455;g1dd6d73f377_2_195"/>
          <p:cNvSpPr txBox="1"/>
          <p:nvPr/>
        </p:nvSpPr>
        <p:spPr>
          <a:xfrm>
            <a:off x="8487225" y="1613075"/>
            <a:ext cx="3333300" cy="1231500"/>
          </a:xfrm>
          <a:prstGeom prst="rect">
            <a:avLst/>
          </a:prstGeom>
          <a:solidFill>
            <a:srgbClr val="64CBC9"/>
          </a:solidFill>
          <a:ln cap="flat" cmpd="sng" w="9525">
            <a:solidFill>
              <a:srgbClr val="00387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También podemos implementar otro tipo de operadores en las estructuras condicionales, como los booleanos.</a:t>
            </a:r>
            <a:endParaRPr b="0" i="0" sz="17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9" name="Shape 459"/>
        <p:cNvGrpSpPr/>
        <p:nvPr/>
      </p:nvGrpSpPr>
      <p:grpSpPr>
        <a:xfrm>
          <a:off x="0" y="0"/>
          <a:ext cx="0" cy="0"/>
          <a:chOff x="0" y="0"/>
          <a:chExt cx="0" cy="0"/>
        </a:xfrm>
      </p:grpSpPr>
      <p:sp>
        <p:nvSpPr>
          <p:cNvPr id="460" name="Google Shape;460;g20f4114666e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1" name="Google Shape;461;g20f4114666e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g20f4114666e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63" name="Google Shape;463;g20f4114666e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64" name="Google Shape;464;g20f4114666e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20f4114666e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66" name="Google Shape;466;g20f4114666e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g20f4114666e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g20f4114666e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469" name="Google Shape;469;g20f4114666e_0_0"/>
          <p:cNvSpPr txBox="1"/>
          <p:nvPr/>
        </p:nvSpPr>
        <p:spPr>
          <a:xfrm>
            <a:off x="593325" y="1475525"/>
            <a:ext cx="90909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1.</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imprima “</a:t>
            </a:r>
            <a:r>
              <a:rPr b="0" i="0" lang="en-US" sz="2000" u="none" cap="none" strike="noStrike">
                <a:solidFill>
                  <a:schemeClr val="dk1"/>
                </a:solidFill>
                <a:latin typeface="Trebuchet MS"/>
                <a:ea typeface="Trebuchet MS"/>
                <a:cs typeface="Trebuchet MS"/>
                <a:sym typeface="Trebuchet MS"/>
              </a:rPr>
              <a:t>20 es mayor que 18</a:t>
            </a:r>
            <a:r>
              <a:rPr b="0" i="0" lang="en-US" sz="2000" u="none" cap="none" strike="noStrike">
                <a:solidFill>
                  <a:srgbClr val="000000"/>
                </a:solidFill>
                <a:latin typeface="Trebuchet MS"/>
                <a:ea typeface="Trebuchet MS"/>
                <a:cs typeface="Trebuchet MS"/>
                <a:sym typeface="Trebuchet MS"/>
              </a:rPr>
              <a:t>” si el número 20 es mayor que el número 18.</a:t>
            </a:r>
            <a:endParaRPr b="0" i="0" sz="2000" u="none" cap="none" strike="noStrike">
              <a:solidFill>
                <a:srgbClr val="000000"/>
              </a:solidFill>
              <a:latin typeface="Trebuchet MS"/>
              <a:ea typeface="Trebuchet MS"/>
              <a:cs typeface="Trebuchet MS"/>
              <a:sym typeface="Trebuchet MS"/>
            </a:endParaRPr>
          </a:p>
        </p:txBody>
      </p:sp>
      <p:sp>
        <p:nvSpPr>
          <p:cNvPr id="470" name="Google Shape;470;g20f4114666e_0_0"/>
          <p:cNvSpPr txBox="1"/>
          <p:nvPr>
            <p:ph type="title"/>
          </p:nvPr>
        </p:nvSpPr>
        <p:spPr>
          <a:xfrm>
            <a:off x="773224" y="3238225"/>
            <a:ext cx="49146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2000">
                <a:solidFill>
                  <a:srgbClr val="0077AA"/>
                </a:solidFill>
                <a:highlight>
                  <a:srgbClr val="FFFFFF"/>
                </a:highlight>
                <a:latin typeface="Courier New"/>
                <a:ea typeface="Courier New"/>
                <a:cs typeface="Courier New"/>
                <a:sym typeface="Courier New"/>
              </a:rPr>
              <a:t>if</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20</a:t>
            </a:r>
            <a:r>
              <a:rPr lang="en-US" sz="2000">
                <a:solidFill>
                  <a:schemeClr val="dk1"/>
                </a:solidFill>
                <a:highlight>
                  <a:srgbClr val="FFFFFF"/>
                </a:highlight>
                <a:latin typeface="Courier New"/>
                <a:ea typeface="Courier New"/>
                <a:cs typeface="Courier New"/>
                <a:sym typeface="Courier New"/>
              </a:rPr>
              <a:t> </a:t>
            </a:r>
            <a:r>
              <a:rPr lang="en-US" sz="2000">
                <a:solidFill>
                  <a:srgbClr val="9A6E3A"/>
                </a:solidFill>
                <a:highlight>
                  <a:srgbClr val="FFFFFF"/>
                </a:highlight>
                <a:latin typeface="Courier New"/>
                <a:ea typeface="Courier New"/>
                <a:cs typeface="Courier New"/>
                <a:sym typeface="Courier New"/>
              </a:rPr>
              <a:t>&gt;</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18</a:t>
            </a:r>
            <a:r>
              <a:rPr lang="en-US" sz="2000">
                <a:solidFill>
                  <a:schemeClr val="dk1"/>
                </a:solidFill>
                <a:highlight>
                  <a:srgbClr val="FFFFFF"/>
                </a:highlight>
                <a:latin typeface="Courier New"/>
                <a:ea typeface="Courier New"/>
                <a:cs typeface="Courier New"/>
                <a:sym typeface="Courier New"/>
              </a:rPr>
              <a:t>):</a:t>
            </a:r>
            <a:endParaRPr sz="20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rPr lang="en-US" sz="2000">
                <a:solidFill>
                  <a:schemeClr val="dk1"/>
                </a:solidFill>
                <a:highlight>
                  <a:srgbClr val="FFFFFF"/>
                </a:highlight>
                <a:latin typeface="Courier New"/>
                <a:ea typeface="Courier New"/>
                <a:cs typeface="Courier New"/>
                <a:sym typeface="Courier New"/>
              </a:rPr>
              <a:t>  	</a:t>
            </a:r>
            <a:r>
              <a:rPr b="1" lang="en-US" sz="2000">
                <a:solidFill>
                  <a:srgbClr val="DD4A68"/>
                </a:solidFill>
                <a:highlight>
                  <a:srgbClr val="FFFFFF"/>
                </a:highlight>
                <a:latin typeface="Courier New"/>
                <a:ea typeface="Courier New"/>
                <a:cs typeface="Courier New"/>
                <a:sym typeface="Courier New"/>
              </a:rPr>
              <a:t>print</a:t>
            </a:r>
            <a:r>
              <a:rPr b="1" lang="en-US" sz="2000">
                <a:solidFill>
                  <a:schemeClr val="dk1"/>
                </a:solidFill>
                <a:highlight>
                  <a:srgbClr val="FFFFFF"/>
                </a:highlight>
                <a:latin typeface="Courier New"/>
                <a:ea typeface="Courier New"/>
                <a:cs typeface="Courier New"/>
                <a:sym typeface="Courier New"/>
              </a:rPr>
              <a:t>(</a:t>
            </a:r>
            <a:r>
              <a:rPr lang="en-US" sz="2000">
                <a:solidFill>
                  <a:srgbClr val="669900"/>
                </a:solidFill>
                <a:highlight>
                  <a:srgbClr val="FFFFFF"/>
                </a:highlight>
                <a:latin typeface="Courier New"/>
                <a:ea typeface="Courier New"/>
                <a:cs typeface="Courier New"/>
                <a:sym typeface="Courier New"/>
              </a:rPr>
              <a:t>"20 es mayor que 18"</a:t>
            </a: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latin typeface="Courier New"/>
              <a:ea typeface="Courier New"/>
              <a:cs typeface="Courier New"/>
              <a:sym typeface="Courier New"/>
            </a:endParaRPr>
          </a:p>
        </p:txBody>
      </p:sp>
      <p:sp>
        <p:nvSpPr>
          <p:cNvPr id="471" name="Google Shape;471;g20f4114666e_0_0"/>
          <p:cNvSpPr/>
          <p:nvPr/>
        </p:nvSpPr>
        <p:spPr>
          <a:xfrm>
            <a:off x="1903225" y="4354750"/>
            <a:ext cx="3010608" cy="2149632"/>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Nota: En Python no se usan llaves para los condicionales, por lo tanto es primordial mantener el orden de indentación.</a:t>
            </a:r>
            <a:endParaRPr b="0" i="0" sz="1400" u="none" cap="none" strike="noStrike">
              <a:solidFill>
                <a:schemeClr val="dk1"/>
              </a:solidFill>
              <a:latin typeface="Trebuchet MS"/>
              <a:ea typeface="Trebuchet MS"/>
              <a:cs typeface="Trebuchet MS"/>
              <a:sym typeface="Trebuchet MS"/>
            </a:endParaRPr>
          </a:p>
        </p:txBody>
      </p:sp>
      <p:pic>
        <p:nvPicPr>
          <p:cNvPr id="472" name="Google Shape;472;g20f4114666e_0_0"/>
          <p:cNvPicPr preferRelativeResize="0"/>
          <p:nvPr/>
        </p:nvPicPr>
        <p:blipFill rotWithShape="1">
          <a:blip r:embed="rId4">
            <a:alphaModFix/>
          </a:blip>
          <a:srcRect b="0" l="0" r="0" t="0"/>
          <a:stretch/>
        </p:blipFill>
        <p:spPr>
          <a:xfrm>
            <a:off x="1157602" y="5556150"/>
            <a:ext cx="1149450" cy="114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6" name="Shape 476"/>
        <p:cNvGrpSpPr/>
        <p:nvPr/>
      </p:nvGrpSpPr>
      <p:grpSpPr>
        <a:xfrm>
          <a:off x="0" y="0"/>
          <a:ext cx="0" cy="0"/>
          <a:chOff x="0" y="0"/>
          <a:chExt cx="0" cy="0"/>
        </a:xfrm>
      </p:grpSpPr>
      <p:sp>
        <p:nvSpPr>
          <p:cNvPr id="477" name="Google Shape;477;g1dd6d73f377_2_2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8" name="Google Shape;478;g1dd6d73f377_2_23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g1dd6d73f377_2_2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0" name="Google Shape;480;g1dd6d73f377_2_2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81" name="Google Shape;481;g1dd6d73f377_2_2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1dd6d73f377_2_2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83" name="Google Shape;483;g1dd6d73f377_2_2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1dd6d73f377_2_2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g1dd6d73f377_2_2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486" name="Google Shape;486;g1dd6d73f377_2_236"/>
          <p:cNvSpPr txBox="1"/>
          <p:nvPr/>
        </p:nvSpPr>
        <p:spPr>
          <a:xfrm>
            <a:off x="593325" y="1475525"/>
            <a:ext cx="90909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1.</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imprima “</a:t>
            </a:r>
            <a:r>
              <a:rPr b="0" i="0" lang="en-US" sz="2000" u="none" cap="none" strike="noStrike">
                <a:solidFill>
                  <a:schemeClr val="dk1"/>
                </a:solidFill>
                <a:latin typeface="Trebuchet MS"/>
                <a:ea typeface="Trebuchet MS"/>
                <a:cs typeface="Trebuchet MS"/>
                <a:sym typeface="Trebuchet MS"/>
              </a:rPr>
              <a:t>20 es mayor que 18</a:t>
            </a:r>
            <a:r>
              <a:rPr b="0" i="0" lang="en-US" sz="2000" u="none" cap="none" strike="noStrike">
                <a:solidFill>
                  <a:srgbClr val="000000"/>
                </a:solidFill>
                <a:latin typeface="Trebuchet MS"/>
                <a:ea typeface="Trebuchet MS"/>
                <a:cs typeface="Trebuchet MS"/>
                <a:sym typeface="Trebuchet MS"/>
              </a:rPr>
              <a:t>” si el número 20 es mayor que el número 18.</a:t>
            </a:r>
            <a:endParaRPr b="0" i="0" sz="2000" u="none" cap="none" strike="noStrike">
              <a:solidFill>
                <a:srgbClr val="000000"/>
              </a:solidFill>
              <a:latin typeface="Trebuchet MS"/>
              <a:ea typeface="Trebuchet MS"/>
              <a:cs typeface="Trebuchet MS"/>
              <a:sym typeface="Trebuchet MS"/>
            </a:endParaRPr>
          </a:p>
        </p:txBody>
      </p:sp>
      <p:sp>
        <p:nvSpPr>
          <p:cNvPr id="487" name="Google Shape;487;g1dd6d73f377_2_236"/>
          <p:cNvSpPr txBox="1"/>
          <p:nvPr>
            <p:ph type="title"/>
          </p:nvPr>
        </p:nvSpPr>
        <p:spPr>
          <a:xfrm>
            <a:off x="773224" y="3238225"/>
            <a:ext cx="49146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sz="2000">
                <a:solidFill>
                  <a:srgbClr val="0077AA"/>
                </a:solidFill>
                <a:highlight>
                  <a:srgbClr val="FFFFFF"/>
                </a:highlight>
                <a:latin typeface="Courier New"/>
                <a:ea typeface="Courier New"/>
                <a:cs typeface="Courier New"/>
                <a:sym typeface="Courier New"/>
              </a:rPr>
              <a:t>if</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20</a:t>
            </a:r>
            <a:r>
              <a:rPr lang="en-US" sz="2000">
                <a:solidFill>
                  <a:schemeClr val="dk1"/>
                </a:solidFill>
                <a:highlight>
                  <a:srgbClr val="FFFFFF"/>
                </a:highlight>
                <a:latin typeface="Courier New"/>
                <a:ea typeface="Courier New"/>
                <a:cs typeface="Courier New"/>
                <a:sym typeface="Courier New"/>
              </a:rPr>
              <a:t> </a:t>
            </a:r>
            <a:r>
              <a:rPr lang="en-US" sz="2000">
                <a:solidFill>
                  <a:srgbClr val="9A6E3A"/>
                </a:solidFill>
                <a:highlight>
                  <a:srgbClr val="FFFFFF"/>
                </a:highlight>
                <a:latin typeface="Courier New"/>
                <a:ea typeface="Courier New"/>
                <a:cs typeface="Courier New"/>
                <a:sym typeface="Courier New"/>
              </a:rPr>
              <a:t>&gt;</a:t>
            </a:r>
            <a:r>
              <a:rPr lang="en-US" sz="2000">
                <a:solidFill>
                  <a:schemeClr val="dk1"/>
                </a:solidFill>
                <a:highlight>
                  <a:srgbClr val="FFFFFF"/>
                </a:highlight>
                <a:latin typeface="Courier New"/>
                <a:ea typeface="Courier New"/>
                <a:cs typeface="Courier New"/>
                <a:sym typeface="Courier New"/>
              </a:rPr>
              <a:t> </a:t>
            </a:r>
            <a:r>
              <a:rPr lang="en-US" sz="2000">
                <a:solidFill>
                  <a:srgbClr val="990055"/>
                </a:solidFill>
                <a:highlight>
                  <a:srgbClr val="FFFFFF"/>
                </a:highlight>
                <a:latin typeface="Courier New"/>
                <a:ea typeface="Courier New"/>
                <a:cs typeface="Courier New"/>
                <a:sym typeface="Courier New"/>
              </a:rPr>
              <a:t>18</a:t>
            </a:r>
            <a:r>
              <a:rPr lang="en-US" sz="2000">
                <a:solidFill>
                  <a:schemeClr val="dk1"/>
                </a:solidFill>
                <a:highlight>
                  <a:srgbClr val="FFFFFF"/>
                </a:highlight>
                <a:latin typeface="Courier New"/>
                <a:ea typeface="Courier New"/>
                <a:cs typeface="Courier New"/>
                <a:sym typeface="Courier New"/>
              </a:rPr>
              <a:t>):</a:t>
            </a:r>
            <a:endParaRPr sz="20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1400"/>
              <a:buNone/>
            </a:pPr>
            <a:r>
              <a:rPr lang="en-US" sz="2000">
                <a:solidFill>
                  <a:schemeClr val="dk1"/>
                </a:solidFill>
                <a:highlight>
                  <a:srgbClr val="FFFFFF"/>
                </a:highlight>
                <a:latin typeface="Courier New"/>
                <a:ea typeface="Courier New"/>
                <a:cs typeface="Courier New"/>
                <a:sym typeface="Courier New"/>
              </a:rPr>
              <a:t>  	</a:t>
            </a:r>
            <a:r>
              <a:rPr b="1" lang="en-US" sz="2000">
                <a:solidFill>
                  <a:srgbClr val="DD4A68"/>
                </a:solidFill>
                <a:highlight>
                  <a:srgbClr val="FFFFFF"/>
                </a:highlight>
                <a:latin typeface="Courier New"/>
                <a:ea typeface="Courier New"/>
                <a:cs typeface="Courier New"/>
                <a:sym typeface="Courier New"/>
              </a:rPr>
              <a:t>print</a:t>
            </a:r>
            <a:r>
              <a:rPr b="1" lang="en-US" sz="2000">
                <a:solidFill>
                  <a:schemeClr val="dk1"/>
                </a:solidFill>
                <a:highlight>
                  <a:srgbClr val="FFFFFF"/>
                </a:highlight>
                <a:latin typeface="Courier New"/>
                <a:ea typeface="Courier New"/>
                <a:cs typeface="Courier New"/>
                <a:sym typeface="Courier New"/>
              </a:rPr>
              <a:t>(</a:t>
            </a:r>
            <a:r>
              <a:rPr lang="en-US" sz="2000">
                <a:solidFill>
                  <a:srgbClr val="669900"/>
                </a:solidFill>
                <a:highlight>
                  <a:srgbClr val="FFFFFF"/>
                </a:highlight>
                <a:latin typeface="Courier New"/>
                <a:ea typeface="Courier New"/>
                <a:cs typeface="Courier New"/>
                <a:sym typeface="Courier New"/>
              </a:rPr>
              <a:t>"20 es mayor que 18"</a:t>
            </a:r>
            <a:r>
              <a:rPr b="1" lang="en-US" sz="2000">
                <a:solidFill>
                  <a:schemeClr val="dk1"/>
                </a:solidFill>
                <a:highlight>
                  <a:srgbClr val="FFFFFF"/>
                </a:highlight>
                <a:latin typeface="Courier New"/>
                <a:ea typeface="Courier New"/>
                <a:cs typeface="Courier New"/>
                <a:sym typeface="Courier New"/>
              </a:rPr>
              <a:t>)</a:t>
            </a:r>
            <a:endParaRPr b="1" sz="2000">
              <a:solidFill>
                <a:schemeClr val="dk1"/>
              </a:solidFill>
              <a:latin typeface="Courier New"/>
              <a:ea typeface="Courier New"/>
              <a:cs typeface="Courier New"/>
              <a:sym typeface="Courier New"/>
            </a:endParaRPr>
          </a:p>
        </p:txBody>
      </p:sp>
      <p:sp>
        <p:nvSpPr>
          <p:cNvPr id="488" name="Google Shape;488;g1dd6d73f377_2_236"/>
          <p:cNvSpPr/>
          <p:nvPr/>
        </p:nvSpPr>
        <p:spPr>
          <a:xfrm>
            <a:off x="1903225" y="4354750"/>
            <a:ext cx="3010608" cy="2149632"/>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rebuchet MS"/>
                <a:ea typeface="Trebuchet MS"/>
                <a:cs typeface="Trebuchet MS"/>
                <a:sym typeface="Trebuchet MS"/>
              </a:rPr>
              <a:t>Nota: En Python no se usan llaves para los condicionales, por lo tanto es primordial mantener el orden de indentación.</a:t>
            </a:r>
            <a:endParaRPr b="0" i="0" sz="1400" u="none" cap="none" strike="noStrike">
              <a:solidFill>
                <a:schemeClr val="dk1"/>
              </a:solidFill>
              <a:latin typeface="Trebuchet MS"/>
              <a:ea typeface="Trebuchet MS"/>
              <a:cs typeface="Trebuchet MS"/>
              <a:sym typeface="Trebuchet MS"/>
            </a:endParaRPr>
          </a:p>
        </p:txBody>
      </p:sp>
      <p:pic>
        <p:nvPicPr>
          <p:cNvPr id="489" name="Google Shape;489;g1dd6d73f377_2_236"/>
          <p:cNvPicPr preferRelativeResize="0"/>
          <p:nvPr/>
        </p:nvPicPr>
        <p:blipFill rotWithShape="1">
          <a:blip r:embed="rId4">
            <a:alphaModFix/>
          </a:blip>
          <a:srcRect b="0" l="0" r="0" t="0"/>
          <a:stretch/>
        </p:blipFill>
        <p:spPr>
          <a:xfrm>
            <a:off x="1157602" y="5556150"/>
            <a:ext cx="1149450" cy="1149450"/>
          </a:xfrm>
          <a:prstGeom prst="rect">
            <a:avLst/>
          </a:prstGeom>
          <a:noFill/>
          <a:ln>
            <a:noFill/>
          </a:ln>
        </p:spPr>
      </p:pic>
      <p:sp>
        <p:nvSpPr>
          <p:cNvPr id="490" name="Google Shape;490;g1dd6d73f377_2_236"/>
          <p:cNvSpPr txBox="1"/>
          <p:nvPr/>
        </p:nvSpPr>
        <p:spPr>
          <a:xfrm>
            <a:off x="7039325" y="4597363"/>
            <a:ext cx="4484100" cy="156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75000"/>
              </a:lnSpc>
              <a:spcBef>
                <a:spcPts val="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x </a:t>
            </a:r>
            <a:r>
              <a:rPr b="0" i="0" lang="en-US" sz="2000" u="none" cap="none" strike="noStrike">
                <a:solidFill>
                  <a:srgbClr val="9A6E3A"/>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rgbClr val="990055"/>
                </a:solidFill>
                <a:highlight>
                  <a:srgbClr val="FFFFFF"/>
                </a:highlight>
                <a:latin typeface="Courier New"/>
                <a:ea typeface="Courier New"/>
                <a:cs typeface="Courier New"/>
                <a:sym typeface="Courier New"/>
              </a:rPr>
              <a:t>10</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2000"/>
              <a:buFont typeface="Arial"/>
              <a:buNone/>
            </a:pPr>
            <a:r>
              <a:rPr b="0" i="0" lang="en-US" sz="2000" u="none" cap="none" strike="noStrike">
                <a:solidFill>
                  <a:schemeClr val="dk1"/>
                </a:solidFill>
                <a:highlight>
                  <a:srgbClr val="FFFFFF"/>
                </a:highlight>
                <a:latin typeface="Courier New"/>
                <a:ea typeface="Courier New"/>
                <a:cs typeface="Courier New"/>
                <a:sym typeface="Courier New"/>
              </a:rPr>
              <a:t>y </a:t>
            </a:r>
            <a:r>
              <a:rPr b="0" i="0" lang="en-US" sz="2000" u="none" cap="none" strike="noStrike">
                <a:solidFill>
                  <a:srgbClr val="9A6E3A"/>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rgbClr val="990055"/>
                </a:solidFill>
                <a:highlight>
                  <a:srgbClr val="FFFFFF"/>
                </a:highlight>
                <a:latin typeface="Courier New"/>
                <a:ea typeface="Courier New"/>
                <a:cs typeface="Courier New"/>
                <a:sym typeface="Courier New"/>
              </a:rPr>
              <a:t>1</a:t>
            </a:r>
            <a:endParaRPr b="0"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2000"/>
              <a:buFont typeface="Arial"/>
              <a:buNone/>
            </a:pPr>
            <a:r>
              <a:rPr b="1" i="0" lang="en-US" sz="2000" u="none" cap="none" strike="noStrike">
                <a:solidFill>
                  <a:srgbClr val="0077AA"/>
                </a:solidFill>
                <a:highlight>
                  <a:srgbClr val="FFFFFF"/>
                </a:highlight>
                <a:latin typeface="Courier New"/>
                <a:ea typeface="Courier New"/>
                <a:cs typeface="Courier New"/>
                <a:sym typeface="Courier New"/>
              </a:rPr>
              <a:t>if</a:t>
            </a:r>
            <a:r>
              <a:rPr b="1" i="0" lang="en-US" sz="2000" u="none" cap="none" strike="noStrike">
                <a:solidFill>
                  <a:schemeClr val="dk1"/>
                </a:solidFill>
                <a:highlight>
                  <a:srgbClr val="FFFFFF"/>
                </a:highlight>
                <a:latin typeface="Courier New"/>
                <a:ea typeface="Courier New"/>
                <a:cs typeface="Courier New"/>
                <a:sym typeface="Courier New"/>
              </a:rPr>
              <a:t> (</a:t>
            </a:r>
            <a:r>
              <a:rPr b="0" i="0" lang="en-US" sz="2000" u="none" cap="none" strike="noStrike">
                <a:solidFill>
                  <a:schemeClr val="dk1"/>
                </a:solidFill>
                <a:highlight>
                  <a:srgbClr val="FFFFFF"/>
                </a:highlight>
                <a:latin typeface="Courier New"/>
                <a:ea typeface="Courier New"/>
                <a:cs typeface="Courier New"/>
                <a:sym typeface="Courier New"/>
              </a:rPr>
              <a:t>x </a:t>
            </a:r>
            <a:r>
              <a:rPr b="0" i="0" lang="en-US" sz="2000" u="none" cap="none" strike="noStrike">
                <a:solidFill>
                  <a:srgbClr val="9A6E3A"/>
                </a:solidFill>
                <a:highlight>
                  <a:srgbClr val="FFFFFF"/>
                </a:highlight>
                <a:latin typeface="Courier New"/>
                <a:ea typeface="Courier New"/>
                <a:cs typeface="Courier New"/>
                <a:sym typeface="Courier New"/>
              </a:rPr>
              <a:t>&gt;</a:t>
            </a:r>
            <a:r>
              <a:rPr b="0" i="0" lang="en-US" sz="2000" u="none" cap="none" strike="noStrike">
                <a:solidFill>
                  <a:schemeClr val="dk1"/>
                </a:solidFill>
                <a:highlight>
                  <a:srgbClr val="FFFFFF"/>
                </a:highlight>
                <a:latin typeface="Courier New"/>
                <a:ea typeface="Courier New"/>
                <a:cs typeface="Courier New"/>
                <a:sym typeface="Courier New"/>
              </a:rPr>
              <a:t> y</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highlight>
                <a:srgbClr val="FFFFFF"/>
              </a:highlight>
              <a:latin typeface="Courier New"/>
              <a:ea typeface="Courier New"/>
              <a:cs typeface="Courier New"/>
              <a:sym typeface="Courier New"/>
            </a:endParaRPr>
          </a:p>
          <a:p>
            <a:pPr indent="0" lvl="0" marL="0" marR="152400" rtl="0" algn="l">
              <a:lnSpc>
                <a:spcPct val="75000"/>
              </a:lnSpc>
              <a:spcBef>
                <a:spcPts val="1200"/>
              </a:spcBef>
              <a:spcAft>
                <a:spcPts val="1200"/>
              </a:spcAft>
              <a:buClr>
                <a:srgbClr val="000000"/>
              </a:buClr>
              <a:buSzPts val="2000"/>
              <a:buFont typeface="Arial"/>
              <a:buNone/>
            </a:pPr>
            <a:r>
              <a:rPr b="1" i="0" lang="en-US" sz="2000" u="none" cap="none" strike="noStrike">
                <a:solidFill>
                  <a:srgbClr val="DD4A68"/>
                </a:solidFill>
                <a:highlight>
                  <a:srgbClr val="FFFFFF"/>
                </a:highlight>
                <a:latin typeface="Courier New"/>
                <a:ea typeface="Courier New"/>
                <a:cs typeface="Courier New"/>
                <a:sym typeface="Courier New"/>
              </a:rPr>
              <a:t>  print</a:t>
            </a:r>
            <a:r>
              <a:rPr b="1" i="0" lang="en-US" sz="2000" u="none" cap="none" strike="noStrike">
                <a:solidFill>
                  <a:schemeClr val="dk1"/>
                </a:solidFill>
                <a:highlight>
                  <a:srgbClr val="FFFFFF"/>
                </a:highlight>
                <a:latin typeface="Courier New"/>
                <a:ea typeface="Courier New"/>
                <a:cs typeface="Courier New"/>
                <a:sym typeface="Courier New"/>
              </a:rPr>
              <a:t>(</a:t>
            </a:r>
            <a:r>
              <a:rPr b="0" i="0" lang="en-US" sz="2000" u="none" cap="none" strike="noStrike">
                <a:solidFill>
                  <a:srgbClr val="669900"/>
                </a:solidFill>
                <a:highlight>
                  <a:srgbClr val="FFFFFF"/>
                </a:highlight>
                <a:latin typeface="Courier New"/>
                <a:ea typeface="Courier New"/>
                <a:cs typeface="Courier New"/>
                <a:sym typeface="Courier New"/>
              </a:rPr>
              <a:t>"x </a:t>
            </a:r>
            <a:r>
              <a:rPr b="0" i="0" lang="en-US" sz="2000" u="none" cap="none" strike="noStrike">
                <a:solidFill>
                  <a:srgbClr val="669900"/>
                </a:solidFill>
                <a:highlight>
                  <a:schemeClr val="lt1"/>
                </a:highlight>
                <a:latin typeface="Courier New"/>
                <a:ea typeface="Courier New"/>
                <a:cs typeface="Courier New"/>
                <a:sym typeface="Courier New"/>
              </a:rPr>
              <a:t>es mayor que</a:t>
            </a:r>
            <a:r>
              <a:rPr b="0" i="0" lang="en-US" sz="2000" u="none" cap="none" strike="noStrike">
                <a:solidFill>
                  <a:srgbClr val="669900"/>
                </a:solidFill>
                <a:highlight>
                  <a:srgbClr val="FFFFFF"/>
                </a:highlight>
                <a:latin typeface="Courier New"/>
                <a:ea typeface="Courier New"/>
                <a:cs typeface="Courier New"/>
                <a:sym typeface="Courier New"/>
              </a:rPr>
              <a:t> y"</a:t>
            </a:r>
            <a:r>
              <a:rPr b="1" i="0" lang="en-US" sz="2000" u="none" cap="none" strike="noStrike">
                <a:solidFill>
                  <a:schemeClr val="dk1"/>
                </a:solidFill>
                <a:highlight>
                  <a:srgbClr val="FFFFFF"/>
                </a:highlight>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491" name="Google Shape;491;g1dd6d73f377_2_236"/>
          <p:cNvSpPr txBox="1"/>
          <p:nvPr/>
        </p:nvSpPr>
        <p:spPr>
          <a:xfrm>
            <a:off x="7521875" y="2935563"/>
            <a:ext cx="3519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Comparando dos números enteros</a:t>
            </a:r>
            <a:endParaRPr b="0" i="0" sz="2000" u="none" cap="none" strike="noStrike">
              <a:solidFill>
                <a:srgbClr val="000000"/>
              </a:solidFill>
              <a:latin typeface="Trebuchet MS"/>
              <a:ea typeface="Trebuchet MS"/>
              <a:cs typeface="Trebuchet MS"/>
              <a:sym typeface="Trebuchet MS"/>
            </a:endParaRPr>
          </a:p>
        </p:txBody>
      </p:sp>
      <p:sp>
        <p:nvSpPr>
          <p:cNvPr id="492" name="Google Shape;492;g1dd6d73f377_2_236"/>
          <p:cNvSpPr/>
          <p:nvPr/>
        </p:nvSpPr>
        <p:spPr>
          <a:xfrm rot="5400000">
            <a:off x="9049775" y="3991750"/>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6" name="Shape 496"/>
        <p:cNvGrpSpPr/>
        <p:nvPr/>
      </p:nvGrpSpPr>
      <p:grpSpPr>
        <a:xfrm>
          <a:off x="0" y="0"/>
          <a:ext cx="0" cy="0"/>
          <a:chOff x="0" y="0"/>
          <a:chExt cx="0" cy="0"/>
        </a:xfrm>
      </p:grpSpPr>
      <p:sp>
        <p:nvSpPr>
          <p:cNvPr id="497" name="Google Shape;497;g20f4114666e_0_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8" name="Google Shape;498;g20f4114666e_0_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g20f4114666e_0_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00" name="Google Shape;500;g20f4114666e_0_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01" name="Google Shape;501;g20f4114666e_0_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20f4114666e_0_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03" name="Google Shape;503;g20f4114666e_0_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20f4114666e_0_17"/>
          <p:cNvSpPr txBox="1"/>
          <p:nvPr/>
        </p:nvSpPr>
        <p:spPr>
          <a:xfrm>
            <a:off x="556925" y="1423700"/>
            <a:ext cx="108972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3.</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al introducir la edad del usuario imprima un mensaje señalando si es mayor o menor de edad.</a:t>
            </a:r>
            <a:endParaRPr b="0" i="0" sz="2000" u="none" cap="none" strike="noStrike">
              <a:solidFill>
                <a:srgbClr val="000000"/>
              </a:solidFill>
              <a:latin typeface="Trebuchet MS"/>
              <a:ea typeface="Trebuchet MS"/>
              <a:cs typeface="Trebuchet MS"/>
              <a:sym typeface="Trebuchet MS"/>
            </a:endParaRPr>
          </a:p>
        </p:txBody>
      </p:sp>
      <p:sp>
        <p:nvSpPr>
          <p:cNvPr id="505" name="Google Shape;505;g20f4114666e_0_1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g20f4114666e_0_1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0" name="Shape 510"/>
        <p:cNvGrpSpPr/>
        <p:nvPr/>
      </p:nvGrpSpPr>
      <p:grpSpPr>
        <a:xfrm>
          <a:off x="0" y="0"/>
          <a:ext cx="0" cy="0"/>
          <a:chOff x="0" y="0"/>
          <a:chExt cx="0" cy="0"/>
        </a:xfrm>
      </p:grpSpPr>
      <p:pic>
        <p:nvPicPr>
          <p:cNvPr id="511" name="Google Shape;511;g1dd6d73f377_2_277"/>
          <p:cNvPicPr preferRelativeResize="0"/>
          <p:nvPr/>
        </p:nvPicPr>
        <p:blipFill rotWithShape="1">
          <a:blip r:embed="rId3">
            <a:alphaModFix/>
          </a:blip>
          <a:srcRect b="0" l="0" r="0" t="0"/>
          <a:stretch/>
        </p:blipFill>
        <p:spPr>
          <a:xfrm>
            <a:off x="4050362" y="2898950"/>
            <a:ext cx="5720625" cy="3899801"/>
          </a:xfrm>
          <a:prstGeom prst="rect">
            <a:avLst/>
          </a:prstGeom>
          <a:noFill/>
          <a:ln>
            <a:noFill/>
          </a:ln>
        </p:spPr>
      </p:pic>
      <p:sp>
        <p:nvSpPr>
          <p:cNvPr id="512" name="Google Shape;512;g1dd6d73f377_2_27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g1dd6d73f377_2_27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g1dd6d73f377_2_27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15" name="Google Shape;515;g1dd6d73f377_2_277"/>
          <p:cNvPicPr preferRelativeResize="0"/>
          <p:nvPr/>
        </p:nvPicPr>
        <p:blipFill rotWithShape="1">
          <a:blip r:embed="rId4">
            <a:alphaModFix/>
          </a:blip>
          <a:srcRect b="17581" l="0" r="0" t="17296"/>
          <a:stretch/>
        </p:blipFill>
        <p:spPr>
          <a:xfrm>
            <a:off x="0" y="0"/>
            <a:ext cx="2825825" cy="1051600"/>
          </a:xfrm>
          <a:prstGeom prst="rect">
            <a:avLst/>
          </a:prstGeom>
          <a:noFill/>
          <a:ln>
            <a:noFill/>
          </a:ln>
        </p:spPr>
      </p:pic>
      <p:sp>
        <p:nvSpPr>
          <p:cNvPr id="516" name="Google Shape;516;g1dd6d73f377_2_27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1dd6d73f377_2_27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18" name="Google Shape;518;g1dd6d73f377_2_27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1dd6d73f377_2_277"/>
          <p:cNvSpPr txBox="1"/>
          <p:nvPr/>
        </p:nvSpPr>
        <p:spPr>
          <a:xfrm>
            <a:off x="556925" y="1423700"/>
            <a:ext cx="108972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3.</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al introducir la edad del usuario imprima un mensaje señalando si es mayor o menor de edad.</a:t>
            </a:r>
            <a:endParaRPr b="0" i="0" sz="2000" u="none" cap="none" strike="noStrike">
              <a:solidFill>
                <a:srgbClr val="000000"/>
              </a:solidFill>
              <a:latin typeface="Trebuchet MS"/>
              <a:ea typeface="Trebuchet MS"/>
              <a:cs typeface="Trebuchet MS"/>
              <a:sym typeface="Trebuchet MS"/>
            </a:endParaRPr>
          </a:p>
        </p:txBody>
      </p:sp>
      <p:sp>
        <p:nvSpPr>
          <p:cNvPr id="520" name="Google Shape;520;g1dd6d73f377_2_27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g1dd6d73f377_2_27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522" name="Google Shape;522;g1dd6d73f377_2_277"/>
          <p:cNvSpPr txBox="1"/>
          <p:nvPr/>
        </p:nvSpPr>
        <p:spPr>
          <a:xfrm>
            <a:off x="1244325" y="4325700"/>
            <a:ext cx="2422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Diagrama de Flujo</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6" name="Shape 526"/>
        <p:cNvGrpSpPr/>
        <p:nvPr/>
      </p:nvGrpSpPr>
      <p:grpSpPr>
        <a:xfrm>
          <a:off x="0" y="0"/>
          <a:ext cx="0" cy="0"/>
          <a:chOff x="0" y="0"/>
          <a:chExt cx="0" cy="0"/>
        </a:xfrm>
      </p:grpSpPr>
      <p:sp>
        <p:nvSpPr>
          <p:cNvPr id="527" name="Google Shape;527;g20f4114666e_0_3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g20f4114666e_0_3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9" name="Google Shape;529;g20f4114666e_0_3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0" name="Google Shape;530;g20f4114666e_0_3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31" name="Google Shape;531;g20f4114666e_0_3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20f4114666e_0_3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33" name="Google Shape;533;g20f4114666e_0_3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20f4114666e_0_35"/>
          <p:cNvSpPr txBox="1"/>
          <p:nvPr/>
        </p:nvSpPr>
        <p:spPr>
          <a:xfrm>
            <a:off x="937550" y="2686550"/>
            <a:ext cx="6039000" cy="2616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latin typeface="Courier New"/>
                <a:ea typeface="Courier New"/>
                <a:cs typeface="Courier New"/>
                <a:sym typeface="Courier New"/>
              </a:rPr>
              <a:t>print</a:t>
            </a:r>
            <a:r>
              <a:rPr b="0" i="0" lang="en-US" sz="2000" u="none" cap="none" strike="noStrike">
                <a:solidFill>
                  <a:schemeClr val="dk1"/>
                </a:solidFill>
                <a:latin typeface="Courier New"/>
                <a:ea typeface="Courier New"/>
                <a:cs typeface="Courier New"/>
                <a:sym typeface="Courier New"/>
              </a:rPr>
              <a:t>("Ingrese la edad del usuario: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rgbClr val="00AFAA"/>
                </a:solidFill>
                <a:latin typeface="Courier New"/>
                <a:ea typeface="Courier New"/>
                <a:cs typeface="Courier New"/>
                <a:sym typeface="Courier New"/>
              </a:rPr>
              <a:t>edad</a:t>
            </a:r>
            <a:r>
              <a:rPr b="1" i="0" lang="en-US" sz="2000" u="none" cap="none" strike="noStrike">
                <a:solidFill>
                  <a:schemeClr val="dk1"/>
                </a:solidFill>
                <a:latin typeface="Courier New"/>
                <a:ea typeface="Courier New"/>
                <a:cs typeface="Courier New"/>
                <a:sym typeface="Courier New"/>
              </a:rPr>
              <a:t> = int(input())</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0077AA"/>
                </a:solidFill>
                <a:highlight>
                  <a:schemeClr val="lt1"/>
                </a:highlight>
                <a:latin typeface="Courier New"/>
                <a:ea typeface="Courier New"/>
                <a:cs typeface="Courier New"/>
                <a:sym typeface="Courier New"/>
              </a:rPr>
              <a:t>if</a:t>
            </a:r>
            <a:r>
              <a:rPr b="0" i="0" lang="en-US" sz="2000" u="none" cap="none" strike="noStrike">
                <a:solidFill>
                  <a:schemeClr val="dk1"/>
                </a:solidFill>
                <a:highlight>
                  <a:schemeClr val="lt1"/>
                </a:highlight>
                <a:latin typeface="Courier New"/>
                <a:ea typeface="Courier New"/>
                <a:cs typeface="Courier New"/>
                <a:sym typeface="Courier New"/>
              </a:rPr>
              <a:t> (edad </a:t>
            </a:r>
            <a:r>
              <a:rPr b="0" i="0" lang="en-US" sz="2000" u="none" cap="none" strike="noStrike">
                <a:solidFill>
                  <a:srgbClr val="9A6E3A"/>
                </a:solidFill>
                <a:highlight>
                  <a:schemeClr val="lt1"/>
                </a:highlight>
                <a:latin typeface="Courier New"/>
                <a:ea typeface="Courier New"/>
                <a:cs typeface="Courier New"/>
                <a:sym typeface="Courier New"/>
              </a:rPr>
              <a:t>&gt;=</a:t>
            </a:r>
            <a:r>
              <a:rPr b="0" i="0" lang="en-US" sz="2000" u="none" cap="none" strike="noStrike">
                <a:solidFill>
                  <a:schemeClr val="dk1"/>
                </a:solidFill>
                <a:highlight>
                  <a:schemeClr val="lt1"/>
                </a:highlight>
                <a:latin typeface="Courier New"/>
                <a:ea typeface="Courier New"/>
                <a:cs typeface="Courier New"/>
                <a:sym typeface="Courier New"/>
              </a:rPr>
              <a:t> 18)</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chemeClr val="dk1"/>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"Mayor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999999"/>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"Menor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p:txBody>
      </p:sp>
      <p:sp>
        <p:nvSpPr>
          <p:cNvPr id="535" name="Google Shape;535;g20f4114666e_0_35"/>
          <p:cNvSpPr txBox="1"/>
          <p:nvPr/>
        </p:nvSpPr>
        <p:spPr>
          <a:xfrm>
            <a:off x="1006200" y="1792825"/>
            <a:ext cx="2422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Código en Python:</a:t>
            </a:r>
            <a:endParaRPr b="0" i="0" sz="2000" u="none" cap="none" strike="noStrike">
              <a:solidFill>
                <a:srgbClr val="000000"/>
              </a:solidFill>
              <a:latin typeface="Trebuchet MS"/>
              <a:ea typeface="Trebuchet MS"/>
              <a:cs typeface="Trebuchet MS"/>
              <a:sym typeface="Trebuchet MS"/>
            </a:endParaRPr>
          </a:p>
        </p:txBody>
      </p:sp>
      <p:sp>
        <p:nvSpPr>
          <p:cNvPr id="536" name="Google Shape;536;g20f4114666e_0_3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7" name="Google Shape;537;g20f4114666e_0_3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1" name="Shape 541"/>
        <p:cNvGrpSpPr/>
        <p:nvPr/>
      </p:nvGrpSpPr>
      <p:grpSpPr>
        <a:xfrm>
          <a:off x="0" y="0"/>
          <a:ext cx="0" cy="0"/>
          <a:chOff x="0" y="0"/>
          <a:chExt cx="0" cy="0"/>
        </a:xfrm>
      </p:grpSpPr>
      <p:sp>
        <p:nvSpPr>
          <p:cNvPr id="542" name="Google Shape;542;g1dd6d73f377_2_31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3" name="Google Shape;543;g1dd6d73f377_2_31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g1dd6d73f377_2_31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45" name="Google Shape;545;g1dd6d73f377_2_31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46" name="Google Shape;546;g1dd6d73f377_2_31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1dd6d73f377_2_31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48" name="Google Shape;548;g1dd6d73f377_2_31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1dd6d73f377_2_314"/>
          <p:cNvSpPr txBox="1"/>
          <p:nvPr/>
        </p:nvSpPr>
        <p:spPr>
          <a:xfrm>
            <a:off x="1006200" y="1792825"/>
            <a:ext cx="2422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Código en Python:</a:t>
            </a:r>
            <a:endParaRPr b="0" i="0" sz="2000" u="none" cap="none" strike="noStrike">
              <a:solidFill>
                <a:srgbClr val="000000"/>
              </a:solidFill>
              <a:latin typeface="Trebuchet MS"/>
              <a:ea typeface="Trebuchet MS"/>
              <a:cs typeface="Trebuchet MS"/>
              <a:sym typeface="Trebuchet MS"/>
            </a:endParaRPr>
          </a:p>
        </p:txBody>
      </p:sp>
      <p:sp>
        <p:nvSpPr>
          <p:cNvPr id="550" name="Google Shape;550;g1dd6d73f377_2_31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g1dd6d73f377_2_31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552" name="Google Shape;552;g1dd6d73f377_2_314"/>
          <p:cNvSpPr/>
          <p:nvPr/>
        </p:nvSpPr>
        <p:spPr>
          <a:xfrm>
            <a:off x="10574605" y="5632232"/>
            <a:ext cx="1011300" cy="359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1dd6d73f377_2_314"/>
          <p:cNvSpPr/>
          <p:nvPr/>
        </p:nvSpPr>
        <p:spPr>
          <a:xfrm>
            <a:off x="7154250" y="1356301"/>
            <a:ext cx="4908600" cy="2191212"/>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4" name="Google Shape;554;g1dd6d73f377_2_314"/>
          <p:cNvPicPr preferRelativeResize="0"/>
          <p:nvPr/>
        </p:nvPicPr>
        <p:blipFill rotWithShape="1">
          <a:blip r:embed="rId4">
            <a:alphaModFix/>
          </a:blip>
          <a:srcRect b="0" l="0" r="0" t="0"/>
          <a:stretch/>
        </p:blipFill>
        <p:spPr>
          <a:xfrm>
            <a:off x="9669016" y="3082049"/>
            <a:ext cx="2522984" cy="2706234"/>
          </a:xfrm>
          <a:prstGeom prst="rect">
            <a:avLst/>
          </a:prstGeom>
          <a:noFill/>
          <a:ln>
            <a:noFill/>
          </a:ln>
        </p:spPr>
      </p:pic>
      <p:sp>
        <p:nvSpPr>
          <p:cNvPr id="555" name="Google Shape;555;g1dd6d73f377_2_314"/>
          <p:cNvSpPr txBox="1"/>
          <p:nvPr/>
        </p:nvSpPr>
        <p:spPr>
          <a:xfrm>
            <a:off x="7820775" y="1920913"/>
            <a:ext cx="3984600" cy="10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rebuchet MS"/>
                <a:ea typeface="Trebuchet MS"/>
                <a:cs typeface="Trebuchet MS"/>
                <a:sym typeface="Trebuchet MS"/>
              </a:rPr>
              <a:t>Sin embargo este código tiene un pequeño error.</a:t>
            </a:r>
            <a:endParaRPr b="0" i="0" sz="19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Trebuchet MS"/>
                <a:ea typeface="Trebuchet MS"/>
                <a:cs typeface="Trebuchet MS"/>
                <a:sym typeface="Trebuchet MS"/>
              </a:rPr>
              <a:t>¿Quién puede decirme cual es?</a:t>
            </a:r>
            <a:endParaRPr b="0" i="0" sz="1900" u="none" cap="none" strike="noStrike">
              <a:solidFill>
                <a:srgbClr val="000000"/>
              </a:solidFill>
              <a:latin typeface="Trebuchet MS"/>
              <a:ea typeface="Trebuchet MS"/>
              <a:cs typeface="Trebuchet MS"/>
              <a:sym typeface="Trebuchet MS"/>
            </a:endParaRPr>
          </a:p>
        </p:txBody>
      </p:sp>
      <p:sp>
        <p:nvSpPr>
          <p:cNvPr id="556" name="Google Shape;556;g1dd6d73f377_2_314"/>
          <p:cNvSpPr txBox="1"/>
          <p:nvPr/>
        </p:nvSpPr>
        <p:spPr>
          <a:xfrm>
            <a:off x="937550" y="2686550"/>
            <a:ext cx="6039000" cy="2616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latin typeface="Courier New"/>
                <a:ea typeface="Courier New"/>
                <a:cs typeface="Courier New"/>
                <a:sym typeface="Courier New"/>
              </a:rPr>
              <a:t>print</a:t>
            </a:r>
            <a:r>
              <a:rPr b="0" i="0" lang="en-US" sz="2000" u="none" cap="none" strike="noStrike">
                <a:solidFill>
                  <a:schemeClr val="dk1"/>
                </a:solidFill>
                <a:latin typeface="Courier New"/>
                <a:ea typeface="Courier New"/>
                <a:cs typeface="Courier New"/>
                <a:sym typeface="Courier New"/>
              </a:rPr>
              <a:t>("Ingrese la edad del usuario: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rgbClr val="00AFAA"/>
                </a:solidFill>
                <a:latin typeface="Courier New"/>
                <a:ea typeface="Courier New"/>
                <a:cs typeface="Courier New"/>
                <a:sym typeface="Courier New"/>
              </a:rPr>
              <a:t>edad</a:t>
            </a:r>
            <a:r>
              <a:rPr b="1" i="0" lang="en-US" sz="2000" u="none" cap="none" strike="noStrike">
                <a:solidFill>
                  <a:schemeClr val="dk1"/>
                </a:solidFill>
                <a:latin typeface="Courier New"/>
                <a:ea typeface="Courier New"/>
                <a:cs typeface="Courier New"/>
                <a:sym typeface="Courier New"/>
              </a:rPr>
              <a:t> = int(input())</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0077AA"/>
                </a:solidFill>
                <a:highlight>
                  <a:schemeClr val="lt1"/>
                </a:highlight>
                <a:latin typeface="Courier New"/>
                <a:ea typeface="Courier New"/>
                <a:cs typeface="Courier New"/>
                <a:sym typeface="Courier New"/>
              </a:rPr>
              <a:t>if</a:t>
            </a:r>
            <a:r>
              <a:rPr b="0" i="0" lang="en-US" sz="2000" u="none" cap="none" strike="noStrike">
                <a:solidFill>
                  <a:schemeClr val="dk1"/>
                </a:solidFill>
                <a:highlight>
                  <a:schemeClr val="lt1"/>
                </a:highlight>
                <a:latin typeface="Courier New"/>
                <a:ea typeface="Courier New"/>
                <a:cs typeface="Courier New"/>
                <a:sym typeface="Courier New"/>
              </a:rPr>
              <a:t> (edad </a:t>
            </a:r>
            <a:r>
              <a:rPr b="0" i="0" lang="en-US" sz="2000" u="none" cap="none" strike="noStrike">
                <a:solidFill>
                  <a:srgbClr val="9A6E3A"/>
                </a:solidFill>
                <a:highlight>
                  <a:schemeClr val="lt1"/>
                </a:highlight>
                <a:latin typeface="Courier New"/>
                <a:ea typeface="Courier New"/>
                <a:cs typeface="Courier New"/>
                <a:sym typeface="Courier New"/>
              </a:rPr>
              <a:t>&gt;=</a:t>
            </a:r>
            <a:r>
              <a:rPr b="0" i="0" lang="en-US" sz="2000" u="none" cap="none" strike="noStrike">
                <a:solidFill>
                  <a:schemeClr val="dk1"/>
                </a:solidFill>
                <a:highlight>
                  <a:schemeClr val="lt1"/>
                </a:highlight>
                <a:latin typeface="Courier New"/>
                <a:ea typeface="Courier New"/>
                <a:cs typeface="Courier New"/>
                <a:sym typeface="Courier New"/>
              </a:rPr>
              <a:t> 18)</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chemeClr val="dk1"/>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"Mayor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999999"/>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"Menor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0" name="Shape 560"/>
        <p:cNvGrpSpPr/>
        <p:nvPr/>
      </p:nvGrpSpPr>
      <p:grpSpPr>
        <a:xfrm>
          <a:off x="0" y="0"/>
          <a:ext cx="0" cy="0"/>
          <a:chOff x="0" y="0"/>
          <a:chExt cx="0" cy="0"/>
        </a:xfrm>
      </p:grpSpPr>
      <p:sp>
        <p:nvSpPr>
          <p:cNvPr id="561" name="Google Shape;561;g20f4114666e_0_49"/>
          <p:cNvSpPr txBox="1"/>
          <p:nvPr/>
        </p:nvSpPr>
        <p:spPr>
          <a:xfrm>
            <a:off x="829475" y="1346550"/>
            <a:ext cx="10205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rebuchet MS"/>
                <a:ea typeface="Trebuchet MS"/>
                <a:cs typeface="Trebuchet MS"/>
                <a:sym typeface="Trebuchet MS"/>
              </a:rPr>
              <a:t>¡Exacto!</a:t>
            </a:r>
            <a:r>
              <a:rPr b="0" i="0" lang="en-US" sz="2000" u="none" cap="none" strike="noStrike">
                <a:solidFill>
                  <a:srgbClr val="000000"/>
                </a:solidFill>
                <a:latin typeface="Trebuchet MS"/>
                <a:ea typeface="Trebuchet MS"/>
                <a:cs typeface="Trebuchet MS"/>
                <a:sym typeface="Trebuchet MS"/>
              </a:rPr>
              <a:t> Sin importar si es o no mayor de edad debido a la estructura del condicional, siempre se mostrará que es menor de edad.</a:t>
            </a:r>
            <a:endParaRPr b="0" i="0" sz="2000" u="none" cap="none" strike="noStrike">
              <a:solidFill>
                <a:srgbClr val="000000"/>
              </a:solidFill>
              <a:latin typeface="Trebuchet MS"/>
              <a:ea typeface="Trebuchet MS"/>
              <a:cs typeface="Trebuchet MS"/>
              <a:sym typeface="Trebuchet MS"/>
            </a:endParaRPr>
          </a:p>
        </p:txBody>
      </p:sp>
      <p:sp>
        <p:nvSpPr>
          <p:cNvPr id="562" name="Google Shape;562;g20f4114666e_0_4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g20f4114666e_0_4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g20f4114666e_0_4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65" name="Google Shape;565;g20f4114666e_0_4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66" name="Google Shape;566;g20f4114666e_0_4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g20f4114666e_0_4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68" name="Google Shape;568;g20f4114666e_0_4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9" name="Google Shape;569;g20f4114666e_0_49"/>
          <p:cNvPicPr preferRelativeResize="0"/>
          <p:nvPr/>
        </p:nvPicPr>
        <p:blipFill rotWithShape="1">
          <a:blip r:embed="rId4">
            <a:alphaModFix/>
          </a:blip>
          <a:srcRect b="0" l="0" r="0" t="0"/>
          <a:stretch/>
        </p:blipFill>
        <p:spPr>
          <a:xfrm>
            <a:off x="536900" y="2264310"/>
            <a:ext cx="5189712" cy="4317790"/>
          </a:xfrm>
          <a:prstGeom prst="rect">
            <a:avLst/>
          </a:prstGeom>
          <a:noFill/>
          <a:ln>
            <a:noFill/>
          </a:ln>
        </p:spPr>
      </p:pic>
      <p:pic>
        <p:nvPicPr>
          <p:cNvPr id="570" name="Google Shape;570;g20f4114666e_0_49"/>
          <p:cNvPicPr preferRelativeResize="0"/>
          <p:nvPr/>
        </p:nvPicPr>
        <p:blipFill rotWithShape="1">
          <a:blip r:embed="rId5">
            <a:alphaModFix/>
          </a:blip>
          <a:srcRect b="0" l="0" r="0" t="0"/>
          <a:stretch/>
        </p:blipFill>
        <p:spPr>
          <a:xfrm>
            <a:off x="5886975" y="2264300"/>
            <a:ext cx="5948749" cy="4055300"/>
          </a:xfrm>
          <a:prstGeom prst="rect">
            <a:avLst/>
          </a:prstGeom>
          <a:noFill/>
          <a:ln>
            <a:noFill/>
          </a:ln>
        </p:spPr>
      </p:pic>
      <p:sp>
        <p:nvSpPr>
          <p:cNvPr id="571" name="Google Shape;571;g20f4114666e_0_4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2" name="Google Shape;572;g20f4114666e_0_4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pic>
        <p:nvPicPr>
          <p:cNvPr id="573" name="Google Shape;573;g20f4114666e_0_49"/>
          <p:cNvPicPr preferRelativeResize="0"/>
          <p:nvPr/>
        </p:nvPicPr>
        <p:blipFill rotWithShape="1">
          <a:blip r:embed="rId6">
            <a:alphaModFix/>
          </a:blip>
          <a:srcRect b="18736" l="5991" r="50335" t="19011"/>
          <a:stretch/>
        </p:blipFill>
        <p:spPr>
          <a:xfrm>
            <a:off x="10635950" y="3006850"/>
            <a:ext cx="1107685" cy="1051600"/>
          </a:xfrm>
          <a:prstGeom prst="rect">
            <a:avLst/>
          </a:prstGeom>
          <a:noFill/>
          <a:ln>
            <a:noFill/>
          </a:ln>
        </p:spPr>
      </p:pic>
      <p:pic>
        <p:nvPicPr>
          <p:cNvPr id="574" name="Google Shape;574;g20f4114666e_0_49"/>
          <p:cNvPicPr preferRelativeResize="0"/>
          <p:nvPr/>
        </p:nvPicPr>
        <p:blipFill rotWithShape="1">
          <a:blip r:embed="rId6">
            <a:alphaModFix/>
          </a:blip>
          <a:srcRect b="19200" l="51854" r="6463" t="19786"/>
          <a:stretch/>
        </p:blipFill>
        <p:spPr>
          <a:xfrm>
            <a:off x="4422525" y="3006850"/>
            <a:ext cx="1078672" cy="1051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8" name="Shape 578"/>
        <p:cNvGrpSpPr/>
        <p:nvPr/>
      </p:nvGrpSpPr>
      <p:grpSpPr>
        <a:xfrm>
          <a:off x="0" y="0"/>
          <a:ext cx="0" cy="0"/>
          <a:chOff x="0" y="0"/>
          <a:chExt cx="0" cy="0"/>
        </a:xfrm>
      </p:grpSpPr>
      <p:sp>
        <p:nvSpPr>
          <p:cNvPr id="579" name="Google Shape;579;g1dd2b324201_0_5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g1dd2b324201_0_5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g1dd2b324201_0_5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82" name="Google Shape;582;g1dd2b324201_0_5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83" name="Google Shape;583;g1dd2b324201_0_5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1dd2b324201_0_5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85" name="Google Shape;585;g1dd2b324201_0_5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g1dd2b324201_0_54"/>
          <p:cNvSpPr txBox="1"/>
          <p:nvPr>
            <p:ph type="title"/>
          </p:nvPr>
        </p:nvSpPr>
        <p:spPr>
          <a:xfrm>
            <a:off x="1716400" y="2416675"/>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Estructura </a:t>
            </a:r>
            <a:endParaRPr sz="6000">
              <a:latin typeface="Trebuchet MS"/>
              <a:ea typeface="Trebuchet MS"/>
              <a:cs typeface="Trebuchet MS"/>
              <a:sym typeface="Trebuchet MS"/>
            </a:endParaRPr>
          </a:p>
          <a:p>
            <a:pPr indent="0" lvl="0" marL="0" rtl="0" algn="ctr">
              <a:lnSpc>
                <a:spcPct val="100000"/>
              </a:lnSpc>
              <a:spcBef>
                <a:spcPts val="0"/>
              </a:spcBef>
              <a:spcAft>
                <a:spcPts val="0"/>
              </a:spcAft>
              <a:buSzPts val="1400"/>
              <a:buNone/>
            </a:pPr>
            <a:r>
              <a:rPr lang="en-US" sz="6000">
                <a:latin typeface="Courier New"/>
                <a:ea typeface="Courier New"/>
                <a:cs typeface="Courier New"/>
                <a:sym typeface="Courier New"/>
              </a:rPr>
              <a:t>[else]</a:t>
            </a:r>
            <a:endParaRPr sz="60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0" name="Shape 590"/>
        <p:cNvGrpSpPr/>
        <p:nvPr/>
      </p:nvGrpSpPr>
      <p:grpSpPr>
        <a:xfrm>
          <a:off x="0" y="0"/>
          <a:ext cx="0" cy="0"/>
          <a:chOff x="0" y="0"/>
          <a:chExt cx="0" cy="0"/>
        </a:xfrm>
      </p:grpSpPr>
      <p:sp>
        <p:nvSpPr>
          <p:cNvPr id="591" name="Google Shape;591;g20f4114666e_0_66"/>
          <p:cNvSpPr/>
          <p:nvPr/>
        </p:nvSpPr>
        <p:spPr>
          <a:xfrm>
            <a:off x="7139425" y="2501099"/>
            <a:ext cx="4962000" cy="3642900"/>
          </a:xfrm>
          <a:prstGeom prst="roundRect">
            <a:avLst>
              <a:gd fmla="val 16667" name="adj"/>
            </a:avLst>
          </a:prstGeom>
          <a:solidFill>
            <a:srgbClr val="64CBC9"/>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chemeClr val="lt1"/>
                </a:solidFill>
                <a:latin typeface="Courier New"/>
                <a:ea typeface="Courier New"/>
                <a:cs typeface="Courier New"/>
                <a:sym typeface="Courier New"/>
              </a:rPr>
              <a:t>else</a:t>
            </a:r>
            <a:r>
              <a:rPr b="0" i="0" lang="en-US" sz="2100" u="none" cap="none" strike="noStrike">
                <a:solidFill>
                  <a:schemeClr val="lt1"/>
                </a:solidFill>
                <a:latin typeface="Trebuchet MS"/>
                <a:ea typeface="Trebuchet MS"/>
                <a:cs typeface="Trebuchet MS"/>
                <a:sym typeface="Trebuchet MS"/>
              </a:rPr>
              <a:t> </a:t>
            </a:r>
            <a:r>
              <a:rPr b="0" i="0" lang="en-US" sz="2100" u="none" cap="none" strike="noStrike">
                <a:solidFill>
                  <a:schemeClr val="dk1"/>
                </a:solidFill>
                <a:latin typeface="Trebuchet MS"/>
                <a:ea typeface="Trebuchet MS"/>
                <a:cs typeface="Trebuchet MS"/>
                <a:sym typeface="Trebuchet MS"/>
              </a:rPr>
              <a:t>es una estructura que se traduce como “otra cosa” o “lo contrario” dando a entender que si la condición inicial no se cumple, entonces es todo lo demás.</a:t>
            </a:r>
            <a:endParaRPr b="0" i="0" sz="21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chemeClr val="dk1"/>
              </a:buClr>
              <a:buSzPts val="1100"/>
              <a:buFont typeface="Arial"/>
              <a:buNone/>
            </a:pPr>
            <a:r>
              <a:rPr b="0" i="1" lang="en-US" sz="2100" u="none" cap="none" strike="noStrike">
                <a:solidFill>
                  <a:schemeClr val="dk1"/>
                </a:solidFill>
                <a:latin typeface="Trebuchet MS"/>
                <a:ea typeface="Trebuchet MS"/>
                <a:cs typeface="Trebuchet MS"/>
                <a:sym typeface="Trebuchet MS"/>
              </a:rPr>
              <a:t>Esto soluciona el error pues solo funcionara en caso de que la condición anterior sea</a:t>
            </a:r>
            <a:r>
              <a:rPr b="0" i="0" lang="en-US" sz="2100" u="none" cap="none" strike="noStrike">
                <a:solidFill>
                  <a:schemeClr val="lt1"/>
                </a:solidFill>
                <a:latin typeface="Trebuchet MS"/>
                <a:ea typeface="Trebuchet MS"/>
                <a:cs typeface="Trebuchet MS"/>
                <a:sym typeface="Trebuchet MS"/>
              </a:rPr>
              <a:t> </a:t>
            </a:r>
            <a:r>
              <a:rPr b="0" i="0" lang="en-US" sz="2100" u="none" cap="none" strike="noStrike">
                <a:solidFill>
                  <a:schemeClr val="lt1"/>
                </a:solidFill>
                <a:latin typeface="Courier New"/>
                <a:ea typeface="Courier New"/>
                <a:cs typeface="Courier New"/>
                <a:sym typeface="Courier New"/>
              </a:rPr>
              <a:t>false</a:t>
            </a:r>
            <a:endParaRPr b="0" i="0" sz="1400" u="none" cap="none" strike="noStrike">
              <a:solidFill>
                <a:srgbClr val="000000"/>
              </a:solidFill>
              <a:latin typeface="Courier New"/>
              <a:ea typeface="Courier New"/>
              <a:cs typeface="Courier New"/>
              <a:sym typeface="Courier New"/>
            </a:endParaRPr>
          </a:p>
        </p:txBody>
      </p:sp>
      <p:sp>
        <p:nvSpPr>
          <p:cNvPr id="592" name="Google Shape;592;g20f4114666e_0_6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g20f4114666e_0_6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g20f4114666e_0_6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95" name="Google Shape;595;g20f4114666e_0_6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96" name="Google Shape;596;g20f4114666e_0_6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20f4114666e_0_6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98" name="Google Shape;598;g20f4114666e_0_6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9" name="Google Shape;599;g20f4114666e_0_66"/>
          <p:cNvPicPr preferRelativeResize="0"/>
          <p:nvPr/>
        </p:nvPicPr>
        <p:blipFill rotWithShape="1">
          <a:blip r:embed="rId4">
            <a:alphaModFix/>
          </a:blip>
          <a:srcRect b="0" l="0" r="0" t="0"/>
          <a:stretch/>
        </p:blipFill>
        <p:spPr>
          <a:xfrm>
            <a:off x="7453250" y="1347501"/>
            <a:ext cx="1360550" cy="1360550"/>
          </a:xfrm>
          <a:prstGeom prst="rect">
            <a:avLst/>
          </a:prstGeom>
          <a:noFill/>
          <a:ln>
            <a:noFill/>
          </a:ln>
        </p:spPr>
      </p:pic>
      <p:sp>
        <p:nvSpPr>
          <p:cNvPr id="600" name="Google Shape;600;g20f4114666e_0_6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1" name="Google Shape;601;g20f4114666e_0_6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602" name="Google Shape;602;g20f4114666e_0_66"/>
          <p:cNvSpPr txBox="1"/>
          <p:nvPr/>
        </p:nvSpPr>
        <p:spPr>
          <a:xfrm>
            <a:off x="556925" y="1423700"/>
            <a:ext cx="65826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3.</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al introducir la edad del usuario imprima un mensaje señalando si es mayor o menor de edad.</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6" name="Shape 606"/>
        <p:cNvGrpSpPr/>
        <p:nvPr/>
      </p:nvGrpSpPr>
      <p:grpSpPr>
        <a:xfrm>
          <a:off x="0" y="0"/>
          <a:ext cx="0" cy="0"/>
          <a:chOff x="0" y="0"/>
          <a:chExt cx="0" cy="0"/>
        </a:xfrm>
      </p:grpSpPr>
      <p:sp>
        <p:nvSpPr>
          <p:cNvPr id="607" name="Google Shape;607;g1dd6d73f377_2_33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8" name="Google Shape;608;g1dd6d73f377_2_33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g1dd6d73f377_2_33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10" name="Google Shape;610;g1dd6d73f377_2_33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11" name="Google Shape;611;g1dd6d73f377_2_33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1dd6d73f377_2_33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13" name="Google Shape;613;g1dd6d73f377_2_33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1dd6d73f377_2_33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g1dd6d73f377_2_33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616" name="Google Shape;616;g1dd6d73f377_2_339"/>
          <p:cNvSpPr txBox="1"/>
          <p:nvPr/>
        </p:nvSpPr>
        <p:spPr>
          <a:xfrm>
            <a:off x="556925" y="1423700"/>
            <a:ext cx="65826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3.</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al introducir la edad del usuario imprima un mensaje señalando si es mayor o menor de edad.</a:t>
            </a:r>
            <a:endParaRPr b="0" i="0" sz="2000" u="none" cap="none" strike="noStrike">
              <a:solidFill>
                <a:srgbClr val="000000"/>
              </a:solidFill>
              <a:latin typeface="Trebuchet MS"/>
              <a:ea typeface="Trebuchet MS"/>
              <a:cs typeface="Trebuchet MS"/>
              <a:sym typeface="Trebuchet MS"/>
            </a:endParaRPr>
          </a:p>
        </p:txBody>
      </p:sp>
      <p:sp>
        <p:nvSpPr>
          <p:cNvPr id="617" name="Google Shape;617;g1dd6d73f377_2_339"/>
          <p:cNvSpPr txBox="1"/>
          <p:nvPr/>
        </p:nvSpPr>
        <p:spPr>
          <a:xfrm>
            <a:off x="671813" y="3372900"/>
            <a:ext cx="6039000" cy="2616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latin typeface="Courier New"/>
                <a:ea typeface="Courier New"/>
                <a:cs typeface="Courier New"/>
                <a:sym typeface="Courier New"/>
              </a:rPr>
              <a:t>print</a:t>
            </a:r>
            <a:r>
              <a:rPr b="0" i="0" lang="en-US" sz="2000" u="none" cap="none" strike="noStrike">
                <a:solidFill>
                  <a:schemeClr val="dk1"/>
                </a:solidFill>
                <a:latin typeface="Courier New"/>
                <a:ea typeface="Courier New"/>
                <a:cs typeface="Courier New"/>
                <a:sym typeface="Courier New"/>
              </a:rPr>
              <a:t>("Ingrese la edad del usuario: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rgbClr val="00AFAA"/>
                </a:solidFill>
                <a:latin typeface="Courier New"/>
                <a:ea typeface="Courier New"/>
                <a:cs typeface="Courier New"/>
                <a:sym typeface="Courier New"/>
              </a:rPr>
              <a:t>edad</a:t>
            </a:r>
            <a:r>
              <a:rPr b="1" i="0" lang="en-US" sz="2000" u="none" cap="none" strike="noStrike">
                <a:solidFill>
                  <a:schemeClr val="dk1"/>
                </a:solidFill>
                <a:latin typeface="Courier New"/>
                <a:ea typeface="Courier New"/>
                <a:cs typeface="Courier New"/>
                <a:sym typeface="Courier New"/>
              </a:rPr>
              <a:t> = int(input())</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77AA"/>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0077AA"/>
                </a:solidFill>
                <a:highlight>
                  <a:schemeClr val="lt1"/>
                </a:highlight>
                <a:latin typeface="Courier New"/>
                <a:ea typeface="Courier New"/>
                <a:cs typeface="Courier New"/>
                <a:sym typeface="Courier New"/>
              </a:rPr>
              <a:t>if</a:t>
            </a:r>
            <a:r>
              <a:rPr b="1" i="0" lang="en-US" sz="2000" u="none" cap="none" strike="noStrike">
                <a:solidFill>
                  <a:schemeClr val="dk1"/>
                </a:solidFill>
                <a:highlight>
                  <a:schemeClr val="lt1"/>
                </a:highlight>
                <a:latin typeface="Courier New"/>
                <a:ea typeface="Courier New"/>
                <a:cs typeface="Courier New"/>
                <a:sym typeface="Courier New"/>
              </a:rPr>
              <a:t> </a:t>
            </a:r>
            <a:r>
              <a:rPr b="0" i="0" lang="en-US" sz="2000" u="none" cap="none" strike="noStrike">
                <a:solidFill>
                  <a:schemeClr val="dk1"/>
                </a:solidFill>
                <a:highlight>
                  <a:schemeClr val="lt1"/>
                </a:highlight>
                <a:latin typeface="Courier New"/>
                <a:ea typeface="Courier New"/>
                <a:cs typeface="Courier New"/>
                <a:sym typeface="Courier New"/>
              </a:rPr>
              <a:t>(edad </a:t>
            </a:r>
            <a:r>
              <a:rPr b="0" i="0" lang="en-US" sz="2000" u="none" cap="none" strike="noStrike">
                <a:solidFill>
                  <a:srgbClr val="9A6E3A"/>
                </a:solidFill>
                <a:highlight>
                  <a:schemeClr val="lt1"/>
                </a:highlight>
                <a:latin typeface="Courier New"/>
                <a:ea typeface="Courier New"/>
                <a:cs typeface="Courier New"/>
                <a:sym typeface="Courier New"/>
              </a:rPr>
              <a:t>&gt;=</a:t>
            </a:r>
            <a:r>
              <a:rPr b="0" i="0" lang="en-US" sz="2000" u="none" cap="none" strike="noStrike">
                <a:solidFill>
                  <a:schemeClr val="dk1"/>
                </a:solidFill>
                <a:highlight>
                  <a:schemeClr val="lt1"/>
                </a:highlight>
                <a:latin typeface="Courier New"/>
                <a:ea typeface="Courier New"/>
                <a:cs typeface="Courier New"/>
                <a:sym typeface="Courier New"/>
              </a:rPr>
              <a:t> 18)</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chemeClr val="dk1"/>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"Mayor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0077AA"/>
                </a:solidFill>
                <a:highlight>
                  <a:schemeClr val="lt1"/>
                </a:highlight>
                <a:latin typeface="Courier New"/>
                <a:ea typeface="Courier New"/>
                <a:cs typeface="Courier New"/>
                <a:sym typeface="Courier New"/>
              </a:rPr>
              <a:t>else</a:t>
            </a:r>
            <a:r>
              <a:rPr b="0" i="0" lang="en-US" sz="2000" u="none" cap="none" strike="noStrike">
                <a:solidFill>
                  <a:srgbClr val="0077AA"/>
                </a:solidFill>
                <a:highlight>
                  <a:schemeClr val="lt1"/>
                </a:highlight>
                <a:latin typeface="Courier New"/>
                <a:ea typeface="Courier New"/>
                <a:cs typeface="Courier New"/>
                <a:sym typeface="Courier New"/>
              </a:rPr>
              <a:t>:</a:t>
            </a:r>
            <a:endParaRPr b="0" i="0" sz="2000" u="none" cap="none" strike="noStrike">
              <a:solidFill>
                <a:srgbClr val="0077AA"/>
              </a:solidFill>
              <a:highlight>
                <a:schemeClr val="lt1"/>
              </a:highlight>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DD4A68"/>
                </a:solidFill>
                <a:highlight>
                  <a:schemeClr val="lt1"/>
                </a:highlight>
                <a:latin typeface="Courier New"/>
                <a:ea typeface="Courier New"/>
                <a:cs typeface="Courier New"/>
                <a:sym typeface="Courier New"/>
              </a:rPr>
              <a:t>print</a:t>
            </a:r>
            <a:r>
              <a:rPr b="0" i="0" lang="en-US" sz="2000" u="none" cap="none" strike="noStrike">
                <a:solidFill>
                  <a:srgbClr val="999999"/>
                </a:solidFill>
                <a:highlight>
                  <a:schemeClr val="lt1"/>
                </a:highlight>
                <a:latin typeface="Courier New"/>
                <a:ea typeface="Courier New"/>
                <a:cs typeface="Courier New"/>
                <a:sym typeface="Courier New"/>
              </a:rPr>
              <a:t>(</a:t>
            </a:r>
            <a:r>
              <a:rPr b="0" i="0" lang="en-US" sz="2000" u="none" cap="none" strike="noStrike">
                <a:solidFill>
                  <a:srgbClr val="669900"/>
                </a:solidFill>
                <a:highlight>
                  <a:schemeClr val="lt1"/>
                </a:highlight>
                <a:latin typeface="Courier New"/>
                <a:ea typeface="Courier New"/>
                <a:cs typeface="Courier New"/>
                <a:sym typeface="Courier New"/>
              </a:rPr>
              <a:t>"Menor de Edad"</a:t>
            </a:r>
            <a:r>
              <a:rPr b="0" i="0" lang="en-US" sz="2000" u="none" cap="none" strike="noStrike">
                <a:solidFill>
                  <a:srgbClr val="999999"/>
                </a:solidFill>
                <a:highlight>
                  <a:schemeClr val="lt1"/>
                </a:highlight>
                <a:latin typeface="Courier New"/>
                <a:ea typeface="Courier New"/>
                <a:cs typeface="Courier New"/>
                <a:sym typeface="Courier New"/>
              </a:rPr>
              <a:t>)</a:t>
            </a:r>
            <a:endParaRPr b="0" i="0" sz="2000" u="none" cap="none" strike="noStrike">
              <a:solidFill>
                <a:srgbClr val="999999"/>
              </a:solidFill>
              <a:highlight>
                <a:schemeClr val="lt1"/>
              </a:highlight>
              <a:latin typeface="Courier New"/>
              <a:ea typeface="Courier New"/>
              <a:cs typeface="Courier New"/>
              <a:sym typeface="Courier New"/>
            </a:endParaRPr>
          </a:p>
        </p:txBody>
      </p:sp>
      <p:pic>
        <p:nvPicPr>
          <p:cNvPr id="618" name="Google Shape;618;g1dd6d73f377_2_339"/>
          <p:cNvPicPr preferRelativeResize="0"/>
          <p:nvPr/>
        </p:nvPicPr>
        <p:blipFill rotWithShape="1">
          <a:blip r:embed="rId4">
            <a:alphaModFix/>
          </a:blip>
          <a:srcRect b="0" l="0" r="0" t="0"/>
          <a:stretch/>
        </p:blipFill>
        <p:spPr>
          <a:xfrm>
            <a:off x="7272775" y="2016264"/>
            <a:ext cx="4904326" cy="33433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2" name="Shape 622"/>
        <p:cNvGrpSpPr/>
        <p:nvPr/>
      </p:nvGrpSpPr>
      <p:grpSpPr>
        <a:xfrm>
          <a:off x="0" y="0"/>
          <a:ext cx="0" cy="0"/>
          <a:chOff x="0" y="0"/>
          <a:chExt cx="0" cy="0"/>
        </a:xfrm>
      </p:grpSpPr>
      <p:sp>
        <p:nvSpPr>
          <p:cNvPr id="623" name="Google Shape;623;g20f4114666e_0_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g20f4114666e_0_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g20f4114666e_0_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26" name="Google Shape;626;g20f4114666e_0_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27" name="Google Shape;627;g20f4114666e_0_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g20f4114666e_0_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29" name="Google Shape;629;g20f4114666e_0_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20f4114666e_0_80"/>
          <p:cNvSpPr txBox="1"/>
          <p:nvPr/>
        </p:nvSpPr>
        <p:spPr>
          <a:xfrm>
            <a:off x="706175" y="1475525"/>
            <a:ext cx="105066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4.</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verifique si una contraseña ingresada por teclado es realmente la contraseña que se ha configurado en el programa.</a:t>
            </a:r>
            <a:endParaRPr b="0" i="0" sz="2000" u="none" cap="none" strike="noStrike">
              <a:solidFill>
                <a:srgbClr val="000000"/>
              </a:solidFill>
              <a:latin typeface="Trebuchet MS"/>
              <a:ea typeface="Trebuchet MS"/>
              <a:cs typeface="Trebuchet MS"/>
              <a:sym typeface="Trebuchet MS"/>
            </a:endParaRPr>
          </a:p>
        </p:txBody>
      </p:sp>
      <p:sp>
        <p:nvSpPr>
          <p:cNvPr id="631" name="Google Shape;631;g20f4114666e_0_8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g20f4114666e_0_8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6" name="Shape 636"/>
        <p:cNvGrpSpPr/>
        <p:nvPr/>
      </p:nvGrpSpPr>
      <p:grpSpPr>
        <a:xfrm>
          <a:off x="0" y="0"/>
          <a:ext cx="0" cy="0"/>
          <a:chOff x="0" y="0"/>
          <a:chExt cx="0" cy="0"/>
        </a:xfrm>
      </p:grpSpPr>
      <p:sp>
        <p:nvSpPr>
          <p:cNvPr id="637" name="Google Shape;637;g1dd6d73f377_2_380"/>
          <p:cNvSpPr txBox="1"/>
          <p:nvPr/>
        </p:nvSpPr>
        <p:spPr>
          <a:xfrm>
            <a:off x="782375" y="3168750"/>
            <a:ext cx="10817700" cy="339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CC0000"/>
                </a:solidFill>
                <a:highlight>
                  <a:schemeClr val="lt1"/>
                </a:highlight>
                <a:latin typeface="Courier New"/>
                <a:ea typeface="Courier New"/>
                <a:cs typeface="Courier New"/>
                <a:sym typeface="Courier New"/>
              </a:rPr>
              <a:t>Scanner </a:t>
            </a:r>
            <a:r>
              <a:rPr b="1" i="0" lang="en-US" sz="1900" u="none" cap="none" strike="noStrike">
                <a:solidFill>
                  <a:schemeClr val="dk1"/>
                </a:solidFill>
                <a:highlight>
                  <a:schemeClr val="lt1"/>
                </a:highlight>
                <a:latin typeface="Courier New"/>
                <a:ea typeface="Courier New"/>
                <a:cs typeface="Courier New"/>
                <a:sym typeface="Courier New"/>
              </a:rPr>
              <a:t>scanner </a:t>
            </a:r>
            <a:r>
              <a:rPr b="0" i="0" lang="en-US" sz="1900" u="none" cap="none" strike="noStrike">
                <a:solidFill>
                  <a:schemeClr val="dk1"/>
                </a:solidFill>
                <a:highlight>
                  <a:schemeClr val="lt1"/>
                </a:highlight>
                <a:latin typeface="Courier New"/>
                <a:ea typeface="Courier New"/>
                <a:cs typeface="Courier New"/>
                <a:sym typeface="Courier New"/>
              </a:rPr>
              <a:t>= </a:t>
            </a:r>
            <a:r>
              <a:rPr b="1" i="0" lang="en-US" sz="1900" u="none" cap="none" strike="noStrike">
                <a:solidFill>
                  <a:srgbClr val="CC0000"/>
                </a:solidFill>
                <a:highlight>
                  <a:schemeClr val="lt1"/>
                </a:highlight>
                <a:latin typeface="Courier New"/>
                <a:ea typeface="Courier New"/>
                <a:cs typeface="Courier New"/>
                <a:sym typeface="Courier New"/>
              </a:rPr>
              <a:t>new </a:t>
            </a:r>
            <a:r>
              <a:rPr b="0" i="0" lang="en-US" sz="1900" u="none" cap="none" strike="noStrike">
                <a:solidFill>
                  <a:schemeClr val="dk1"/>
                </a:solidFill>
                <a:highlight>
                  <a:schemeClr val="lt1"/>
                </a:highlight>
                <a:latin typeface="Courier New"/>
                <a:ea typeface="Courier New"/>
                <a:cs typeface="Courier New"/>
                <a:sym typeface="Courier New"/>
              </a:rPr>
              <a:t>Scanner(System.in);</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("Ingrese su contraseña: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String </a:t>
            </a:r>
            <a:r>
              <a:rPr b="1" i="0" lang="en-US" sz="1900" u="none" cap="none" strike="noStrike">
                <a:solidFill>
                  <a:srgbClr val="0000CD"/>
                </a:solidFill>
                <a:highlight>
                  <a:schemeClr val="lt1"/>
                </a:highlight>
                <a:latin typeface="Courier New"/>
                <a:ea typeface="Courier New"/>
                <a:cs typeface="Courier New"/>
                <a:sym typeface="Courier New"/>
              </a:rPr>
              <a:t>password </a:t>
            </a:r>
            <a:r>
              <a:rPr b="0" i="0" lang="en-US" sz="1900" u="none" cap="none" strike="noStrike">
                <a:solidFill>
                  <a:schemeClr val="dk1"/>
                </a:solidFill>
                <a:highlight>
                  <a:schemeClr val="lt1"/>
                </a:highlight>
                <a:latin typeface="Courier New"/>
                <a:ea typeface="Courier New"/>
                <a:cs typeface="Courier New"/>
                <a:sym typeface="Courier New"/>
              </a:rPr>
              <a:t>= </a:t>
            </a:r>
            <a:r>
              <a:rPr b="1" i="0" lang="en-US" sz="1900" u="none" cap="none" strike="noStrike">
                <a:solidFill>
                  <a:schemeClr val="dk1"/>
                </a:solidFill>
                <a:highlight>
                  <a:schemeClr val="lt1"/>
                </a:highlight>
                <a:latin typeface="Courier New"/>
                <a:ea typeface="Courier New"/>
                <a:cs typeface="Courier New"/>
                <a:sym typeface="Courier New"/>
              </a:rPr>
              <a:t>scanner</a:t>
            </a:r>
            <a:r>
              <a:rPr b="0" i="0" lang="en-US" sz="1900" u="none" cap="none" strike="noStrike">
                <a:solidFill>
                  <a:schemeClr val="dk1"/>
                </a:solidFill>
                <a:highlight>
                  <a:schemeClr val="lt1"/>
                </a:highlight>
                <a:latin typeface="Courier New"/>
                <a:ea typeface="Courier New"/>
                <a:cs typeface="Courier New"/>
                <a:sym typeface="Courier New"/>
              </a:rPr>
              <a:t>.nextLine();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t/>
            </a:r>
            <a:endParaRPr b="0" i="0" sz="1900" u="none" cap="none" strike="noStrike">
              <a:solidFill>
                <a:srgbClr val="0077AA"/>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0077AA"/>
                </a:solidFill>
                <a:highlight>
                  <a:schemeClr val="lt1"/>
                </a:highlight>
                <a:latin typeface="Courier New"/>
                <a:ea typeface="Courier New"/>
                <a:cs typeface="Courier New"/>
                <a:sym typeface="Courier New"/>
              </a:rPr>
              <a:t>if </a:t>
            </a:r>
            <a:r>
              <a:rPr b="0" i="0" lang="en-US" sz="1900" u="none" cap="none" strike="noStrike">
                <a:solidFill>
                  <a:schemeClr val="dk1"/>
                </a:solidFill>
                <a:highlight>
                  <a:schemeClr val="lt1"/>
                </a:highlight>
                <a:latin typeface="Courier New"/>
                <a:ea typeface="Courier New"/>
                <a:cs typeface="Courier New"/>
                <a:sym typeface="Courier New"/>
              </a:rPr>
              <a:t>(Objects.equals(</a:t>
            </a:r>
            <a:r>
              <a:rPr b="1" i="0" lang="en-US" sz="1900" u="none" cap="none" strike="noStrike">
                <a:solidFill>
                  <a:srgbClr val="0000CD"/>
                </a:solidFill>
                <a:highlight>
                  <a:schemeClr val="lt1"/>
                </a:highlight>
                <a:latin typeface="Courier New"/>
                <a:ea typeface="Courier New"/>
                <a:cs typeface="Courier New"/>
                <a:sym typeface="Courier New"/>
              </a:rPr>
              <a:t>password</a:t>
            </a:r>
            <a:r>
              <a:rPr b="0" i="0" lang="en-US" sz="1900" u="none" cap="none" strike="noStrike">
                <a:solidFill>
                  <a:schemeClr val="dk1"/>
                </a:solidFill>
                <a:highlight>
                  <a:schemeClr val="lt1"/>
                </a:highlight>
                <a:latin typeface="Courier New"/>
                <a:ea typeface="Courier New"/>
                <a:cs typeface="Courier New"/>
                <a:sym typeface="Courier New"/>
              </a:rPr>
              <a:t>, </a:t>
            </a:r>
            <a:r>
              <a:rPr b="0" i="0" lang="en-US" sz="1900" u="none" cap="none" strike="noStrike">
                <a:solidFill>
                  <a:srgbClr val="E69138"/>
                </a:solidFill>
                <a:highlight>
                  <a:schemeClr val="lt1"/>
                </a:highlight>
                <a:latin typeface="Courier New"/>
                <a:ea typeface="Courier New"/>
                <a:cs typeface="Courier New"/>
                <a:sym typeface="Courier New"/>
              </a:rPr>
              <a:t>"password123"</a:t>
            </a:r>
            <a:r>
              <a:rPr b="0" i="0" lang="en-US" sz="1900" u="none" cap="none" strike="noStrike">
                <a:solidFill>
                  <a:schemeClr val="dk1"/>
                </a:solidFill>
                <a:highlight>
                  <a:schemeClr val="lt1"/>
                </a:highlight>
                <a:latin typeface="Courier New"/>
                <a:ea typeface="Courier New"/>
                <a:cs typeface="Courier New"/>
                <a:sym typeface="Courier New"/>
              </a:rPr>
              <a:t>))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correcta!"</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rgbClr val="222222"/>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0077AA"/>
                </a:solidFill>
                <a:highlight>
                  <a:schemeClr val="lt1"/>
                </a:highlight>
                <a:latin typeface="Courier New"/>
                <a:ea typeface="Courier New"/>
                <a:cs typeface="Courier New"/>
                <a:sym typeface="Courier New"/>
              </a:rPr>
              <a:t> </a:t>
            </a:r>
            <a:r>
              <a:rPr b="1" i="0" lang="en-US" sz="1900" u="none" cap="none" strike="noStrike">
                <a:solidFill>
                  <a:srgbClr val="0077AA"/>
                </a:solidFill>
                <a:highlight>
                  <a:schemeClr val="lt1"/>
                </a:highlight>
                <a:latin typeface="Courier New"/>
                <a:ea typeface="Courier New"/>
                <a:cs typeface="Courier New"/>
                <a:sym typeface="Courier New"/>
              </a:rPr>
              <a:t>else </a:t>
            </a:r>
            <a:r>
              <a:rPr b="0"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incorrecta, vuelva a intentarlo"</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rgbClr val="222222"/>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120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p:txBody>
      </p:sp>
      <p:sp>
        <p:nvSpPr>
          <p:cNvPr id="638" name="Google Shape;638;g1dd6d73f377_2_3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g1dd6d73f377_2_3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g1dd6d73f377_2_3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41" name="Google Shape;641;g1dd6d73f377_2_3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42" name="Google Shape;642;g1dd6d73f377_2_3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1dd6d73f377_2_3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44" name="Google Shape;644;g1dd6d73f377_2_3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g1dd6d73f377_2_380"/>
          <p:cNvSpPr txBox="1"/>
          <p:nvPr/>
        </p:nvSpPr>
        <p:spPr>
          <a:xfrm>
            <a:off x="706175" y="1475525"/>
            <a:ext cx="105066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4.</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verifique si una contraseña ingresada por teclado es realmente la contraseña que se ha configurado en el programa.</a:t>
            </a:r>
            <a:endParaRPr b="0" i="0" sz="2000" u="none" cap="none" strike="noStrike">
              <a:solidFill>
                <a:srgbClr val="000000"/>
              </a:solidFill>
              <a:latin typeface="Trebuchet MS"/>
              <a:ea typeface="Trebuchet MS"/>
              <a:cs typeface="Trebuchet MS"/>
              <a:sym typeface="Trebuchet MS"/>
            </a:endParaRPr>
          </a:p>
        </p:txBody>
      </p:sp>
      <p:sp>
        <p:nvSpPr>
          <p:cNvPr id="646" name="Google Shape;646;g1dd6d73f377_2_38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g1dd6d73f377_2_38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1" name="Shape 651"/>
        <p:cNvGrpSpPr/>
        <p:nvPr/>
      </p:nvGrpSpPr>
      <p:grpSpPr>
        <a:xfrm>
          <a:off x="0" y="0"/>
          <a:ext cx="0" cy="0"/>
          <a:chOff x="0" y="0"/>
          <a:chExt cx="0" cy="0"/>
        </a:xfrm>
      </p:grpSpPr>
      <p:sp>
        <p:nvSpPr>
          <p:cNvPr id="652" name="Google Shape;652;g1dd6d73f377_2_423"/>
          <p:cNvSpPr txBox="1"/>
          <p:nvPr/>
        </p:nvSpPr>
        <p:spPr>
          <a:xfrm>
            <a:off x="782375" y="3168750"/>
            <a:ext cx="10817700" cy="339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CC0000"/>
                </a:solidFill>
                <a:highlight>
                  <a:schemeClr val="lt1"/>
                </a:highlight>
                <a:latin typeface="Courier New"/>
                <a:ea typeface="Courier New"/>
                <a:cs typeface="Courier New"/>
                <a:sym typeface="Courier New"/>
              </a:rPr>
              <a:t>Scanner </a:t>
            </a:r>
            <a:r>
              <a:rPr b="1" i="0" lang="en-US" sz="1900" u="none" cap="none" strike="noStrike">
                <a:solidFill>
                  <a:schemeClr val="dk1"/>
                </a:solidFill>
                <a:highlight>
                  <a:schemeClr val="lt1"/>
                </a:highlight>
                <a:latin typeface="Courier New"/>
                <a:ea typeface="Courier New"/>
                <a:cs typeface="Courier New"/>
                <a:sym typeface="Courier New"/>
              </a:rPr>
              <a:t>scanner </a:t>
            </a:r>
            <a:r>
              <a:rPr b="0" i="0" lang="en-US" sz="1900" u="none" cap="none" strike="noStrike">
                <a:solidFill>
                  <a:schemeClr val="dk1"/>
                </a:solidFill>
                <a:highlight>
                  <a:schemeClr val="lt1"/>
                </a:highlight>
                <a:latin typeface="Courier New"/>
                <a:ea typeface="Courier New"/>
                <a:cs typeface="Courier New"/>
                <a:sym typeface="Courier New"/>
              </a:rPr>
              <a:t>= </a:t>
            </a:r>
            <a:r>
              <a:rPr b="1" i="0" lang="en-US" sz="1900" u="none" cap="none" strike="noStrike">
                <a:solidFill>
                  <a:srgbClr val="CC0000"/>
                </a:solidFill>
                <a:highlight>
                  <a:schemeClr val="lt1"/>
                </a:highlight>
                <a:latin typeface="Courier New"/>
                <a:ea typeface="Courier New"/>
                <a:cs typeface="Courier New"/>
                <a:sym typeface="Courier New"/>
              </a:rPr>
              <a:t>new </a:t>
            </a:r>
            <a:r>
              <a:rPr b="0" i="0" lang="en-US" sz="1900" u="none" cap="none" strike="noStrike">
                <a:solidFill>
                  <a:schemeClr val="dk1"/>
                </a:solidFill>
                <a:highlight>
                  <a:schemeClr val="lt1"/>
                </a:highlight>
                <a:latin typeface="Courier New"/>
                <a:ea typeface="Courier New"/>
                <a:cs typeface="Courier New"/>
                <a:sym typeface="Courier New"/>
              </a:rPr>
              <a:t>Scanner(System.in);</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("Ingrese su contraseña: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String </a:t>
            </a:r>
            <a:r>
              <a:rPr b="1" i="0" lang="en-US" sz="1900" u="none" cap="none" strike="noStrike">
                <a:solidFill>
                  <a:srgbClr val="0000CD"/>
                </a:solidFill>
                <a:highlight>
                  <a:schemeClr val="lt1"/>
                </a:highlight>
                <a:latin typeface="Courier New"/>
                <a:ea typeface="Courier New"/>
                <a:cs typeface="Courier New"/>
                <a:sym typeface="Courier New"/>
              </a:rPr>
              <a:t>password </a:t>
            </a:r>
            <a:r>
              <a:rPr b="0" i="0" lang="en-US" sz="1900" u="none" cap="none" strike="noStrike">
                <a:solidFill>
                  <a:schemeClr val="dk1"/>
                </a:solidFill>
                <a:highlight>
                  <a:schemeClr val="lt1"/>
                </a:highlight>
                <a:latin typeface="Courier New"/>
                <a:ea typeface="Courier New"/>
                <a:cs typeface="Courier New"/>
                <a:sym typeface="Courier New"/>
              </a:rPr>
              <a:t>= </a:t>
            </a:r>
            <a:r>
              <a:rPr b="1" i="0" lang="en-US" sz="1900" u="none" cap="none" strike="noStrike">
                <a:solidFill>
                  <a:schemeClr val="dk1"/>
                </a:solidFill>
                <a:highlight>
                  <a:schemeClr val="lt1"/>
                </a:highlight>
                <a:latin typeface="Courier New"/>
                <a:ea typeface="Courier New"/>
                <a:cs typeface="Courier New"/>
                <a:sym typeface="Courier New"/>
              </a:rPr>
              <a:t>scanner</a:t>
            </a:r>
            <a:r>
              <a:rPr b="0" i="0" lang="en-US" sz="1900" u="none" cap="none" strike="noStrike">
                <a:solidFill>
                  <a:schemeClr val="dk1"/>
                </a:solidFill>
                <a:highlight>
                  <a:schemeClr val="lt1"/>
                </a:highlight>
                <a:latin typeface="Courier New"/>
                <a:ea typeface="Courier New"/>
                <a:cs typeface="Courier New"/>
                <a:sym typeface="Courier New"/>
              </a:rPr>
              <a:t>.nextLine();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t/>
            </a:r>
            <a:endParaRPr b="0" i="0" sz="1900" u="none" cap="none" strike="noStrike">
              <a:solidFill>
                <a:srgbClr val="0077AA"/>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0077AA"/>
                </a:solidFill>
                <a:highlight>
                  <a:schemeClr val="lt1"/>
                </a:highlight>
                <a:latin typeface="Courier New"/>
                <a:ea typeface="Courier New"/>
                <a:cs typeface="Courier New"/>
                <a:sym typeface="Courier New"/>
              </a:rPr>
              <a:t>if </a:t>
            </a:r>
            <a:r>
              <a:rPr b="0" i="0" lang="en-US" sz="1900" u="none" cap="none" strike="noStrike">
                <a:solidFill>
                  <a:schemeClr val="dk1"/>
                </a:solidFill>
                <a:highlight>
                  <a:schemeClr val="lt1"/>
                </a:highlight>
                <a:latin typeface="Courier New"/>
                <a:ea typeface="Courier New"/>
                <a:cs typeface="Courier New"/>
                <a:sym typeface="Courier New"/>
              </a:rPr>
              <a:t>(Objects.equals(</a:t>
            </a:r>
            <a:r>
              <a:rPr b="1" i="0" lang="en-US" sz="1900" u="none" cap="none" strike="noStrike">
                <a:solidFill>
                  <a:srgbClr val="0000CD"/>
                </a:solidFill>
                <a:highlight>
                  <a:schemeClr val="lt1"/>
                </a:highlight>
                <a:latin typeface="Courier New"/>
                <a:ea typeface="Courier New"/>
                <a:cs typeface="Courier New"/>
                <a:sym typeface="Courier New"/>
              </a:rPr>
              <a:t>password</a:t>
            </a:r>
            <a:r>
              <a:rPr b="0" i="0" lang="en-US" sz="1900" u="none" cap="none" strike="noStrike">
                <a:solidFill>
                  <a:schemeClr val="dk1"/>
                </a:solidFill>
                <a:highlight>
                  <a:schemeClr val="lt1"/>
                </a:highlight>
                <a:latin typeface="Courier New"/>
                <a:ea typeface="Courier New"/>
                <a:cs typeface="Courier New"/>
                <a:sym typeface="Courier New"/>
              </a:rPr>
              <a:t>, </a:t>
            </a:r>
            <a:r>
              <a:rPr b="0" i="0" lang="en-US" sz="1900" u="none" cap="none" strike="noStrike">
                <a:solidFill>
                  <a:srgbClr val="E69138"/>
                </a:solidFill>
                <a:highlight>
                  <a:schemeClr val="lt1"/>
                </a:highlight>
                <a:latin typeface="Courier New"/>
                <a:ea typeface="Courier New"/>
                <a:cs typeface="Courier New"/>
                <a:sym typeface="Courier New"/>
              </a:rPr>
              <a:t>"password123"</a:t>
            </a:r>
            <a:r>
              <a:rPr b="0" i="0" lang="en-US" sz="1900" u="none" cap="none" strike="noStrike">
                <a:solidFill>
                  <a:schemeClr val="dk1"/>
                </a:solidFill>
                <a:highlight>
                  <a:schemeClr val="lt1"/>
                </a:highlight>
                <a:latin typeface="Courier New"/>
                <a:ea typeface="Courier New"/>
                <a:cs typeface="Courier New"/>
                <a:sym typeface="Courier New"/>
              </a:rPr>
              <a:t>))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correcta!"</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rgbClr val="222222"/>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0077AA"/>
                </a:solidFill>
                <a:highlight>
                  <a:schemeClr val="lt1"/>
                </a:highlight>
                <a:latin typeface="Courier New"/>
                <a:ea typeface="Courier New"/>
                <a:cs typeface="Courier New"/>
                <a:sym typeface="Courier New"/>
              </a:rPr>
              <a:t> </a:t>
            </a:r>
            <a:r>
              <a:rPr b="1" i="0" lang="en-US" sz="1900" u="none" cap="none" strike="noStrike">
                <a:solidFill>
                  <a:srgbClr val="0077AA"/>
                </a:solidFill>
                <a:highlight>
                  <a:schemeClr val="lt1"/>
                </a:highlight>
                <a:latin typeface="Courier New"/>
                <a:ea typeface="Courier New"/>
                <a:cs typeface="Courier New"/>
                <a:sym typeface="Courier New"/>
              </a:rPr>
              <a:t>else </a:t>
            </a:r>
            <a:r>
              <a:rPr b="0"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0077AA"/>
                </a:solidFill>
                <a:highlight>
                  <a:schemeClr val="lt1"/>
                </a:highlight>
                <a:latin typeface="Courier New"/>
                <a:ea typeface="Courier New"/>
                <a:cs typeface="Courier New"/>
                <a:sym typeface="Courier New"/>
              </a:rPr>
              <a:t>System.out.</a:t>
            </a:r>
            <a:r>
              <a:rPr b="0" i="0" lang="en-US" sz="1900" u="none" cap="none" strike="noStrike">
                <a:solidFill>
                  <a:srgbClr val="DD4A68"/>
                </a:solidFill>
                <a:highlight>
                  <a:schemeClr val="lt1"/>
                </a:highlight>
                <a:latin typeface="Courier New"/>
                <a:ea typeface="Courier New"/>
                <a:cs typeface="Courier New"/>
                <a:sym typeface="Courier New"/>
              </a:rPr>
              <a:t>println</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incorrecta, vuelva a intentarlo"</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rgbClr val="222222"/>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1200"/>
              </a:spcAft>
              <a:buClr>
                <a:srgbClr val="000000"/>
              </a:buClr>
              <a:buSzPts val="1900"/>
              <a:buFont typeface="Arial"/>
              <a:buNone/>
            </a:pPr>
            <a:r>
              <a:rPr b="0"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p:txBody>
      </p:sp>
      <p:sp>
        <p:nvSpPr>
          <p:cNvPr id="653" name="Google Shape;653;g1dd6d73f377_2_42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g1dd6d73f377_2_42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5" name="Google Shape;655;g1dd6d73f377_2_42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56" name="Google Shape;656;g1dd6d73f377_2_42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57" name="Google Shape;657;g1dd6d73f377_2_42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1dd6d73f377_2_42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59" name="Google Shape;659;g1dd6d73f377_2_42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1dd6d73f377_2_423"/>
          <p:cNvSpPr txBox="1"/>
          <p:nvPr/>
        </p:nvSpPr>
        <p:spPr>
          <a:xfrm>
            <a:off x="706175" y="1475525"/>
            <a:ext cx="105066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4.</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verifique si una contraseña ingresada por teclado es realmente la contraseña que se ha configurado en el programa.</a:t>
            </a:r>
            <a:endParaRPr b="0" i="0" sz="2000" u="none" cap="none" strike="noStrike">
              <a:solidFill>
                <a:srgbClr val="000000"/>
              </a:solidFill>
              <a:latin typeface="Trebuchet MS"/>
              <a:ea typeface="Trebuchet MS"/>
              <a:cs typeface="Trebuchet MS"/>
              <a:sym typeface="Trebuchet MS"/>
            </a:endParaRPr>
          </a:p>
        </p:txBody>
      </p:sp>
      <p:sp>
        <p:nvSpPr>
          <p:cNvPr id="661" name="Google Shape;661;g1dd6d73f377_2_42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g1dd6d73f377_2_42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663" name="Google Shape;663;g1dd6d73f377_2_423"/>
          <p:cNvSpPr/>
          <p:nvPr/>
        </p:nvSpPr>
        <p:spPr>
          <a:xfrm>
            <a:off x="8413275" y="2891525"/>
            <a:ext cx="3519000" cy="1304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1" i="0" lang="en-US" sz="1700" u="none" cap="none" strike="noStrike">
                <a:solidFill>
                  <a:srgbClr val="FF0000"/>
                </a:solidFill>
                <a:latin typeface="Courier New"/>
                <a:ea typeface="Courier New"/>
                <a:cs typeface="Courier New"/>
                <a:sym typeface="Courier New"/>
              </a:rPr>
              <a:t>Objects.equals()</a:t>
            </a:r>
            <a:r>
              <a:rPr b="0" i="0" lang="en-US" sz="1700" u="none" cap="none" strike="noStrike">
                <a:solidFill>
                  <a:srgbClr val="000000"/>
                </a:solidFill>
                <a:latin typeface="Trebuchet MS"/>
                <a:ea typeface="Trebuchet MS"/>
                <a:cs typeface="Trebuchet MS"/>
                <a:sym typeface="Trebuchet MS"/>
              </a:rPr>
              <a:t> compara dos </a:t>
            </a:r>
            <a:r>
              <a:rPr b="0" i="0" lang="en-US" sz="1700" u="none" cap="none" strike="noStrike">
                <a:solidFill>
                  <a:srgbClr val="000000"/>
                </a:solidFill>
                <a:latin typeface="Courier New"/>
                <a:ea typeface="Courier New"/>
                <a:cs typeface="Courier New"/>
                <a:sym typeface="Courier New"/>
              </a:rPr>
              <a:t>Strings </a:t>
            </a:r>
            <a:r>
              <a:rPr b="0" i="0" lang="en-US" sz="1700" u="none" cap="none" strike="noStrike">
                <a:solidFill>
                  <a:srgbClr val="000000"/>
                </a:solidFill>
                <a:latin typeface="Trebuchet MS"/>
                <a:ea typeface="Trebuchet MS"/>
                <a:cs typeface="Trebuchet MS"/>
                <a:sym typeface="Trebuchet MS"/>
              </a:rPr>
              <a:t>(en este caso dos contraseñas) y devuelve </a:t>
            </a:r>
            <a:r>
              <a:rPr b="0" i="0" lang="en-US" sz="1700" u="none" cap="none" strike="noStrike">
                <a:solidFill>
                  <a:srgbClr val="000000"/>
                </a:solidFill>
                <a:latin typeface="Courier New"/>
                <a:ea typeface="Courier New"/>
                <a:cs typeface="Courier New"/>
                <a:sym typeface="Courier New"/>
              </a:rPr>
              <a:t>true </a:t>
            </a:r>
            <a:r>
              <a:rPr b="0" i="0" lang="en-US" sz="1700" u="none" cap="none" strike="noStrike">
                <a:solidFill>
                  <a:srgbClr val="000000"/>
                </a:solidFill>
                <a:latin typeface="Trebuchet MS"/>
                <a:ea typeface="Trebuchet MS"/>
                <a:cs typeface="Trebuchet MS"/>
                <a:sym typeface="Trebuchet MS"/>
              </a:rPr>
              <a:t>si son exactamente iguales.</a:t>
            </a:r>
            <a:endParaRPr b="0" i="0" sz="17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7" name="Shape 667"/>
        <p:cNvGrpSpPr/>
        <p:nvPr/>
      </p:nvGrpSpPr>
      <p:grpSpPr>
        <a:xfrm>
          <a:off x="0" y="0"/>
          <a:ext cx="0" cy="0"/>
          <a:chOff x="0" y="0"/>
          <a:chExt cx="0" cy="0"/>
        </a:xfrm>
      </p:grpSpPr>
      <p:sp>
        <p:nvSpPr>
          <p:cNvPr id="668" name="Google Shape;668;g1dd6d73f377_2_36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9" name="Google Shape;669;g1dd6d73f377_2_36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0" name="Google Shape;670;g1dd6d73f377_2_36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71" name="Google Shape;671;g1dd6d73f377_2_36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72" name="Google Shape;672;g1dd6d73f377_2_36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g1dd6d73f377_2_36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74" name="Google Shape;674;g1dd6d73f377_2_36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1dd6d73f377_2_362"/>
          <p:cNvSpPr txBox="1"/>
          <p:nvPr/>
        </p:nvSpPr>
        <p:spPr>
          <a:xfrm>
            <a:off x="706175" y="1475525"/>
            <a:ext cx="105066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4.</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355600" lvl="0" marL="457200" marR="0" rtl="0" algn="l">
              <a:lnSpc>
                <a:spcPct val="100000"/>
              </a:lnSpc>
              <a:spcBef>
                <a:spcPts val="0"/>
              </a:spcBef>
              <a:spcAft>
                <a:spcPts val="0"/>
              </a:spcAft>
              <a:buClr>
                <a:srgbClr val="000000"/>
              </a:buClr>
              <a:buSzPts val="2000"/>
              <a:buFont typeface="Trebuchet MS"/>
              <a:buChar char="●"/>
            </a:pPr>
            <a:r>
              <a:rPr b="0" i="0" lang="en-US" sz="2000" u="none" cap="none" strike="noStrike">
                <a:solidFill>
                  <a:srgbClr val="000000"/>
                </a:solidFill>
                <a:latin typeface="Trebuchet MS"/>
                <a:ea typeface="Trebuchet MS"/>
                <a:cs typeface="Trebuchet MS"/>
                <a:sym typeface="Trebuchet MS"/>
              </a:rPr>
              <a:t>Recuerda importar las siguientes librerías para que el programa anterior se ejecute correctamente.</a:t>
            </a:r>
            <a:endParaRPr b="0" i="0" sz="2000" u="none" cap="none" strike="noStrike">
              <a:solidFill>
                <a:srgbClr val="000000"/>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9144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CD"/>
                </a:solidFill>
                <a:latin typeface="Courier New"/>
                <a:ea typeface="Courier New"/>
                <a:cs typeface="Courier New"/>
                <a:sym typeface="Courier New"/>
              </a:rPr>
              <a:t>import </a:t>
            </a:r>
            <a:r>
              <a:rPr b="1" i="0" lang="en-US" sz="2000" u="none" cap="none" strike="noStrike">
                <a:solidFill>
                  <a:srgbClr val="000000"/>
                </a:solidFill>
                <a:latin typeface="Courier New"/>
                <a:ea typeface="Courier New"/>
                <a:cs typeface="Courier New"/>
                <a:sym typeface="Courier New"/>
              </a:rPr>
              <a:t>java.util.Objects</a:t>
            </a:r>
            <a:r>
              <a:rPr b="0" i="0" lang="en-US" sz="2000" u="none" cap="none" strike="noStrike">
                <a:solidFill>
                  <a:srgbClr val="000000"/>
                </a:solidFill>
                <a:latin typeface="Courier New"/>
                <a:ea typeface="Courier New"/>
                <a:cs typeface="Courier New"/>
                <a:sym typeface="Courier New"/>
              </a:rPr>
              <a:t>;</a:t>
            </a:r>
            <a:endParaRPr b="0" i="0" sz="2000" u="none" cap="none" strike="noStrike">
              <a:solidFill>
                <a:srgbClr val="000000"/>
              </a:solidFill>
              <a:latin typeface="Courier New"/>
              <a:ea typeface="Courier New"/>
              <a:cs typeface="Courier New"/>
              <a:sym typeface="Courier New"/>
            </a:endParaRPr>
          </a:p>
          <a:p>
            <a:pPr indent="0" lvl="0" marL="9144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CD"/>
                </a:solidFill>
                <a:latin typeface="Courier New"/>
                <a:ea typeface="Courier New"/>
                <a:cs typeface="Courier New"/>
                <a:sym typeface="Courier New"/>
              </a:rPr>
              <a:t>import </a:t>
            </a:r>
            <a:r>
              <a:rPr b="1" i="0" lang="en-US" sz="2000" u="none" cap="none" strike="noStrike">
                <a:solidFill>
                  <a:srgbClr val="000000"/>
                </a:solidFill>
                <a:latin typeface="Courier New"/>
                <a:ea typeface="Courier New"/>
                <a:cs typeface="Courier New"/>
                <a:sym typeface="Courier New"/>
              </a:rPr>
              <a:t>java.util.Scanner</a:t>
            </a:r>
            <a:r>
              <a:rPr b="0" i="0" lang="en-US" sz="2000" u="none" cap="none" strike="noStrike">
                <a:solidFill>
                  <a:srgbClr val="000000"/>
                </a:solidFill>
                <a:latin typeface="Courier New"/>
                <a:ea typeface="Courier New"/>
                <a:cs typeface="Courier New"/>
                <a:sym typeface="Courier New"/>
              </a:rPr>
              <a:t>;</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ourier New"/>
              <a:ea typeface="Courier New"/>
              <a:cs typeface="Courier New"/>
              <a:sym typeface="Courier New"/>
            </a:endParaRPr>
          </a:p>
        </p:txBody>
      </p:sp>
      <p:sp>
        <p:nvSpPr>
          <p:cNvPr id="676" name="Google Shape;676;g1dd6d73f377_2_36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g1dd6d73f377_2_36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678" name="Google Shape;678;g1dd6d73f377_2_362"/>
          <p:cNvSpPr/>
          <p:nvPr/>
        </p:nvSpPr>
        <p:spPr>
          <a:xfrm>
            <a:off x="3519000" y="4123025"/>
            <a:ext cx="5998800" cy="2095500"/>
          </a:xfrm>
          <a:prstGeom prst="foldedCorner">
            <a:avLst>
              <a:gd fmla="val 16667" name="adj"/>
            </a:avLst>
          </a:prstGeom>
          <a:solidFill>
            <a:srgbClr val="FFE599"/>
          </a:solid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Al utilizar </a:t>
            </a:r>
            <a:r>
              <a:rPr b="0" i="0" lang="en-US" sz="1700" u="none" cap="none" strike="noStrike">
                <a:solidFill>
                  <a:srgbClr val="000000"/>
                </a:solidFill>
                <a:latin typeface="Courier New"/>
                <a:ea typeface="Courier New"/>
                <a:cs typeface="Courier New"/>
                <a:sym typeface="Courier New"/>
              </a:rPr>
              <a:t>char </a:t>
            </a:r>
            <a:r>
              <a:rPr b="0" i="0" lang="en-US" sz="1700" u="none" cap="none" strike="noStrike">
                <a:solidFill>
                  <a:srgbClr val="000000"/>
                </a:solidFill>
                <a:latin typeface="Trebuchet MS"/>
                <a:ea typeface="Trebuchet MS"/>
                <a:cs typeface="Trebuchet MS"/>
                <a:sym typeface="Trebuchet MS"/>
              </a:rPr>
              <a:t>y/o </a:t>
            </a:r>
            <a:r>
              <a:rPr b="0" i="0" lang="en-US" sz="1700" u="none" cap="none" strike="noStrike">
                <a:solidFill>
                  <a:srgbClr val="000000"/>
                </a:solidFill>
                <a:latin typeface="Courier New"/>
                <a:ea typeface="Courier New"/>
                <a:cs typeface="Courier New"/>
                <a:sym typeface="Courier New"/>
              </a:rPr>
              <a:t>String </a:t>
            </a:r>
            <a:r>
              <a:rPr b="0" i="0" lang="en-US" sz="1700" u="none" cap="none" strike="noStrike">
                <a:solidFill>
                  <a:srgbClr val="000000"/>
                </a:solidFill>
                <a:latin typeface="Trebuchet MS"/>
                <a:ea typeface="Trebuchet MS"/>
                <a:cs typeface="Trebuchet MS"/>
                <a:sym typeface="Trebuchet MS"/>
              </a:rPr>
              <a:t>ten mucho cuidado con los cambios como mayúsculas, virgulillas y acentos, esto provocará fallos en los condicionales, por eso es bueno buscar funciones que nos ayuden a declarar formatos fijos como minúsculas, mayúsculas o funciones que se adapten a los textos introducidos por teclado. Ahora te toca a ti consultarlo.</a:t>
            </a:r>
            <a:endParaRPr b="0" i="0" sz="1700" u="none" cap="none" strike="noStrike">
              <a:solidFill>
                <a:srgbClr val="000000"/>
              </a:solidFill>
              <a:latin typeface="Trebuchet MS"/>
              <a:ea typeface="Trebuchet MS"/>
              <a:cs typeface="Trebuchet MS"/>
              <a:sym typeface="Trebuchet MS"/>
            </a:endParaRPr>
          </a:p>
        </p:txBody>
      </p:sp>
      <p:sp>
        <p:nvSpPr>
          <p:cNvPr id="679" name="Google Shape;679;g1dd6d73f377_2_36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80" name="Google Shape;680;g1dd6d73f377_2_362"/>
          <p:cNvPicPr preferRelativeResize="0"/>
          <p:nvPr/>
        </p:nvPicPr>
        <p:blipFill rotWithShape="1">
          <a:blip r:embed="rId4">
            <a:alphaModFix/>
          </a:blip>
          <a:srcRect b="0" l="0" r="0" t="0"/>
          <a:stretch/>
        </p:blipFill>
        <p:spPr>
          <a:xfrm>
            <a:off x="2072063" y="5060801"/>
            <a:ext cx="1499375" cy="1499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4" name="Shape 684"/>
        <p:cNvGrpSpPr/>
        <p:nvPr/>
      </p:nvGrpSpPr>
      <p:grpSpPr>
        <a:xfrm>
          <a:off x="0" y="0"/>
          <a:ext cx="0" cy="0"/>
          <a:chOff x="0" y="0"/>
          <a:chExt cx="0" cy="0"/>
        </a:xfrm>
      </p:grpSpPr>
      <p:sp>
        <p:nvSpPr>
          <p:cNvPr id="685" name="Google Shape;685;g1dd6d73f377_2_39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g1dd6d73f377_2_39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7" name="Google Shape;687;g1dd6d73f377_2_39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88" name="Google Shape;688;g1dd6d73f377_2_39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89" name="Google Shape;689;g1dd6d73f377_2_39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1dd6d73f377_2_39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91" name="Google Shape;691;g1dd6d73f377_2_39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g1dd6d73f377_2_394"/>
          <p:cNvSpPr txBox="1"/>
          <p:nvPr/>
        </p:nvSpPr>
        <p:spPr>
          <a:xfrm>
            <a:off x="706175" y="1475525"/>
            <a:ext cx="105066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4.</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Realizar un algoritmo que verifique si una contraseña ingresada por teclado es realmente la contraseña que se ha configurado en el programa.</a:t>
            </a:r>
            <a:endParaRPr b="0" i="0" sz="2000" u="none" cap="none" strike="noStrike">
              <a:solidFill>
                <a:srgbClr val="000000"/>
              </a:solidFill>
              <a:latin typeface="Trebuchet MS"/>
              <a:ea typeface="Trebuchet MS"/>
              <a:cs typeface="Trebuchet MS"/>
              <a:sym typeface="Trebuchet MS"/>
            </a:endParaRPr>
          </a:p>
        </p:txBody>
      </p:sp>
      <p:sp>
        <p:nvSpPr>
          <p:cNvPr id="693" name="Google Shape;693;g1dd6d73f377_2_39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4" name="Google Shape;694;g1dd6d73f377_2_39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[else]</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695" name="Google Shape;695;g1dd6d73f377_2_394"/>
          <p:cNvSpPr txBox="1"/>
          <p:nvPr/>
        </p:nvSpPr>
        <p:spPr>
          <a:xfrm>
            <a:off x="1759950" y="3168750"/>
            <a:ext cx="8178900" cy="2643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DD4A68"/>
                </a:solidFill>
                <a:highlight>
                  <a:schemeClr val="lt1"/>
                </a:highlight>
                <a:latin typeface="Courier New"/>
                <a:ea typeface="Courier New"/>
                <a:cs typeface="Courier New"/>
                <a:sym typeface="Courier New"/>
              </a:rPr>
              <a:t>print</a:t>
            </a:r>
            <a:r>
              <a:rPr b="0" i="0" lang="en-US" sz="1900" u="none" cap="none" strike="noStrike">
                <a:solidFill>
                  <a:schemeClr val="dk1"/>
                </a:solidFill>
                <a:highlight>
                  <a:schemeClr val="lt1"/>
                </a:highlight>
                <a:latin typeface="Courier New"/>
                <a:ea typeface="Courier New"/>
                <a:cs typeface="Courier New"/>
                <a:sym typeface="Courier New"/>
              </a:rPr>
              <a:t>("Ingrese su contraseña: ")</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0000CD"/>
                </a:solidFill>
                <a:highlight>
                  <a:schemeClr val="lt1"/>
                </a:highlight>
                <a:latin typeface="Courier New"/>
                <a:ea typeface="Courier New"/>
                <a:cs typeface="Courier New"/>
                <a:sym typeface="Courier New"/>
              </a:rPr>
              <a:t>password </a:t>
            </a:r>
            <a:r>
              <a:rPr b="0" i="0" lang="en-US" sz="1900" u="none" cap="none" strike="noStrike">
                <a:solidFill>
                  <a:schemeClr val="dk1"/>
                </a:solidFill>
                <a:highlight>
                  <a:schemeClr val="lt1"/>
                </a:highlight>
                <a:latin typeface="Courier New"/>
                <a:ea typeface="Courier New"/>
                <a:cs typeface="Courier New"/>
                <a:sym typeface="Courier New"/>
              </a:rPr>
              <a:t>= </a:t>
            </a:r>
            <a:r>
              <a:rPr b="1" i="0" lang="en-US" sz="1900" u="none" cap="none" strike="noStrike">
                <a:solidFill>
                  <a:schemeClr val="dk1"/>
                </a:solidFill>
                <a:highlight>
                  <a:schemeClr val="lt1"/>
                </a:highlight>
                <a:latin typeface="Courier New"/>
                <a:ea typeface="Courier New"/>
                <a:cs typeface="Courier New"/>
                <a:sym typeface="Courier New"/>
              </a:rPr>
              <a:t>input()</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t/>
            </a:r>
            <a:endParaRPr b="0" i="0" sz="1900" u="none" cap="none" strike="noStrike">
              <a:solidFill>
                <a:srgbClr val="0077AA"/>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0077AA"/>
                </a:solidFill>
                <a:highlight>
                  <a:schemeClr val="lt1"/>
                </a:highlight>
                <a:latin typeface="Courier New"/>
                <a:ea typeface="Courier New"/>
                <a:cs typeface="Courier New"/>
                <a:sym typeface="Courier New"/>
              </a:rPr>
              <a:t>if </a:t>
            </a:r>
            <a:r>
              <a:rPr b="0" i="0" lang="en-US" sz="1900" u="none" cap="none" strike="noStrike">
                <a:solidFill>
                  <a:schemeClr val="dk1"/>
                </a:solidFill>
                <a:highlight>
                  <a:schemeClr val="lt1"/>
                </a:highlight>
                <a:latin typeface="Courier New"/>
                <a:ea typeface="Courier New"/>
                <a:cs typeface="Courier New"/>
                <a:sym typeface="Courier New"/>
              </a:rPr>
              <a:t>(</a:t>
            </a:r>
            <a:r>
              <a:rPr b="1" i="0" lang="en-US" sz="1900" u="none" cap="none" strike="noStrike">
                <a:solidFill>
                  <a:srgbClr val="0000CD"/>
                </a:solidFill>
                <a:highlight>
                  <a:schemeClr val="lt1"/>
                </a:highlight>
                <a:latin typeface="Courier New"/>
                <a:ea typeface="Courier New"/>
                <a:cs typeface="Courier New"/>
                <a:sym typeface="Courier New"/>
              </a:rPr>
              <a:t>password </a:t>
            </a:r>
            <a:r>
              <a:rPr b="1"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chemeClr val="dk1"/>
                </a:solidFill>
                <a:highlight>
                  <a:schemeClr val="lt1"/>
                </a:highlight>
                <a:latin typeface="Courier New"/>
                <a:ea typeface="Courier New"/>
                <a:cs typeface="Courier New"/>
                <a:sym typeface="Courier New"/>
              </a:rPr>
              <a:t> </a:t>
            </a:r>
            <a:r>
              <a:rPr b="0" i="0" lang="en-US" sz="1900" u="none" cap="none" strike="noStrike">
                <a:solidFill>
                  <a:srgbClr val="E69138"/>
                </a:solidFill>
                <a:highlight>
                  <a:schemeClr val="lt1"/>
                </a:highlight>
                <a:latin typeface="Courier New"/>
                <a:ea typeface="Courier New"/>
                <a:cs typeface="Courier New"/>
                <a:sym typeface="Courier New"/>
              </a:rPr>
              <a:t>"password123"</a:t>
            </a:r>
            <a:r>
              <a:rPr b="0"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0"/>
              </a:spcAft>
              <a:buClr>
                <a:srgbClr val="000000"/>
              </a:buClr>
              <a:buSzPts val="1900"/>
              <a:buFont typeface="Arial"/>
              <a:buNone/>
            </a:pPr>
            <a:r>
              <a:rPr b="0" i="0" lang="en-US" sz="1900" u="none" cap="none" strike="noStrike">
                <a:solidFill>
                  <a:srgbClr val="DD4A68"/>
                </a:solidFill>
                <a:highlight>
                  <a:schemeClr val="lt1"/>
                </a:highlight>
                <a:latin typeface="Courier New"/>
                <a:ea typeface="Courier New"/>
                <a:cs typeface="Courier New"/>
                <a:sym typeface="Courier New"/>
              </a:rPr>
              <a:t>print</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correcta!"</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rgbClr val="222222"/>
              </a:solidFill>
              <a:highlight>
                <a:schemeClr val="lt1"/>
              </a:highlight>
              <a:latin typeface="Courier New"/>
              <a:ea typeface="Courier New"/>
              <a:cs typeface="Courier New"/>
              <a:sym typeface="Courier New"/>
            </a:endParaRPr>
          </a:p>
          <a:p>
            <a:pPr indent="0" lvl="0" marL="0" marR="152400" rtl="0" algn="l">
              <a:lnSpc>
                <a:spcPct val="75000"/>
              </a:lnSpc>
              <a:spcBef>
                <a:spcPts val="1200"/>
              </a:spcBef>
              <a:spcAft>
                <a:spcPts val="0"/>
              </a:spcAft>
              <a:buClr>
                <a:srgbClr val="000000"/>
              </a:buClr>
              <a:buSzPts val="1900"/>
              <a:buFont typeface="Arial"/>
              <a:buNone/>
            </a:pPr>
            <a:r>
              <a:rPr b="1" i="0" lang="en-US" sz="1900" u="none" cap="none" strike="noStrike">
                <a:solidFill>
                  <a:srgbClr val="0077AA"/>
                </a:solidFill>
                <a:highlight>
                  <a:schemeClr val="lt1"/>
                </a:highlight>
                <a:latin typeface="Courier New"/>
                <a:ea typeface="Courier New"/>
                <a:cs typeface="Courier New"/>
                <a:sym typeface="Courier New"/>
              </a:rPr>
              <a:t>else</a:t>
            </a:r>
            <a:r>
              <a:rPr b="1" i="0" lang="en-US" sz="1900" u="none" cap="none" strike="noStrike">
                <a:solidFill>
                  <a:schemeClr val="dk1"/>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a:p>
            <a:pPr indent="0" lvl="0" marL="457200" marR="152400" rtl="0" algn="l">
              <a:lnSpc>
                <a:spcPct val="75000"/>
              </a:lnSpc>
              <a:spcBef>
                <a:spcPts val="1200"/>
              </a:spcBef>
              <a:spcAft>
                <a:spcPts val="1200"/>
              </a:spcAft>
              <a:buClr>
                <a:srgbClr val="000000"/>
              </a:buClr>
              <a:buSzPts val="1900"/>
              <a:buFont typeface="Arial"/>
              <a:buNone/>
            </a:pPr>
            <a:r>
              <a:rPr b="0" i="0" lang="en-US" sz="1900" u="none" cap="none" strike="noStrike">
                <a:solidFill>
                  <a:srgbClr val="DD4A68"/>
                </a:solidFill>
                <a:highlight>
                  <a:schemeClr val="lt1"/>
                </a:highlight>
                <a:latin typeface="Courier New"/>
                <a:ea typeface="Courier New"/>
                <a:cs typeface="Courier New"/>
                <a:sym typeface="Courier New"/>
              </a:rPr>
              <a:t>print</a:t>
            </a:r>
            <a:r>
              <a:rPr b="0" i="0" lang="en-US" sz="1900" u="none" cap="none" strike="noStrike">
                <a:solidFill>
                  <a:schemeClr val="dk1"/>
                </a:solidFill>
                <a:highlight>
                  <a:schemeClr val="lt1"/>
                </a:highlight>
                <a:latin typeface="Courier New"/>
                <a:ea typeface="Courier New"/>
                <a:cs typeface="Courier New"/>
                <a:sym typeface="Courier New"/>
              </a:rPr>
              <a:t>(</a:t>
            </a:r>
            <a:r>
              <a:rPr b="0" i="0" lang="en-US" sz="1900" u="none" cap="none" strike="noStrike">
                <a:solidFill>
                  <a:srgbClr val="669900"/>
                </a:solidFill>
                <a:highlight>
                  <a:schemeClr val="lt1"/>
                </a:highlight>
                <a:latin typeface="Courier New"/>
                <a:ea typeface="Courier New"/>
                <a:cs typeface="Courier New"/>
                <a:sym typeface="Courier New"/>
              </a:rPr>
              <a:t>"Contraseña incorrecta, vuelva a intentarlo"</a:t>
            </a:r>
            <a:r>
              <a:rPr b="0" i="0" lang="en-US" sz="1900" u="none" cap="none" strike="noStrike">
                <a:solidFill>
                  <a:srgbClr val="222222"/>
                </a:solidFill>
                <a:highlight>
                  <a:schemeClr val="lt1"/>
                </a:highlight>
                <a:latin typeface="Courier New"/>
                <a:ea typeface="Courier New"/>
                <a:cs typeface="Courier New"/>
                <a:sym typeface="Courier New"/>
              </a:rPr>
              <a:t>)</a:t>
            </a:r>
            <a:endParaRPr b="0" i="0" sz="1900" u="none" cap="none" strike="noStrike">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9" name="Shape 699"/>
        <p:cNvGrpSpPr/>
        <p:nvPr/>
      </p:nvGrpSpPr>
      <p:grpSpPr>
        <a:xfrm>
          <a:off x="0" y="0"/>
          <a:ext cx="0" cy="0"/>
          <a:chOff x="0" y="0"/>
          <a:chExt cx="0" cy="0"/>
        </a:xfrm>
      </p:grpSpPr>
      <p:sp>
        <p:nvSpPr>
          <p:cNvPr id="700" name="Google Shape;700;g1dd6d73f377_2_40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g1dd6d73f377_2_40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g1dd6d73f377_2_40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03" name="Google Shape;703;g1dd6d73f377_2_40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04" name="Google Shape;704;g1dd6d73f377_2_40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1dd6d73f377_2_40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06" name="Google Shape;706;g1dd6d73f377_2_40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1dd6d73f377_2_408"/>
          <p:cNvSpPr/>
          <p:nvPr/>
        </p:nvSpPr>
        <p:spPr>
          <a:xfrm>
            <a:off x="363000" y="1337849"/>
            <a:ext cx="3763260" cy="1613196"/>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8" name="Google Shape;708;g1dd6d73f377_2_408"/>
          <p:cNvPicPr preferRelativeResize="0"/>
          <p:nvPr/>
        </p:nvPicPr>
        <p:blipFill rotWithShape="1">
          <a:blip r:embed="rId4">
            <a:alphaModFix/>
          </a:blip>
          <a:srcRect b="0" l="0" r="0" t="0"/>
          <a:stretch/>
        </p:blipFill>
        <p:spPr>
          <a:xfrm>
            <a:off x="482876" y="2878488"/>
            <a:ext cx="3387025" cy="3387025"/>
          </a:xfrm>
          <a:prstGeom prst="rect">
            <a:avLst/>
          </a:prstGeom>
          <a:noFill/>
          <a:ln>
            <a:noFill/>
          </a:ln>
        </p:spPr>
      </p:pic>
      <p:sp>
        <p:nvSpPr>
          <p:cNvPr id="709" name="Google Shape;709;g1dd6d73f377_2_408"/>
          <p:cNvSpPr txBox="1"/>
          <p:nvPr/>
        </p:nvSpPr>
        <p:spPr>
          <a:xfrm>
            <a:off x="4690400" y="1882850"/>
            <a:ext cx="6552000" cy="3817200"/>
          </a:xfrm>
          <a:prstGeom prst="rect">
            <a:avLst/>
          </a:prstGeom>
          <a:noFill/>
          <a:ln cap="flat" cmpd="sng" w="19050">
            <a:solidFill>
              <a:srgbClr val="00AEAA"/>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rebuchet MS"/>
                <a:ea typeface="Trebuchet MS"/>
                <a:cs typeface="Trebuchet MS"/>
                <a:sym typeface="Trebuchet MS"/>
              </a:rPr>
              <a:t>Un empleado de la tienda tiki taka realiza 3 ventas durante el día, se requiere saber cuál de ellas fue mayores a $1000, cuál fue mayor a $500 pero menores o iguales a $1000, y cuál fue menor o igual a $500. Además, se requiere saber el monto de lo vendido en cada categoría y de forma global.</a:t>
            </a:r>
            <a:endParaRPr b="0" i="0" sz="22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30303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FF0000"/>
                </a:solidFill>
                <a:latin typeface="Trebuchet MS"/>
                <a:ea typeface="Trebuchet MS"/>
                <a:cs typeface="Trebuchet MS"/>
                <a:sym typeface="Trebuchet MS"/>
              </a:rPr>
              <a:t>Tenga en cuenta que de los 3 montos estos no necesariamente tienen que pertenecer a uno de los grupos sino que pueden repetir grupo.</a:t>
            </a:r>
            <a:endParaRPr b="0" i="1" sz="2000" u="none" cap="none" strike="noStrike">
              <a:solidFill>
                <a:srgbClr val="FF0000"/>
              </a:solidFill>
              <a:latin typeface="Trebuchet MS"/>
              <a:ea typeface="Trebuchet MS"/>
              <a:cs typeface="Trebuchet MS"/>
              <a:sym typeface="Trebuchet MS"/>
            </a:endParaRPr>
          </a:p>
        </p:txBody>
      </p:sp>
      <p:sp>
        <p:nvSpPr>
          <p:cNvPr id="710" name="Google Shape;710;g1dd6d73f377_2_408"/>
          <p:cNvSpPr txBox="1"/>
          <p:nvPr>
            <p:ph type="title"/>
          </p:nvPr>
        </p:nvSpPr>
        <p:spPr>
          <a:xfrm>
            <a:off x="596675" y="1882850"/>
            <a:ext cx="36495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Ahora te toca a tí</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4" name="Shape 714"/>
        <p:cNvGrpSpPr/>
        <p:nvPr/>
      </p:nvGrpSpPr>
      <p:grpSpPr>
        <a:xfrm>
          <a:off x="0" y="0"/>
          <a:ext cx="0" cy="0"/>
          <a:chOff x="0" y="0"/>
          <a:chExt cx="0" cy="0"/>
        </a:xfrm>
      </p:grpSpPr>
      <p:sp>
        <p:nvSpPr>
          <p:cNvPr id="715" name="Google Shape;715;g1dd2b324201_0_6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g1dd2b324201_0_6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7" name="Google Shape;717;g1dd2b324201_0_6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18" name="Google Shape;718;g1dd2b324201_0_6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19" name="Google Shape;719;g1dd2b324201_0_6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1dd2b324201_0_6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21" name="Google Shape;721;g1dd2b324201_0_6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g1dd2b324201_0_66"/>
          <p:cNvSpPr txBox="1"/>
          <p:nvPr>
            <p:ph type="title"/>
          </p:nvPr>
        </p:nvSpPr>
        <p:spPr>
          <a:xfrm>
            <a:off x="1642350" y="2387050"/>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Estructura </a:t>
            </a:r>
            <a:endParaRPr sz="6000">
              <a:latin typeface="Trebuchet MS"/>
              <a:ea typeface="Trebuchet MS"/>
              <a:cs typeface="Trebuchet MS"/>
              <a:sym typeface="Trebuchet MS"/>
            </a:endParaRPr>
          </a:p>
          <a:p>
            <a:pPr indent="0" lvl="0" marL="0" rtl="0" algn="ctr">
              <a:lnSpc>
                <a:spcPct val="100000"/>
              </a:lnSpc>
              <a:spcBef>
                <a:spcPts val="0"/>
              </a:spcBef>
              <a:spcAft>
                <a:spcPts val="0"/>
              </a:spcAft>
              <a:buSzPts val="1400"/>
              <a:buNone/>
            </a:pPr>
            <a:r>
              <a:rPr lang="en-US" sz="6000">
                <a:latin typeface="Courier New"/>
                <a:ea typeface="Courier New"/>
                <a:cs typeface="Courier New"/>
                <a:sym typeface="Courier New"/>
              </a:rPr>
              <a:t>[else if]</a:t>
            </a:r>
            <a:endParaRPr sz="6000">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6" name="Shape 726"/>
        <p:cNvGrpSpPr/>
        <p:nvPr/>
      </p:nvGrpSpPr>
      <p:grpSpPr>
        <a:xfrm>
          <a:off x="0" y="0"/>
          <a:ext cx="0" cy="0"/>
          <a:chOff x="0" y="0"/>
          <a:chExt cx="0" cy="0"/>
        </a:xfrm>
      </p:grpSpPr>
      <p:sp>
        <p:nvSpPr>
          <p:cNvPr id="727" name="Google Shape;727;g1b61ca9f410_0_22"/>
          <p:cNvSpPr txBox="1"/>
          <p:nvPr/>
        </p:nvSpPr>
        <p:spPr>
          <a:xfrm>
            <a:off x="1244200" y="3162375"/>
            <a:ext cx="10101900" cy="340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2000"/>
              <a:buFont typeface="Arial"/>
              <a:buNone/>
            </a:pPr>
            <a:r>
              <a:rPr b="1" i="0" lang="en-US" sz="2000" u="none" cap="none" strike="noStrike">
                <a:solidFill>
                  <a:srgbClr val="00AFAA"/>
                </a:solidFill>
                <a:latin typeface="Courier New"/>
                <a:ea typeface="Courier New"/>
                <a:cs typeface="Courier New"/>
                <a:sym typeface="Courier New"/>
              </a:rPr>
              <a:t>val_venta1</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 int(input</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"Ingrese el valor de la primera venta: "</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categoria_1 = 0</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categoria_2 = 0</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categoria_3 = 0</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chemeClr val="dk1"/>
              </a:buClr>
              <a:buSzPts val="1100"/>
              <a:buFont typeface="Arial"/>
              <a:buNone/>
            </a:pPr>
            <a:r>
              <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if</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val_venta1</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rgbClr val="9A6E3A"/>
                </a:solidFill>
                <a:latin typeface="Courier New"/>
                <a:ea typeface="Courier New"/>
                <a:cs typeface="Courier New"/>
                <a:sym typeface="Courier New"/>
              </a:rPr>
              <a:t>&gt; 1000</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99999"/>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45720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categoria_1 += val_venta1</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1000 &gt;= </a:t>
            </a:r>
            <a:r>
              <a:rPr b="0" i="0" lang="en-US" sz="2000" u="none" cap="none" strike="noStrike">
                <a:solidFill>
                  <a:srgbClr val="00AFAA"/>
                </a:solidFill>
                <a:latin typeface="Courier New"/>
                <a:ea typeface="Courier New"/>
                <a:cs typeface="Courier New"/>
                <a:sym typeface="Courier New"/>
              </a:rPr>
              <a:t>val_venta1</a:t>
            </a:r>
            <a:r>
              <a:rPr b="0" i="0" lang="en-US" sz="2000" u="none" cap="none" strike="noStrike">
                <a:solidFill>
                  <a:srgbClr val="9A6E3A"/>
                </a:solidFill>
                <a:latin typeface="Courier New"/>
                <a:ea typeface="Courier New"/>
                <a:cs typeface="Courier New"/>
                <a:sym typeface="Courier New"/>
              </a:rPr>
              <a:t> &gt; 500)</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rgbClr val="0077AA"/>
              </a:solidFill>
              <a:latin typeface="Courier New"/>
              <a:ea typeface="Courier New"/>
              <a:cs typeface="Courier New"/>
              <a:sym typeface="Courier New"/>
            </a:endParaRPr>
          </a:p>
          <a:p>
            <a:pPr indent="0" lvl="0" marL="457200" marR="152400" rtl="0" algn="l">
              <a:lnSpc>
                <a:spcPct val="95000"/>
              </a:lnSpc>
              <a:spcBef>
                <a:spcPts val="0"/>
              </a:spcBef>
              <a:spcAft>
                <a:spcPts val="0"/>
              </a:spcAft>
              <a:buClr>
                <a:schemeClr val="dk1"/>
              </a:buClr>
              <a:buSzPts val="1100"/>
              <a:buFont typeface="Arial"/>
              <a:buNone/>
            </a:pPr>
            <a:r>
              <a:rPr b="0" i="0" lang="en-US" sz="2000" u="none" cap="none" strike="noStrike">
                <a:solidFill>
                  <a:schemeClr val="dk1"/>
                </a:solidFill>
                <a:latin typeface="Courier New"/>
                <a:ea typeface="Courier New"/>
                <a:cs typeface="Courier New"/>
                <a:sym typeface="Courier New"/>
              </a:rPr>
              <a:t>categoria_2 += val_venta1</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500 &gt;= </a:t>
            </a:r>
            <a:r>
              <a:rPr b="0" i="0" lang="en-US" sz="2000" u="none" cap="none" strike="noStrike">
                <a:solidFill>
                  <a:srgbClr val="00AFAA"/>
                </a:solidFill>
                <a:latin typeface="Courier New"/>
                <a:ea typeface="Courier New"/>
                <a:cs typeface="Courier New"/>
                <a:sym typeface="Courier New"/>
              </a:rPr>
              <a:t>val_venta1</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	categoria_3 += val_venta1</a:t>
            </a:r>
            <a:endParaRPr b="0" i="0" sz="2000" u="none" cap="none" strike="noStrike">
              <a:solidFill>
                <a:schemeClr val="dk1"/>
              </a:solidFill>
              <a:latin typeface="Courier New"/>
              <a:ea typeface="Courier New"/>
              <a:cs typeface="Courier New"/>
              <a:sym typeface="Courier New"/>
            </a:endParaRPr>
          </a:p>
        </p:txBody>
      </p:sp>
      <p:sp>
        <p:nvSpPr>
          <p:cNvPr id="728" name="Google Shape;728;g1b61ca9f410_0_2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9" name="Google Shape;729;g1b61ca9f410_0_2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g1b61ca9f410_0_2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31" name="Google Shape;731;g1b61ca9f410_0_2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32" name="Google Shape;732;g1b61ca9f410_0_2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1b61ca9f410_0_2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34" name="Google Shape;734;g1b61ca9f410_0_2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1b61ca9f410_0_22"/>
          <p:cNvSpPr txBox="1"/>
          <p:nvPr/>
        </p:nvSpPr>
        <p:spPr>
          <a:xfrm>
            <a:off x="735800" y="1323113"/>
            <a:ext cx="10506600" cy="1723800"/>
          </a:xfrm>
          <a:prstGeom prst="rect">
            <a:avLst/>
          </a:prstGeom>
          <a:noFill/>
          <a:ln>
            <a:noFill/>
          </a:ln>
        </p:spPr>
        <p:txBody>
          <a:bodyPr anchorCtr="0" anchor="t" bIns="91425" lIns="91425" spcFirstLastPara="1" rIns="91425" wrap="square" tIns="91425">
            <a:spAutoFit/>
          </a:bodyPr>
          <a:lstStyle/>
          <a:p>
            <a:pPr indent="45720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5.</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 empleado de la tienda tiki taka realiza 3 ventas durante el día, se requiere saber cuál de ellas fue mayores a $1000, cuál fue mayor a $500 pero menores o iguales a $1000, y cuál fue menor o igual a $500. Además, se requiere saber el monto de lo vendido en cada categoría y de forma global.</a:t>
            </a:r>
            <a:endParaRPr b="0" i="0" sz="2000" u="none" cap="none" strike="noStrike">
              <a:solidFill>
                <a:srgbClr val="000000"/>
              </a:solidFill>
              <a:latin typeface="Courier New"/>
              <a:ea typeface="Courier New"/>
              <a:cs typeface="Courier New"/>
              <a:sym typeface="Courier New"/>
            </a:endParaRPr>
          </a:p>
        </p:txBody>
      </p:sp>
      <p:sp>
        <p:nvSpPr>
          <p:cNvPr id="736" name="Google Shape;736;g1b61ca9f410_0_2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7" name="Google Shape;737;g1b61ca9f410_0_2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1" name="Shape 741"/>
        <p:cNvGrpSpPr/>
        <p:nvPr/>
      </p:nvGrpSpPr>
      <p:grpSpPr>
        <a:xfrm>
          <a:off x="0" y="0"/>
          <a:ext cx="0" cy="0"/>
          <a:chOff x="0" y="0"/>
          <a:chExt cx="0" cy="0"/>
        </a:xfrm>
      </p:grpSpPr>
      <p:sp>
        <p:nvSpPr>
          <p:cNvPr id="742" name="Google Shape;742;g1dd6d73f377_2_443"/>
          <p:cNvSpPr txBox="1"/>
          <p:nvPr/>
        </p:nvSpPr>
        <p:spPr>
          <a:xfrm>
            <a:off x="1199775" y="3191275"/>
            <a:ext cx="10101900" cy="2524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2000"/>
              <a:buFont typeface="Arial"/>
              <a:buNone/>
            </a:pPr>
            <a:r>
              <a:rPr b="1" i="0" lang="en-US" sz="2000" u="none" cap="none" strike="noStrike">
                <a:solidFill>
                  <a:srgbClr val="00AFAA"/>
                </a:solidFill>
                <a:latin typeface="Courier New"/>
                <a:ea typeface="Courier New"/>
                <a:cs typeface="Courier New"/>
                <a:sym typeface="Courier New"/>
              </a:rPr>
              <a:t>val_venta2</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 int(input</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"Ingrese el valor de la segunda venta: "</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rgbClr val="000000"/>
              </a:buClr>
              <a:buSzPts val="2000"/>
              <a:buFont typeface="Arial"/>
              <a:buNone/>
            </a:pPr>
            <a:r>
              <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if</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val_venta2</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rgbClr val="9A6E3A"/>
                </a:solidFill>
                <a:latin typeface="Courier New"/>
                <a:ea typeface="Courier New"/>
                <a:cs typeface="Courier New"/>
                <a:sym typeface="Courier New"/>
              </a:rPr>
              <a:t>&gt; 1000</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99999"/>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45720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categoria_1 += val_venta2</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1000 &gt;= </a:t>
            </a:r>
            <a:r>
              <a:rPr b="0" i="0" lang="en-US" sz="2000" u="none" cap="none" strike="noStrike">
                <a:solidFill>
                  <a:srgbClr val="00AFAA"/>
                </a:solidFill>
                <a:latin typeface="Courier New"/>
                <a:ea typeface="Courier New"/>
                <a:cs typeface="Courier New"/>
                <a:sym typeface="Courier New"/>
              </a:rPr>
              <a:t>val_venta2</a:t>
            </a:r>
            <a:r>
              <a:rPr b="0" i="0" lang="en-US" sz="2000" u="none" cap="none" strike="noStrike">
                <a:solidFill>
                  <a:srgbClr val="9A6E3A"/>
                </a:solidFill>
                <a:latin typeface="Courier New"/>
                <a:ea typeface="Courier New"/>
                <a:cs typeface="Courier New"/>
                <a:sym typeface="Courier New"/>
              </a:rPr>
              <a:t> &gt; 500)</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rgbClr val="0077AA"/>
              </a:solidFill>
              <a:latin typeface="Courier New"/>
              <a:ea typeface="Courier New"/>
              <a:cs typeface="Courier New"/>
              <a:sym typeface="Courier New"/>
            </a:endParaRPr>
          </a:p>
          <a:p>
            <a:pPr indent="0" lvl="0" marL="45720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categoria_2 += val_venta2</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500 &gt;= </a:t>
            </a:r>
            <a:r>
              <a:rPr b="0" i="0" lang="en-US" sz="2000" u="none" cap="none" strike="noStrike">
                <a:solidFill>
                  <a:srgbClr val="00AFAA"/>
                </a:solidFill>
                <a:latin typeface="Courier New"/>
                <a:ea typeface="Courier New"/>
                <a:cs typeface="Courier New"/>
                <a:sym typeface="Courier New"/>
              </a:rPr>
              <a:t>val_venta2</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	categoria_3 += val_venta2</a:t>
            </a:r>
            <a:endParaRPr b="0" i="0" sz="2000" u="none" cap="none" strike="noStrike">
              <a:solidFill>
                <a:schemeClr val="dk1"/>
              </a:solidFill>
              <a:latin typeface="Courier New"/>
              <a:ea typeface="Courier New"/>
              <a:cs typeface="Courier New"/>
              <a:sym typeface="Courier New"/>
            </a:endParaRPr>
          </a:p>
        </p:txBody>
      </p:sp>
      <p:sp>
        <p:nvSpPr>
          <p:cNvPr id="743" name="Google Shape;743;g1dd6d73f377_2_44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4" name="Google Shape;744;g1dd6d73f377_2_44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5" name="Google Shape;745;g1dd6d73f377_2_44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46" name="Google Shape;746;g1dd6d73f377_2_44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47" name="Google Shape;747;g1dd6d73f377_2_44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1dd6d73f377_2_44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49" name="Google Shape;749;g1dd6d73f377_2_44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1dd6d73f377_2_443"/>
          <p:cNvSpPr txBox="1"/>
          <p:nvPr/>
        </p:nvSpPr>
        <p:spPr>
          <a:xfrm>
            <a:off x="735800" y="1627913"/>
            <a:ext cx="105066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5.</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Trebuchet MS"/>
                <a:ea typeface="Trebuchet MS"/>
                <a:cs typeface="Trebuchet MS"/>
                <a:sym typeface="Trebuchet MS"/>
              </a:rPr>
              <a:t>Continuación:</a:t>
            </a:r>
            <a:endParaRPr b="0" i="1" sz="2000" u="none" cap="none" strike="noStrike">
              <a:solidFill>
                <a:srgbClr val="000000"/>
              </a:solidFill>
              <a:latin typeface="Courier New"/>
              <a:ea typeface="Courier New"/>
              <a:cs typeface="Courier New"/>
              <a:sym typeface="Courier New"/>
            </a:endParaRPr>
          </a:p>
        </p:txBody>
      </p:sp>
      <p:sp>
        <p:nvSpPr>
          <p:cNvPr id="751" name="Google Shape;751;g1dd6d73f377_2_44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g1dd6d73f377_2_44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6" name="Shape 756"/>
        <p:cNvGrpSpPr/>
        <p:nvPr/>
      </p:nvGrpSpPr>
      <p:grpSpPr>
        <a:xfrm>
          <a:off x="0" y="0"/>
          <a:ext cx="0" cy="0"/>
          <a:chOff x="0" y="0"/>
          <a:chExt cx="0" cy="0"/>
        </a:xfrm>
      </p:grpSpPr>
      <p:sp>
        <p:nvSpPr>
          <p:cNvPr id="757" name="Google Shape;757;g1dd6d73f377_2_458"/>
          <p:cNvSpPr txBox="1"/>
          <p:nvPr/>
        </p:nvSpPr>
        <p:spPr>
          <a:xfrm>
            <a:off x="1199775" y="3191275"/>
            <a:ext cx="10101900" cy="2524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95000"/>
              </a:lnSpc>
              <a:spcBef>
                <a:spcPts val="0"/>
              </a:spcBef>
              <a:spcAft>
                <a:spcPts val="0"/>
              </a:spcAft>
              <a:buClr>
                <a:srgbClr val="000000"/>
              </a:buClr>
              <a:buSzPts val="2000"/>
              <a:buFont typeface="Arial"/>
              <a:buNone/>
            </a:pPr>
            <a:r>
              <a:rPr b="1" i="0" lang="en-US" sz="2000" u="none" cap="none" strike="noStrike">
                <a:solidFill>
                  <a:srgbClr val="00AFAA"/>
                </a:solidFill>
                <a:latin typeface="Courier New"/>
                <a:ea typeface="Courier New"/>
                <a:cs typeface="Courier New"/>
                <a:sym typeface="Courier New"/>
              </a:rPr>
              <a:t>val_venta3</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 int(input</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"Ingrese el valor de la tercera venta: "</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95000"/>
              </a:lnSpc>
              <a:spcBef>
                <a:spcPts val="0"/>
              </a:spcBef>
              <a:spcAft>
                <a:spcPts val="0"/>
              </a:spcAft>
              <a:buClr>
                <a:srgbClr val="000000"/>
              </a:buClr>
              <a:buSzPts val="2000"/>
              <a:buFont typeface="Arial"/>
              <a:buNone/>
            </a:pPr>
            <a:r>
              <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if</a:t>
            </a:r>
            <a:r>
              <a:rPr b="1"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AFAA"/>
                </a:solidFill>
                <a:latin typeface="Courier New"/>
                <a:ea typeface="Courier New"/>
                <a:cs typeface="Courier New"/>
                <a:sym typeface="Courier New"/>
              </a:rPr>
              <a:t>val_venta3</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rgbClr val="9A6E3A"/>
                </a:solidFill>
                <a:latin typeface="Courier New"/>
                <a:ea typeface="Courier New"/>
                <a:cs typeface="Courier New"/>
                <a:sym typeface="Courier New"/>
              </a:rPr>
              <a:t>&gt; 1000</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99999"/>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45720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categoria_1 += val_venta3</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1000 &gt;= </a:t>
            </a:r>
            <a:r>
              <a:rPr b="0" i="0" lang="en-US" sz="2000" u="none" cap="none" strike="noStrike">
                <a:solidFill>
                  <a:srgbClr val="00AFAA"/>
                </a:solidFill>
                <a:latin typeface="Courier New"/>
                <a:ea typeface="Courier New"/>
                <a:cs typeface="Courier New"/>
                <a:sym typeface="Courier New"/>
              </a:rPr>
              <a:t>val_venta3</a:t>
            </a:r>
            <a:r>
              <a:rPr b="0" i="0" lang="en-US" sz="2000" u="none" cap="none" strike="noStrike">
                <a:solidFill>
                  <a:srgbClr val="9A6E3A"/>
                </a:solidFill>
                <a:latin typeface="Courier New"/>
                <a:ea typeface="Courier New"/>
                <a:cs typeface="Courier New"/>
                <a:sym typeface="Courier New"/>
              </a:rPr>
              <a:t> &gt; 500)</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rgbClr val="0077AA"/>
              </a:solidFill>
              <a:latin typeface="Courier New"/>
              <a:ea typeface="Courier New"/>
              <a:cs typeface="Courier New"/>
              <a:sym typeface="Courier New"/>
            </a:endParaRPr>
          </a:p>
          <a:p>
            <a:pPr indent="0" lvl="0" marL="45720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categoria_2 += val_venta3</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1" i="0" lang="en-US" sz="2000" u="none" cap="none" strike="noStrike">
                <a:solidFill>
                  <a:srgbClr val="0077AA"/>
                </a:solidFill>
                <a:latin typeface="Courier New"/>
                <a:ea typeface="Courier New"/>
                <a:cs typeface="Courier New"/>
                <a:sym typeface="Courier New"/>
              </a:rPr>
              <a:t>elif </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A6E3A"/>
                </a:solidFill>
                <a:latin typeface="Courier New"/>
                <a:ea typeface="Courier New"/>
                <a:cs typeface="Courier New"/>
                <a:sym typeface="Courier New"/>
              </a:rPr>
              <a:t>500 &gt;= </a:t>
            </a:r>
            <a:r>
              <a:rPr b="0" i="0" lang="en-US" sz="2000" u="none" cap="none" strike="noStrike">
                <a:solidFill>
                  <a:srgbClr val="00AFAA"/>
                </a:solidFill>
                <a:latin typeface="Courier New"/>
                <a:ea typeface="Courier New"/>
                <a:cs typeface="Courier New"/>
                <a:sym typeface="Courier New"/>
              </a:rPr>
              <a:t>val_venta3</a:t>
            </a:r>
            <a:r>
              <a:rPr b="0"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0077AA"/>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	categoria_3 += val_venta3</a:t>
            </a:r>
            <a:endParaRPr b="0" i="0" sz="2000" u="none" cap="none" strike="noStrike">
              <a:solidFill>
                <a:schemeClr val="dk1"/>
              </a:solidFill>
              <a:latin typeface="Courier New"/>
              <a:ea typeface="Courier New"/>
              <a:cs typeface="Courier New"/>
              <a:sym typeface="Courier New"/>
            </a:endParaRPr>
          </a:p>
        </p:txBody>
      </p:sp>
      <p:sp>
        <p:nvSpPr>
          <p:cNvPr id="758" name="Google Shape;758;g1dd6d73f377_2_4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g1dd6d73f377_2_4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0" name="Google Shape;760;g1dd6d73f377_2_4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61" name="Google Shape;761;g1dd6d73f377_2_4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62" name="Google Shape;762;g1dd6d73f377_2_4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g1dd6d73f377_2_4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64" name="Google Shape;764;g1dd6d73f377_2_4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g1dd6d73f377_2_458"/>
          <p:cNvSpPr txBox="1"/>
          <p:nvPr/>
        </p:nvSpPr>
        <p:spPr>
          <a:xfrm>
            <a:off x="735800" y="1627913"/>
            <a:ext cx="105066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5.</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Trebuchet MS"/>
                <a:ea typeface="Trebuchet MS"/>
                <a:cs typeface="Trebuchet MS"/>
                <a:sym typeface="Trebuchet MS"/>
              </a:rPr>
              <a:t>Continuación:</a:t>
            </a:r>
            <a:endParaRPr b="0" i="1" sz="2000" u="none" cap="none" strike="noStrike">
              <a:solidFill>
                <a:srgbClr val="000000"/>
              </a:solidFill>
              <a:latin typeface="Courier New"/>
              <a:ea typeface="Courier New"/>
              <a:cs typeface="Courier New"/>
              <a:sym typeface="Courier New"/>
            </a:endParaRPr>
          </a:p>
        </p:txBody>
      </p:sp>
      <p:sp>
        <p:nvSpPr>
          <p:cNvPr id="766" name="Google Shape;766;g1dd6d73f377_2_45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7" name="Google Shape;767;g1dd6d73f377_2_45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1" name="Shape 771"/>
        <p:cNvGrpSpPr/>
        <p:nvPr/>
      </p:nvGrpSpPr>
      <p:grpSpPr>
        <a:xfrm>
          <a:off x="0" y="0"/>
          <a:ext cx="0" cy="0"/>
          <a:chOff x="0" y="0"/>
          <a:chExt cx="0" cy="0"/>
        </a:xfrm>
      </p:grpSpPr>
      <p:sp>
        <p:nvSpPr>
          <p:cNvPr id="772" name="Google Shape;772;g1dd6d73f377_2_47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3" name="Google Shape;773;g1dd6d73f377_2_47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4" name="Google Shape;774;g1dd6d73f377_2_47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75" name="Google Shape;775;g1dd6d73f377_2_47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76" name="Google Shape;776;g1dd6d73f377_2_47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g1dd6d73f377_2_47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78" name="Google Shape;778;g1dd6d73f377_2_47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1dd6d73f377_2_472"/>
          <p:cNvSpPr txBox="1"/>
          <p:nvPr/>
        </p:nvSpPr>
        <p:spPr>
          <a:xfrm>
            <a:off x="735800" y="1627913"/>
            <a:ext cx="105066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5.</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Trebuchet MS"/>
                <a:ea typeface="Trebuchet MS"/>
                <a:cs typeface="Trebuchet MS"/>
                <a:sym typeface="Trebuchet MS"/>
              </a:rPr>
              <a:t>Continuación:</a:t>
            </a:r>
            <a:endParaRPr b="0" i="1" sz="2000" u="none" cap="none" strike="noStrike">
              <a:solidFill>
                <a:srgbClr val="000000"/>
              </a:solidFill>
              <a:latin typeface="Courier New"/>
              <a:ea typeface="Courier New"/>
              <a:cs typeface="Courier New"/>
              <a:sym typeface="Courier New"/>
            </a:endParaRPr>
          </a:p>
        </p:txBody>
      </p:sp>
      <p:sp>
        <p:nvSpPr>
          <p:cNvPr id="780" name="Google Shape;780;g1dd6d73f377_2_47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g1dd6d73f377_2_47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a:t>
            </a:r>
            <a:r>
              <a:rPr b="0" i="0" lang="en-US" sz="2000" u="none" cap="none" strike="noStrike">
                <a:solidFill>
                  <a:srgbClr val="003870"/>
                </a:solidFill>
                <a:latin typeface="Courier New"/>
                <a:ea typeface="Courier New"/>
                <a:cs typeface="Courier New"/>
                <a:sym typeface="Courier New"/>
              </a:rPr>
              <a:t>[elif]</a:t>
            </a:r>
            <a:r>
              <a:rPr b="0" i="0" lang="en-US" sz="2000" u="none" cap="none" strike="noStrike">
                <a:solidFill>
                  <a:srgbClr val="003870"/>
                </a:solidFill>
                <a:latin typeface="Trebuchet MS"/>
                <a:ea typeface="Trebuchet MS"/>
                <a:cs typeface="Trebuchet MS"/>
                <a:sym typeface="Trebuchet MS"/>
              </a:rPr>
              <a:t> - </a:t>
            </a:r>
            <a:r>
              <a:rPr b="1" i="0" lang="en-US" sz="2000" u="none" cap="none" strike="noStrike">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782" name="Google Shape;782;g1dd6d73f377_2_472"/>
          <p:cNvSpPr txBox="1"/>
          <p:nvPr/>
        </p:nvSpPr>
        <p:spPr>
          <a:xfrm>
            <a:off x="1704150" y="3089550"/>
            <a:ext cx="8783700" cy="2679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152400" rtl="0" algn="l">
              <a:lnSpc>
                <a:spcPct val="95000"/>
              </a:lnSpc>
              <a:spcBef>
                <a:spcPts val="0"/>
              </a:spcBef>
              <a:spcAft>
                <a:spcPts val="0"/>
              </a:spcAft>
              <a:buClr>
                <a:srgbClr val="000000"/>
              </a:buClr>
              <a:buSzPts val="1900"/>
              <a:buFont typeface="Arial"/>
              <a:buNone/>
            </a:pPr>
            <a:r>
              <a:rPr b="0" i="0" lang="en-US" sz="1900" u="none" cap="none" strike="noStrike">
                <a:solidFill>
                  <a:schemeClr val="dk1"/>
                </a:solidFill>
                <a:latin typeface="Courier New"/>
                <a:ea typeface="Courier New"/>
                <a:cs typeface="Courier New"/>
                <a:sym typeface="Courier New"/>
              </a:rPr>
              <a:t>total_vendido = categoria_1 + categoria_2 + categoria_3</a:t>
            </a:r>
            <a:endParaRPr b="0" i="0" sz="19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1200"/>
              </a:spcBef>
              <a:spcAft>
                <a:spcPts val="0"/>
              </a:spcAft>
              <a:buClr>
                <a:srgbClr val="000000"/>
              </a:buClr>
              <a:buSzPts val="19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1200"/>
              </a:spcBef>
              <a:spcAft>
                <a:spcPts val="0"/>
              </a:spcAft>
              <a:buClr>
                <a:srgbClr val="000000"/>
              </a:buClr>
              <a:buSzPts val="1900"/>
              <a:buFont typeface="Arial"/>
              <a:buNone/>
            </a:pPr>
            <a:r>
              <a:rPr b="0" i="0" lang="en-US" sz="1900" u="none" cap="none" strike="noStrike">
                <a:solidFill>
                  <a:schemeClr val="dk1"/>
                </a:solidFill>
                <a:latin typeface="Courier New"/>
                <a:ea typeface="Courier New"/>
                <a:cs typeface="Courier New"/>
                <a:sym typeface="Courier New"/>
              </a:rPr>
              <a:t>print(</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Se vendió:</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,categoria_1,</a:t>
            </a:r>
            <a:r>
              <a:rPr b="0" i="0" lang="en-US" sz="1900" u="none" cap="none" strike="noStrike">
                <a:solidFill>
                  <a:srgbClr val="64CBC9"/>
                </a:solidFill>
                <a:latin typeface="Courier New"/>
                <a:ea typeface="Courier New"/>
                <a:cs typeface="Courier New"/>
                <a:sym typeface="Courier New"/>
              </a:rPr>
              <a:t> </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de la primera categoría</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1200"/>
              </a:spcBef>
              <a:spcAft>
                <a:spcPts val="0"/>
              </a:spcAft>
              <a:buClr>
                <a:srgbClr val="000000"/>
              </a:buClr>
              <a:buSzPts val="1900"/>
              <a:buFont typeface="Arial"/>
              <a:buNone/>
            </a:pPr>
            <a:r>
              <a:rPr b="0" i="0" lang="en-US" sz="1900" u="none" cap="none" strike="noStrike">
                <a:solidFill>
                  <a:schemeClr val="dk1"/>
                </a:solidFill>
                <a:latin typeface="Courier New"/>
                <a:ea typeface="Courier New"/>
                <a:cs typeface="Courier New"/>
                <a:sym typeface="Courier New"/>
              </a:rPr>
              <a:t>print(</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Se vendió:</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,categoria_2,</a:t>
            </a:r>
            <a:r>
              <a:rPr b="0" i="0" lang="en-US" sz="1900" u="none" cap="none" strike="noStrike">
                <a:solidFill>
                  <a:srgbClr val="64CBC9"/>
                </a:solidFill>
                <a:latin typeface="Courier New"/>
                <a:ea typeface="Courier New"/>
                <a:cs typeface="Courier New"/>
                <a:sym typeface="Courier New"/>
              </a:rPr>
              <a:t> </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de la segunda categoría</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1200"/>
              </a:spcBef>
              <a:spcAft>
                <a:spcPts val="0"/>
              </a:spcAft>
              <a:buClr>
                <a:srgbClr val="000000"/>
              </a:buClr>
              <a:buSzPts val="1900"/>
              <a:buFont typeface="Arial"/>
              <a:buNone/>
            </a:pPr>
            <a:r>
              <a:rPr b="0" i="0" lang="en-US" sz="1900" u="none" cap="none" strike="noStrike">
                <a:solidFill>
                  <a:schemeClr val="dk1"/>
                </a:solidFill>
                <a:latin typeface="Courier New"/>
                <a:ea typeface="Courier New"/>
                <a:cs typeface="Courier New"/>
                <a:sym typeface="Courier New"/>
              </a:rPr>
              <a:t>print(</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Se vendió:</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,categoria_3,</a:t>
            </a:r>
            <a:r>
              <a:rPr b="0" i="0" lang="en-US" sz="1900" u="none" cap="none" strike="noStrike">
                <a:solidFill>
                  <a:srgbClr val="64CBC9"/>
                </a:solidFill>
                <a:latin typeface="Courier New"/>
                <a:ea typeface="Courier New"/>
                <a:cs typeface="Courier New"/>
                <a:sym typeface="Courier New"/>
              </a:rPr>
              <a:t> </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de la tercera categoría</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152400" rtl="0" algn="l">
              <a:lnSpc>
                <a:spcPct val="95000"/>
              </a:lnSpc>
              <a:spcBef>
                <a:spcPts val="1200"/>
              </a:spcBef>
              <a:spcAft>
                <a:spcPts val="1200"/>
              </a:spcAft>
              <a:buClr>
                <a:schemeClr val="dk1"/>
              </a:buClr>
              <a:buSzPts val="1100"/>
              <a:buFont typeface="Arial"/>
              <a:buNone/>
            </a:pPr>
            <a:r>
              <a:rPr b="0" i="0" lang="en-US" sz="1900" u="none" cap="none" strike="noStrike">
                <a:solidFill>
                  <a:schemeClr val="dk1"/>
                </a:solidFill>
                <a:latin typeface="Courier New"/>
                <a:ea typeface="Courier New"/>
                <a:cs typeface="Courier New"/>
                <a:sym typeface="Courier New"/>
              </a:rPr>
              <a:t>print(</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Total de ventas: </a:t>
            </a:r>
            <a:r>
              <a:rPr b="0" i="0" lang="en-US" sz="2000" u="none" cap="none" strike="noStrike">
                <a:solidFill>
                  <a:srgbClr val="00AFAA"/>
                </a:solidFill>
                <a:latin typeface="Courier New"/>
                <a:ea typeface="Courier New"/>
                <a:cs typeface="Courier New"/>
                <a:sym typeface="Courier New"/>
              </a:rPr>
              <a:t>"</a:t>
            </a:r>
            <a:r>
              <a:rPr b="0" i="0" lang="en-US" sz="1900" u="none" cap="none" strike="noStrike">
                <a:solidFill>
                  <a:schemeClr val="dk1"/>
                </a:solidFill>
                <a:latin typeface="Courier New"/>
                <a:ea typeface="Courier New"/>
                <a:cs typeface="Courier New"/>
                <a:sym typeface="Courier New"/>
              </a:rPr>
              <a:t>,</a:t>
            </a:r>
            <a:r>
              <a:rPr b="0" i="0" lang="en-US" sz="1900" u="none" cap="none" strike="noStrike">
                <a:solidFill>
                  <a:srgbClr val="64CBC9"/>
                </a:solidFill>
                <a:latin typeface="Courier New"/>
                <a:ea typeface="Courier New"/>
                <a:cs typeface="Courier New"/>
                <a:sym typeface="Courier New"/>
              </a:rPr>
              <a:t> </a:t>
            </a:r>
            <a:r>
              <a:rPr b="0" i="0" lang="en-US" sz="1900" u="none" cap="none" strike="noStrike">
                <a:solidFill>
                  <a:schemeClr val="dk1"/>
                </a:solidFill>
                <a:latin typeface="Courier New"/>
                <a:ea typeface="Courier New"/>
                <a:cs typeface="Courier New"/>
                <a:sym typeface="Courier New"/>
              </a:rPr>
              <a:t>total_vendido)</a:t>
            </a:r>
            <a:endParaRPr b="0" i="0" sz="19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6" name="Shape 786"/>
        <p:cNvGrpSpPr/>
        <p:nvPr/>
      </p:nvGrpSpPr>
      <p:grpSpPr>
        <a:xfrm>
          <a:off x="0" y="0"/>
          <a:ext cx="0" cy="0"/>
          <a:chOff x="0" y="0"/>
          <a:chExt cx="0" cy="0"/>
        </a:xfrm>
      </p:grpSpPr>
      <p:sp>
        <p:nvSpPr>
          <p:cNvPr id="787" name="Google Shape;787;g20f4114666e_0_50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8" name="Google Shape;788;g20f4114666e_0_50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9" name="Google Shape;789;g20f4114666e_0_50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90" name="Google Shape;790;g20f4114666e_0_50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91" name="Google Shape;791;g20f4114666e_0_50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g20f4114666e_0_50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93" name="Google Shape;793;g20f4114666e_0_50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20f4114666e_0_506"/>
          <p:cNvSpPr txBox="1"/>
          <p:nvPr/>
        </p:nvSpPr>
        <p:spPr>
          <a:xfrm>
            <a:off x="724200" y="1599850"/>
            <a:ext cx="10743600" cy="1416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6.</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le diga al usuario si la contraseña ingresada es lo suficientemente larga, además de verificar que sea la contraseña correcta.</a:t>
            </a:r>
            <a:endParaRPr b="0" i="0" sz="2000" u="none" cap="none" strike="noStrike">
              <a:solidFill>
                <a:srgbClr val="000000"/>
              </a:solidFill>
              <a:latin typeface="Trebuchet MS"/>
              <a:ea typeface="Trebuchet MS"/>
              <a:cs typeface="Trebuchet MS"/>
              <a:sym typeface="Trebuchet MS"/>
            </a:endParaRPr>
          </a:p>
        </p:txBody>
      </p:sp>
      <p:sp>
        <p:nvSpPr>
          <p:cNvPr id="795" name="Google Shape;795;g20f4114666e_0_50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g20f4114666e_0_50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797" name="Google Shape;797;g20f4114666e_0_506"/>
          <p:cNvSpPr txBox="1"/>
          <p:nvPr/>
        </p:nvSpPr>
        <p:spPr>
          <a:xfrm>
            <a:off x="2326350" y="3564100"/>
            <a:ext cx="7539300" cy="1877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Scanner </a:t>
            </a:r>
            <a:r>
              <a:rPr b="1" i="0" lang="en-US" sz="2000" u="none" cap="none" strike="noStrike">
                <a:solidFill>
                  <a:srgbClr val="94DBFD"/>
                </a:solidFill>
                <a:latin typeface="Courier New"/>
                <a:ea typeface="Courier New"/>
                <a:cs typeface="Courier New"/>
                <a:sym typeface="Courier New"/>
              </a:rPr>
              <a:t>scanner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new </a:t>
            </a:r>
            <a:r>
              <a:rPr b="1" i="0" lang="en-US" sz="2000" u="none" cap="none" strike="noStrike">
                <a:solidFill>
                  <a:srgbClr val="DBDBAA"/>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in</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.println(</a:t>
            </a:r>
            <a:r>
              <a:rPr b="1" i="0" lang="en-US" sz="2000" u="none" cap="none" strike="noStrike">
                <a:solidFill>
                  <a:srgbClr val="CD9069"/>
                </a:solidFill>
                <a:latin typeface="Courier New"/>
                <a:ea typeface="Courier New"/>
                <a:cs typeface="Courier New"/>
                <a:sym typeface="Courier New"/>
              </a:rPr>
              <a:t>"Ingrese la contraseña:"</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String </a:t>
            </a:r>
            <a:r>
              <a:rPr b="1" i="0" lang="en-US" sz="2000" u="none" cap="none" strike="noStrike">
                <a:solidFill>
                  <a:srgbClr val="94DBFD"/>
                </a:solidFill>
                <a:latin typeface="Courier New"/>
                <a:ea typeface="Courier New"/>
                <a:cs typeface="Courier New"/>
                <a:sym typeface="Courier New"/>
              </a:rPr>
              <a:t>password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94DBFD"/>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nextLine</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499CD5"/>
                </a:solidFill>
                <a:latin typeface="Courier New"/>
                <a:ea typeface="Courier New"/>
                <a:cs typeface="Courier New"/>
                <a:sym typeface="Courier New"/>
              </a:rPr>
              <a:t>int </a:t>
            </a:r>
            <a:r>
              <a:rPr b="1" i="0" lang="en-US" sz="2000" u="none" cap="none" strike="noStrike">
                <a:solidFill>
                  <a:srgbClr val="94DBFD"/>
                </a:solidFill>
                <a:latin typeface="Courier New"/>
                <a:ea typeface="Courier New"/>
                <a:cs typeface="Courier New"/>
                <a:sym typeface="Courier New"/>
              </a:rPr>
              <a:t>lenPassword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94DBFD"/>
                </a:solidFill>
                <a:latin typeface="Courier New"/>
                <a:ea typeface="Courier New"/>
                <a:cs typeface="Courier New"/>
                <a:sym typeface="Courier New"/>
              </a:rPr>
              <a:t>password</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length</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1" name="Shape 801"/>
        <p:cNvGrpSpPr/>
        <p:nvPr/>
      </p:nvGrpSpPr>
      <p:grpSpPr>
        <a:xfrm>
          <a:off x="0" y="0"/>
          <a:ext cx="0" cy="0"/>
          <a:chOff x="0" y="0"/>
          <a:chExt cx="0" cy="0"/>
        </a:xfrm>
      </p:grpSpPr>
      <p:sp>
        <p:nvSpPr>
          <p:cNvPr id="802" name="Google Shape;802;g1dd767738ca_0_194"/>
          <p:cNvSpPr txBox="1"/>
          <p:nvPr/>
        </p:nvSpPr>
        <p:spPr>
          <a:xfrm>
            <a:off x="2326350" y="3564100"/>
            <a:ext cx="7539300" cy="1877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Scanner </a:t>
            </a:r>
            <a:r>
              <a:rPr b="1" i="0" lang="en-US" sz="2000" u="none" cap="none" strike="noStrike">
                <a:solidFill>
                  <a:srgbClr val="94DBFD"/>
                </a:solidFill>
                <a:latin typeface="Courier New"/>
                <a:ea typeface="Courier New"/>
                <a:cs typeface="Courier New"/>
                <a:sym typeface="Courier New"/>
              </a:rPr>
              <a:t>scanner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new </a:t>
            </a:r>
            <a:r>
              <a:rPr b="1" i="0" lang="en-US" sz="2000" u="none" cap="none" strike="noStrike">
                <a:solidFill>
                  <a:srgbClr val="DBDBAA"/>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in</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.println(</a:t>
            </a:r>
            <a:r>
              <a:rPr b="1" i="0" lang="en-US" sz="2000" u="none" cap="none" strike="noStrike">
                <a:solidFill>
                  <a:srgbClr val="CD9069"/>
                </a:solidFill>
                <a:latin typeface="Courier New"/>
                <a:ea typeface="Courier New"/>
                <a:cs typeface="Courier New"/>
                <a:sym typeface="Courier New"/>
              </a:rPr>
              <a:t>"Ingrese la contraseña:"</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String </a:t>
            </a:r>
            <a:r>
              <a:rPr b="1" i="0" lang="en-US" sz="2000" u="none" cap="none" strike="noStrike">
                <a:solidFill>
                  <a:srgbClr val="94DBFD"/>
                </a:solidFill>
                <a:latin typeface="Courier New"/>
                <a:ea typeface="Courier New"/>
                <a:cs typeface="Courier New"/>
                <a:sym typeface="Courier New"/>
              </a:rPr>
              <a:t>password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94DBFD"/>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nextLine</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2000"/>
              <a:buFont typeface="Arial"/>
              <a:buNone/>
            </a:pPr>
            <a:r>
              <a:rPr b="1" i="0" lang="en-US" sz="2000" u="none" cap="none" strike="noStrike">
                <a:solidFill>
                  <a:srgbClr val="499CD5"/>
                </a:solidFill>
                <a:latin typeface="Courier New"/>
                <a:ea typeface="Courier New"/>
                <a:cs typeface="Courier New"/>
                <a:sym typeface="Courier New"/>
              </a:rPr>
              <a:t>int </a:t>
            </a:r>
            <a:r>
              <a:rPr b="1" i="0" lang="en-US" sz="2000" u="none" cap="none" strike="noStrike">
                <a:solidFill>
                  <a:srgbClr val="94DBFD"/>
                </a:solidFill>
                <a:latin typeface="Courier New"/>
                <a:ea typeface="Courier New"/>
                <a:cs typeface="Courier New"/>
                <a:sym typeface="Courier New"/>
              </a:rPr>
              <a:t>lenPassword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94DBFD"/>
                </a:solidFill>
                <a:latin typeface="Courier New"/>
                <a:ea typeface="Courier New"/>
                <a:cs typeface="Courier New"/>
                <a:sym typeface="Courier New"/>
              </a:rPr>
              <a:t>password</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length</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803" name="Google Shape;803;g1dd767738ca_0_19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4" name="Google Shape;804;g1dd767738ca_0_19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5" name="Google Shape;805;g1dd767738ca_0_19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06" name="Google Shape;806;g1dd767738ca_0_19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07" name="Google Shape;807;g1dd767738ca_0_19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1dd767738ca_0_19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09" name="Google Shape;809;g1dd767738ca_0_19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g1dd767738ca_0_194"/>
          <p:cNvSpPr txBox="1"/>
          <p:nvPr/>
        </p:nvSpPr>
        <p:spPr>
          <a:xfrm>
            <a:off x="724200" y="1599850"/>
            <a:ext cx="10743600" cy="1416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6.</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Escribir un programa que le diga al usuario si la contraseña ingresada es lo suficientemente larga, además de verificar que sea la contraseña correcta.</a:t>
            </a:r>
            <a:endParaRPr b="0" i="0" sz="2000" u="none" cap="none" strike="noStrike">
              <a:solidFill>
                <a:srgbClr val="000000"/>
              </a:solidFill>
              <a:latin typeface="Trebuchet MS"/>
              <a:ea typeface="Trebuchet MS"/>
              <a:cs typeface="Trebuchet MS"/>
              <a:sym typeface="Trebuchet MS"/>
            </a:endParaRPr>
          </a:p>
        </p:txBody>
      </p:sp>
      <p:sp>
        <p:nvSpPr>
          <p:cNvPr id="811" name="Google Shape;811;g1dd767738ca_0_19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2" name="Google Shape;812;g1dd767738ca_0_19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813" name="Google Shape;813;g1dd767738ca_0_194"/>
          <p:cNvSpPr/>
          <p:nvPr/>
        </p:nvSpPr>
        <p:spPr>
          <a:xfrm>
            <a:off x="6519450" y="5036100"/>
            <a:ext cx="1318200" cy="29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g1dd767738ca_0_194"/>
          <p:cNvSpPr/>
          <p:nvPr/>
        </p:nvSpPr>
        <p:spPr>
          <a:xfrm>
            <a:off x="7924475" y="3421600"/>
            <a:ext cx="3766500" cy="149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El método </a:t>
            </a:r>
            <a:r>
              <a:rPr b="0" i="0" lang="en-US" sz="1700" u="none" cap="none" strike="noStrike">
                <a:solidFill>
                  <a:srgbClr val="000000"/>
                </a:solidFill>
                <a:latin typeface="Courier New"/>
                <a:ea typeface="Courier New"/>
                <a:cs typeface="Courier New"/>
                <a:sym typeface="Courier New"/>
              </a:rPr>
              <a:t>length()</a:t>
            </a:r>
            <a:r>
              <a:rPr b="0" i="0" lang="en-US" sz="1700" u="none" cap="none" strike="noStrike">
                <a:solidFill>
                  <a:srgbClr val="000000"/>
                </a:solidFill>
                <a:latin typeface="Trebuchet MS"/>
                <a:ea typeface="Trebuchet MS"/>
                <a:cs typeface="Trebuchet MS"/>
                <a:sym typeface="Trebuchet MS"/>
              </a:rPr>
              <a:t> cuenta el número total de caracteres en un </a:t>
            </a:r>
            <a:r>
              <a:rPr b="0" i="0" lang="en-US" sz="1700" u="none" cap="none" strike="noStrike">
                <a:solidFill>
                  <a:srgbClr val="000000"/>
                </a:solidFill>
                <a:latin typeface="Courier New"/>
                <a:ea typeface="Courier New"/>
                <a:cs typeface="Courier New"/>
                <a:sym typeface="Courier New"/>
              </a:rPr>
              <a:t>String</a:t>
            </a:r>
            <a:r>
              <a:rPr b="0" i="0" lang="en-US" sz="1700" u="none" cap="none" strike="noStrike">
                <a:solidFill>
                  <a:srgbClr val="000000"/>
                </a:solidFill>
                <a:latin typeface="Trebuchet MS"/>
                <a:ea typeface="Trebuchet MS"/>
                <a:cs typeface="Trebuchet MS"/>
                <a:sym typeface="Trebuchet MS"/>
              </a:rPr>
              <a:t>. Cualquier variable de tipo </a:t>
            </a:r>
            <a:r>
              <a:rPr b="0" i="0" lang="en-US" sz="1700" u="none" cap="none" strike="noStrike">
                <a:solidFill>
                  <a:schemeClr val="dk1"/>
                </a:solidFill>
                <a:latin typeface="Courier New"/>
                <a:ea typeface="Courier New"/>
                <a:cs typeface="Courier New"/>
                <a:sym typeface="Courier New"/>
              </a:rPr>
              <a:t>String </a:t>
            </a:r>
            <a:r>
              <a:rPr b="0" i="0" lang="en-US" sz="1700" u="none" cap="none" strike="noStrike">
                <a:solidFill>
                  <a:srgbClr val="000000"/>
                </a:solidFill>
                <a:latin typeface="Trebuchet MS"/>
                <a:ea typeface="Trebuchet MS"/>
                <a:cs typeface="Trebuchet MS"/>
                <a:sym typeface="Trebuchet MS"/>
              </a:rPr>
              <a:t>puede acceder a este método.</a:t>
            </a:r>
            <a:endParaRPr b="0" i="0" sz="17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8" name="Shape 818"/>
        <p:cNvGrpSpPr/>
        <p:nvPr/>
      </p:nvGrpSpPr>
      <p:grpSpPr>
        <a:xfrm>
          <a:off x="0" y="0"/>
          <a:ext cx="0" cy="0"/>
          <a:chOff x="0" y="0"/>
          <a:chExt cx="0" cy="0"/>
        </a:xfrm>
      </p:grpSpPr>
      <p:sp>
        <p:nvSpPr>
          <p:cNvPr id="819" name="Google Shape;819;g1dd767738ca_0_15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0" name="Google Shape;820;g1dd767738ca_0_15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g1dd767738ca_0_15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22" name="Google Shape;822;g1dd767738ca_0_15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23" name="Google Shape;823;g1dd767738ca_0_15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g1dd767738ca_0_15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25" name="Google Shape;825;g1dd767738ca_0_15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1dd767738ca_0_156"/>
          <p:cNvSpPr txBox="1"/>
          <p:nvPr/>
        </p:nvSpPr>
        <p:spPr>
          <a:xfrm>
            <a:off x="425163" y="3206550"/>
            <a:ext cx="19755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6.</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Trebuchet MS"/>
                <a:ea typeface="Trebuchet MS"/>
                <a:cs typeface="Trebuchet MS"/>
                <a:sym typeface="Trebuchet MS"/>
              </a:rPr>
              <a:t>Continuación:</a:t>
            </a:r>
            <a:endParaRPr b="0" i="1" sz="2000" u="none" cap="none" strike="noStrike">
              <a:solidFill>
                <a:srgbClr val="000000"/>
              </a:solidFill>
              <a:latin typeface="Trebuchet MS"/>
              <a:ea typeface="Trebuchet MS"/>
              <a:cs typeface="Trebuchet MS"/>
              <a:sym typeface="Trebuchet MS"/>
            </a:endParaRPr>
          </a:p>
        </p:txBody>
      </p:sp>
      <p:sp>
        <p:nvSpPr>
          <p:cNvPr id="827" name="Google Shape;827;g1dd767738ca_0_15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g1dd767738ca_0_15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lang="en-US" sz="2000">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sp>
        <p:nvSpPr>
          <p:cNvPr id="829" name="Google Shape;829;g1dd767738ca_0_156"/>
          <p:cNvSpPr txBox="1"/>
          <p:nvPr/>
        </p:nvSpPr>
        <p:spPr>
          <a:xfrm>
            <a:off x="2413100" y="1767300"/>
            <a:ext cx="9583500" cy="3986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if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94DBFD"/>
                </a:solidFill>
                <a:latin typeface="Courier New"/>
                <a:ea typeface="Courier New"/>
                <a:cs typeface="Courier New"/>
                <a:sym typeface="Courier New"/>
              </a:rPr>
              <a:t>lenPassword </a:t>
            </a:r>
            <a:r>
              <a:rPr b="1" i="0" lang="en-US" sz="1900" u="none" cap="none" strike="noStrike">
                <a:solidFill>
                  <a:schemeClr val="dk1"/>
                </a:solidFill>
                <a:latin typeface="Courier New"/>
                <a:ea typeface="Courier New"/>
                <a:cs typeface="Courier New"/>
                <a:sym typeface="Courier New"/>
              </a:rPr>
              <a:t>&gt;=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B4CDA8"/>
                </a:solidFill>
                <a:latin typeface="Courier New"/>
                <a:ea typeface="Courier New"/>
                <a:cs typeface="Courier New"/>
                <a:sym typeface="Courier New"/>
              </a:rPr>
              <a:t>8</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"Constraseña suficientemente larga."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if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39C8B0"/>
                </a:solidFill>
                <a:latin typeface="Courier New"/>
                <a:ea typeface="Courier New"/>
                <a:cs typeface="Courier New"/>
                <a:sym typeface="Courier New"/>
              </a:rPr>
              <a:t>Objects</a:t>
            </a:r>
            <a:r>
              <a:rPr b="1" i="0" lang="en-US" sz="1900" u="none" cap="none" strike="noStrike">
                <a:solidFill>
                  <a:schemeClr val="dk1"/>
                </a:solidFill>
                <a:latin typeface="Courier New"/>
                <a:ea typeface="Courier New"/>
                <a:cs typeface="Courier New"/>
                <a:sym typeface="Courier New"/>
              </a:rPr>
              <a:t>.equals(</a:t>
            </a:r>
            <a:r>
              <a:rPr b="1" i="0" lang="en-US" sz="1900" u="none" cap="none" strike="noStrike">
                <a:solidFill>
                  <a:srgbClr val="94DBFD"/>
                </a:solidFill>
                <a:latin typeface="Courier New"/>
                <a:ea typeface="Courier New"/>
                <a:cs typeface="Courier New"/>
                <a:sym typeface="Courier New"/>
              </a:rPr>
              <a:t>password</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CD9069"/>
                </a:solidFill>
                <a:latin typeface="Courier New"/>
                <a:ea typeface="Courier New"/>
                <a:cs typeface="Courier New"/>
                <a:sym typeface="Courier New"/>
              </a:rPr>
              <a:t>"password_secure"</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"Ademas es la contraseña correcta."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else </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"Pero es incorrecta."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else </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"Constraseña muy corta e insegura."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if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39C8B0"/>
                </a:solidFill>
                <a:latin typeface="Courier New"/>
                <a:ea typeface="Courier New"/>
                <a:cs typeface="Courier New"/>
                <a:sym typeface="Courier New"/>
              </a:rPr>
              <a:t>Objects</a:t>
            </a:r>
            <a:r>
              <a:rPr b="1" i="0" lang="en-US" sz="1900" u="none" cap="none" strike="noStrike">
                <a:solidFill>
                  <a:schemeClr val="dk1"/>
                </a:solidFill>
                <a:latin typeface="Courier New"/>
                <a:ea typeface="Courier New"/>
                <a:cs typeface="Courier New"/>
                <a:sym typeface="Courier New"/>
              </a:rPr>
              <a:t>.equals(</a:t>
            </a:r>
            <a:r>
              <a:rPr b="1" i="0" lang="en-US" sz="1900" u="none" cap="none" strike="noStrike">
                <a:solidFill>
                  <a:srgbClr val="94DBFD"/>
                </a:solidFill>
                <a:latin typeface="Courier New"/>
                <a:ea typeface="Courier New"/>
                <a:cs typeface="Courier New"/>
                <a:sym typeface="Courier New"/>
              </a:rPr>
              <a:t>password</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CD9069"/>
                </a:solidFill>
                <a:latin typeface="Courier New"/>
                <a:ea typeface="Courier New"/>
                <a:cs typeface="Courier New"/>
                <a:sym typeface="Courier New"/>
              </a:rPr>
              <a:t>"password_secure"</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BDBAA"/>
                </a:solidFill>
                <a:latin typeface="Courier New"/>
                <a:ea typeface="Courier New"/>
                <a:cs typeface="Courier New"/>
                <a:sym typeface="Courier New"/>
              </a:rPr>
              <a:t>println</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CD9069"/>
                </a:solidFill>
                <a:latin typeface="Courier New"/>
                <a:ea typeface="Courier New"/>
                <a:cs typeface="Courier New"/>
                <a:sym typeface="Courier New"/>
              </a:rPr>
              <a:t>"Ademas es incorrecta."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3" name="Shape 833"/>
        <p:cNvGrpSpPr/>
        <p:nvPr/>
      </p:nvGrpSpPr>
      <p:grpSpPr>
        <a:xfrm>
          <a:off x="0" y="0"/>
          <a:ext cx="0" cy="0"/>
          <a:chOff x="0" y="0"/>
          <a:chExt cx="0" cy="0"/>
        </a:xfrm>
      </p:grpSpPr>
      <p:sp>
        <p:nvSpPr>
          <p:cNvPr id="834" name="Google Shape;834;g278ec0692c4_0_1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5" name="Google Shape;835;g278ec0692c4_0_1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6" name="Google Shape;836;g278ec0692c4_0_1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37" name="Google Shape;837;g278ec0692c4_0_16"/>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838" name="Google Shape;838;g278ec0692c4_0_1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g278ec0692c4_0_1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40" name="Google Shape;840;g278ec0692c4_0_1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g278ec0692c4_0_16"/>
          <p:cNvSpPr txBox="1"/>
          <p:nvPr/>
        </p:nvSpPr>
        <p:spPr>
          <a:xfrm>
            <a:off x="724200" y="1599850"/>
            <a:ext cx="10743600" cy="1539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lang="en-US" sz="2400">
                <a:solidFill>
                  <a:schemeClr val="dk1"/>
                </a:solidFill>
                <a:highlight>
                  <a:srgbClr val="FFFFFF"/>
                </a:highlight>
                <a:latin typeface="Trebuchet MS"/>
                <a:ea typeface="Trebuchet MS"/>
                <a:cs typeface="Trebuchet MS"/>
                <a:sym typeface="Trebuchet MS"/>
              </a:rPr>
              <a:t>Los tramos impositivos para la declaración de la renta en un determinado país son los siguientes:</a:t>
            </a:r>
            <a:endParaRPr i="0" sz="2800" u="none" cap="none" strike="noStrike">
              <a:solidFill>
                <a:srgbClr val="000000"/>
              </a:solidFill>
              <a:latin typeface="Trebuchet MS"/>
              <a:ea typeface="Trebuchet MS"/>
              <a:cs typeface="Trebuchet MS"/>
              <a:sym typeface="Trebuchet MS"/>
            </a:endParaRPr>
          </a:p>
        </p:txBody>
      </p:sp>
      <p:sp>
        <p:nvSpPr>
          <p:cNvPr id="842" name="Google Shape;842;g278ec0692c4_0_1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3" name="Google Shape;843;g278ec0692c4_0_1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lang="en-US" sz="2000">
                <a:solidFill>
                  <a:srgbClr val="003870"/>
                </a:solidFill>
                <a:latin typeface="Trebuchet MS"/>
                <a:ea typeface="Trebuchet MS"/>
                <a:cs typeface="Trebuchet MS"/>
                <a:sym typeface="Trebuchet MS"/>
              </a:rPr>
              <a:t>Python</a:t>
            </a:r>
            <a:endParaRPr b="1" i="0" sz="2000" u="none" cap="none" strike="noStrike">
              <a:solidFill>
                <a:srgbClr val="003870"/>
              </a:solidFill>
              <a:latin typeface="Trebuchet MS"/>
              <a:ea typeface="Trebuchet MS"/>
              <a:cs typeface="Trebuchet MS"/>
              <a:sym typeface="Trebuchet MS"/>
            </a:endParaRPr>
          </a:p>
        </p:txBody>
      </p:sp>
      <p:graphicFrame>
        <p:nvGraphicFramePr>
          <p:cNvPr id="844" name="Google Shape;844;g278ec0692c4_0_16"/>
          <p:cNvGraphicFramePr/>
          <p:nvPr/>
        </p:nvGraphicFramePr>
        <p:xfrm>
          <a:off x="521125" y="3272638"/>
          <a:ext cx="3000000" cy="3000000"/>
        </p:xfrm>
        <a:graphic>
          <a:graphicData uri="http://schemas.openxmlformats.org/drawingml/2006/table">
            <a:tbl>
              <a:tblPr>
                <a:noFill/>
                <a:tableStyleId>{DDFD906D-B5D4-4457-B46D-9B005C30C2CF}</a:tableStyleId>
              </a:tblPr>
              <a:tblGrid>
                <a:gridCol w="3492700"/>
                <a:gridCol w="3492700"/>
              </a:tblGrid>
              <a:tr h="358625">
                <a:tc>
                  <a:txBody>
                    <a:bodyPr/>
                    <a:lstStyle/>
                    <a:p>
                      <a:pPr indent="0" lvl="0" marL="0" rtl="0" algn="ctr">
                        <a:spcBef>
                          <a:spcPts val="0"/>
                        </a:spcBef>
                        <a:spcAft>
                          <a:spcPts val="0"/>
                        </a:spcAft>
                        <a:buNone/>
                      </a:pPr>
                      <a:r>
                        <a:rPr lang="en-US"/>
                        <a:t>Renta anual</a:t>
                      </a:r>
                      <a:endParaRPr/>
                    </a:p>
                  </a:txBody>
                  <a:tcPr marT="91425" marB="91425" marR="91425" marL="91425">
                    <a:solidFill>
                      <a:srgbClr val="D4D4D4"/>
                    </a:solidFill>
                  </a:tcPr>
                </a:tc>
                <a:tc>
                  <a:txBody>
                    <a:bodyPr/>
                    <a:lstStyle/>
                    <a:p>
                      <a:pPr indent="0" lvl="0" marL="0" rtl="0" algn="ctr">
                        <a:spcBef>
                          <a:spcPts val="0"/>
                        </a:spcBef>
                        <a:spcAft>
                          <a:spcPts val="0"/>
                        </a:spcAft>
                        <a:buNone/>
                      </a:pPr>
                      <a:r>
                        <a:rPr lang="en-US"/>
                        <a:t>Tipo Impositivo</a:t>
                      </a:r>
                      <a:endParaRPr/>
                    </a:p>
                  </a:txBody>
                  <a:tcPr marT="91425" marB="91425" marR="91425" marL="91425">
                    <a:solidFill>
                      <a:srgbClr val="D4D4D4"/>
                    </a:solidFill>
                  </a:tcPr>
                </a:tc>
              </a:tr>
              <a:tr h="358625">
                <a:tc>
                  <a:txBody>
                    <a:bodyPr/>
                    <a:lstStyle/>
                    <a:p>
                      <a:pPr indent="0" lvl="0" marL="0" rtl="0" algn="ctr">
                        <a:spcBef>
                          <a:spcPts val="0"/>
                        </a:spcBef>
                        <a:spcAft>
                          <a:spcPts val="0"/>
                        </a:spcAft>
                        <a:buNone/>
                      </a:pPr>
                      <a:r>
                        <a:rPr lang="en-US"/>
                        <a:t>Menos de 10.000$</a:t>
                      </a:r>
                      <a:endParaRPr/>
                    </a:p>
                  </a:txBody>
                  <a:tcPr marT="91425" marB="91425" marR="91425" marL="91425"/>
                </a:tc>
                <a:tc>
                  <a:txBody>
                    <a:bodyPr/>
                    <a:lstStyle/>
                    <a:p>
                      <a:pPr indent="0" lvl="0" marL="0" rtl="0" algn="ctr">
                        <a:spcBef>
                          <a:spcPts val="0"/>
                        </a:spcBef>
                        <a:spcAft>
                          <a:spcPts val="0"/>
                        </a:spcAft>
                        <a:buNone/>
                      </a:pPr>
                      <a:r>
                        <a:rPr lang="en-US"/>
                        <a:t>5%</a:t>
                      </a:r>
                      <a:endParaRPr/>
                    </a:p>
                  </a:txBody>
                  <a:tcPr marT="91425" marB="91425" marR="91425" marL="91425"/>
                </a:tc>
              </a:tr>
              <a:tr h="358625">
                <a:tc>
                  <a:txBody>
                    <a:bodyPr/>
                    <a:lstStyle/>
                    <a:p>
                      <a:pPr indent="0" lvl="0" marL="0" rtl="0" algn="ctr">
                        <a:spcBef>
                          <a:spcPts val="0"/>
                        </a:spcBef>
                        <a:spcAft>
                          <a:spcPts val="0"/>
                        </a:spcAft>
                        <a:buNone/>
                      </a:pPr>
                      <a:r>
                        <a:rPr lang="en-US"/>
                        <a:t>Entre 10.000</a:t>
                      </a:r>
                      <a:r>
                        <a:rPr lang="en-US">
                          <a:solidFill>
                            <a:schemeClr val="dk1"/>
                          </a:solidFill>
                        </a:rPr>
                        <a:t>$</a:t>
                      </a:r>
                      <a:r>
                        <a:rPr lang="en-US"/>
                        <a:t> y 20.000</a:t>
                      </a:r>
                      <a:r>
                        <a:rPr lang="en-US">
                          <a:solidFill>
                            <a:schemeClr val="dk1"/>
                          </a:solidFill>
                        </a:rPr>
                        <a:t>$</a:t>
                      </a:r>
                      <a:endParaRPr/>
                    </a:p>
                  </a:txBody>
                  <a:tcPr marT="91425" marB="91425" marR="91425" marL="91425"/>
                </a:tc>
                <a:tc>
                  <a:txBody>
                    <a:bodyPr/>
                    <a:lstStyle/>
                    <a:p>
                      <a:pPr indent="0" lvl="0" marL="0" rtl="0" algn="ctr">
                        <a:spcBef>
                          <a:spcPts val="0"/>
                        </a:spcBef>
                        <a:spcAft>
                          <a:spcPts val="0"/>
                        </a:spcAft>
                        <a:buNone/>
                      </a:pPr>
                      <a:r>
                        <a:rPr lang="en-US"/>
                        <a:t>15%</a:t>
                      </a:r>
                      <a:endParaRPr/>
                    </a:p>
                  </a:txBody>
                  <a:tcPr marT="91425" marB="91425" marR="91425" marL="91425"/>
                </a:tc>
              </a:tr>
              <a:tr h="358625">
                <a:tc>
                  <a:txBody>
                    <a:bodyPr/>
                    <a:lstStyle/>
                    <a:p>
                      <a:pPr indent="0" lvl="0" marL="0" rtl="0" algn="ctr">
                        <a:spcBef>
                          <a:spcPts val="0"/>
                        </a:spcBef>
                        <a:spcAft>
                          <a:spcPts val="0"/>
                        </a:spcAft>
                        <a:buNone/>
                      </a:pPr>
                      <a:r>
                        <a:rPr lang="en-US"/>
                        <a:t>Entre 20.000</a:t>
                      </a:r>
                      <a:r>
                        <a:rPr lang="en-US">
                          <a:solidFill>
                            <a:schemeClr val="dk1"/>
                          </a:solidFill>
                        </a:rPr>
                        <a:t>$</a:t>
                      </a:r>
                      <a:r>
                        <a:rPr lang="en-US"/>
                        <a:t> y 35.000</a:t>
                      </a:r>
                      <a:r>
                        <a:rPr lang="en-US">
                          <a:solidFill>
                            <a:schemeClr val="dk1"/>
                          </a:solidFill>
                        </a:rPr>
                        <a:t>$</a:t>
                      </a:r>
                      <a:endParaRPr/>
                    </a:p>
                  </a:txBody>
                  <a:tcPr marT="91425" marB="91425" marR="91425" marL="91425"/>
                </a:tc>
                <a:tc>
                  <a:txBody>
                    <a:bodyPr/>
                    <a:lstStyle/>
                    <a:p>
                      <a:pPr indent="0" lvl="0" marL="0" rtl="0" algn="ctr">
                        <a:spcBef>
                          <a:spcPts val="0"/>
                        </a:spcBef>
                        <a:spcAft>
                          <a:spcPts val="0"/>
                        </a:spcAft>
                        <a:buNone/>
                      </a:pPr>
                      <a:r>
                        <a:rPr lang="en-US"/>
                        <a:t>20%</a:t>
                      </a:r>
                      <a:endParaRPr/>
                    </a:p>
                  </a:txBody>
                  <a:tcPr marT="91425" marB="91425" marR="91425" marL="91425"/>
                </a:tc>
              </a:tr>
              <a:tr h="358625">
                <a:tc>
                  <a:txBody>
                    <a:bodyPr/>
                    <a:lstStyle/>
                    <a:p>
                      <a:pPr indent="0" lvl="0" marL="0" rtl="0" algn="ctr">
                        <a:spcBef>
                          <a:spcPts val="0"/>
                        </a:spcBef>
                        <a:spcAft>
                          <a:spcPts val="0"/>
                        </a:spcAft>
                        <a:buNone/>
                      </a:pPr>
                      <a:r>
                        <a:rPr lang="en-US"/>
                        <a:t>Entre 35.000</a:t>
                      </a:r>
                      <a:r>
                        <a:rPr lang="en-US">
                          <a:solidFill>
                            <a:schemeClr val="dk1"/>
                          </a:solidFill>
                        </a:rPr>
                        <a:t>$ y 60.000$</a:t>
                      </a:r>
                      <a:endParaRPr/>
                    </a:p>
                  </a:txBody>
                  <a:tcPr marT="91425" marB="91425" marR="91425" marL="91425"/>
                </a:tc>
                <a:tc>
                  <a:txBody>
                    <a:bodyPr/>
                    <a:lstStyle/>
                    <a:p>
                      <a:pPr indent="0" lvl="0" marL="0" rtl="0" algn="ctr">
                        <a:spcBef>
                          <a:spcPts val="0"/>
                        </a:spcBef>
                        <a:spcAft>
                          <a:spcPts val="0"/>
                        </a:spcAft>
                        <a:buNone/>
                      </a:pPr>
                      <a:r>
                        <a:rPr lang="en-US"/>
                        <a:t>30%</a:t>
                      </a:r>
                      <a:endParaRPr/>
                    </a:p>
                  </a:txBody>
                  <a:tcPr marT="91425" marB="91425" marR="91425" marL="91425"/>
                </a:tc>
              </a:tr>
              <a:tr h="358625">
                <a:tc>
                  <a:txBody>
                    <a:bodyPr/>
                    <a:lstStyle/>
                    <a:p>
                      <a:pPr indent="0" lvl="0" marL="0" rtl="0" algn="ctr">
                        <a:spcBef>
                          <a:spcPts val="0"/>
                        </a:spcBef>
                        <a:spcAft>
                          <a:spcPts val="0"/>
                        </a:spcAft>
                        <a:buNone/>
                      </a:pPr>
                      <a:r>
                        <a:rPr lang="en-US"/>
                        <a:t>Más de 60.000</a:t>
                      </a:r>
                      <a:r>
                        <a:rPr lang="en-US">
                          <a:solidFill>
                            <a:schemeClr val="dk1"/>
                          </a:solidFill>
                        </a:rPr>
                        <a:t>$</a:t>
                      </a:r>
                      <a:endParaRPr/>
                    </a:p>
                  </a:txBody>
                  <a:tcPr marT="91425" marB="91425" marR="91425" marL="91425"/>
                </a:tc>
                <a:tc>
                  <a:txBody>
                    <a:bodyPr/>
                    <a:lstStyle/>
                    <a:p>
                      <a:pPr indent="0" lvl="0" marL="0" rtl="0" algn="ctr">
                        <a:spcBef>
                          <a:spcPts val="0"/>
                        </a:spcBef>
                        <a:spcAft>
                          <a:spcPts val="0"/>
                        </a:spcAft>
                        <a:buNone/>
                      </a:pPr>
                      <a:r>
                        <a:rPr lang="en-US"/>
                        <a:t>45%</a:t>
                      </a:r>
                      <a:endParaRPr/>
                    </a:p>
                  </a:txBody>
                  <a:tcPr marT="91425" marB="91425" marR="91425" marL="91425"/>
                </a:tc>
              </a:tr>
            </a:tbl>
          </a:graphicData>
        </a:graphic>
      </p:graphicFrame>
      <p:sp>
        <p:nvSpPr>
          <p:cNvPr id="845" name="Google Shape;845;g278ec0692c4_0_16"/>
          <p:cNvSpPr txBox="1"/>
          <p:nvPr/>
        </p:nvSpPr>
        <p:spPr>
          <a:xfrm>
            <a:off x="7895200" y="3221750"/>
            <a:ext cx="3839100" cy="20010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900">
                <a:solidFill>
                  <a:schemeClr val="dk1"/>
                </a:solidFill>
                <a:highlight>
                  <a:srgbClr val="FFF2CC"/>
                </a:highlight>
              </a:rPr>
              <a:t>Escribir un programa que pregunte al usuario su renta anual, muestre por pantalla el tipo impositivo que le corresponde y si tiene un deducible aplicarlo con el valor 20% respecto a la renta</a:t>
            </a:r>
            <a:r>
              <a:rPr lang="en-US" sz="2300">
                <a:solidFill>
                  <a:schemeClr val="dk1"/>
                </a:solidFill>
                <a:highlight>
                  <a:srgbClr val="FFF2CC"/>
                </a:highlight>
              </a:rPr>
              <a:t>.</a:t>
            </a:r>
            <a:endParaRPr sz="2100">
              <a:highlight>
                <a:srgbClr val="FFF2CC"/>
              </a:highlight>
            </a:endParaRPr>
          </a:p>
        </p:txBody>
      </p:sp>
      <p:sp>
        <p:nvSpPr>
          <p:cNvPr id="846" name="Google Shape;846;g278ec0692c4_0_16"/>
          <p:cNvSpPr/>
          <p:nvPr/>
        </p:nvSpPr>
        <p:spPr>
          <a:xfrm>
            <a:off x="9580000" y="5468107"/>
            <a:ext cx="292500" cy="356400"/>
          </a:xfrm>
          <a:prstGeom prst="down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0" name="Shape 850"/>
        <p:cNvGrpSpPr/>
        <p:nvPr/>
      </p:nvGrpSpPr>
      <p:grpSpPr>
        <a:xfrm>
          <a:off x="0" y="0"/>
          <a:ext cx="0" cy="0"/>
          <a:chOff x="0" y="0"/>
          <a:chExt cx="0" cy="0"/>
        </a:xfrm>
      </p:grpSpPr>
      <p:sp>
        <p:nvSpPr>
          <p:cNvPr id="851" name="Google Shape;851;g278ec0692c4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2" name="Google Shape;852;g278ec0692c4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g278ec0692c4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54" name="Google Shape;854;g278ec0692c4_0_0"/>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855" name="Google Shape;855;g278ec0692c4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278ec0692c4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57" name="Google Shape;857;g278ec0692c4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g278ec0692c4_0_0"/>
          <p:cNvSpPr txBox="1"/>
          <p:nvPr/>
        </p:nvSpPr>
        <p:spPr>
          <a:xfrm>
            <a:off x="724200" y="1599850"/>
            <a:ext cx="10743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i="0" sz="2500" u="none" cap="none" strike="noStrike">
              <a:solidFill>
                <a:srgbClr val="000000"/>
              </a:solidFill>
              <a:latin typeface="Trebuchet MS"/>
              <a:ea typeface="Trebuchet MS"/>
              <a:cs typeface="Trebuchet MS"/>
              <a:sym typeface="Trebuchet MS"/>
            </a:endParaRPr>
          </a:p>
        </p:txBody>
      </p:sp>
      <p:sp>
        <p:nvSpPr>
          <p:cNvPr id="859" name="Google Shape;859;g278ec0692c4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0" name="Google Shape;860;g278ec0692c4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861" name="Google Shape;861;g278ec0692c4_0_0"/>
          <p:cNvSpPr txBox="1"/>
          <p:nvPr/>
        </p:nvSpPr>
        <p:spPr>
          <a:xfrm>
            <a:off x="2527300" y="1274500"/>
            <a:ext cx="8815800" cy="5319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US" sz="1600">
                <a:solidFill>
                  <a:srgbClr val="9CDCFE"/>
                </a:solidFill>
                <a:latin typeface="Courier New"/>
                <a:ea typeface="Courier New"/>
                <a:cs typeface="Courier New"/>
                <a:sym typeface="Courier New"/>
              </a:rPr>
              <a:t>sueldo</a:t>
            </a:r>
            <a:r>
              <a:rPr b="1" lang="en-US" sz="1600">
                <a:solidFill>
                  <a:srgbClr val="D4D4D4"/>
                </a:solidFill>
                <a:latin typeface="Courier New"/>
                <a:ea typeface="Courier New"/>
                <a:cs typeface="Courier New"/>
                <a:sym typeface="Courier New"/>
              </a:rPr>
              <a:t>=</a:t>
            </a:r>
            <a:r>
              <a:rPr b="1" lang="en-US" sz="1600">
                <a:solidFill>
                  <a:srgbClr val="4EC9B0"/>
                </a:solidFill>
                <a:latin typeface="Courier New"/>
                <a:ea typeface="Courier New"/>
                <a:cs typeface="Courier New"/>
                <a:sym typeface="Courier New"/>
              </a:rPr>
              <a:t>int</a:t>
            </a:r>
            <a:r>
              <a:rPr b="1" lang="en-US" sz="1600">
                <a:solidFill>
                  <a:srgbClr val="CCCCCC"/>
                </a:solidFill>
                <a:latin typeface="Courier New"/>
                <a:ea typeface="Courier New"/>
                <a:cs typeface="Courier New"/>
                <a:sym typeface="Courier New"/>
              </a:rPr>
              <a:t>(</a:t>
            </a:r>
            <a:r>
              <a:rPr b="1" lang="en-US" sz="1600">
                <a:solidFill>
                  <a:srgbClr val="DCDCAA"/>
                </a:solidFill>
                <a:latin typeface="Courier New"/>
                <a:ea typeface="Courier New"/>
                <a:cs typeface="Courier New"/>
                <a:sym typeface="Courier New"/>
              </a:rPr>
              <a:t>input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"Introduzca el valor de su sueldo"</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9CDCFE"/>
                </a:solidFill>
                <a:latin typeface="Courier New"/>
                <a:ea typeface="Courier New"/>
                <a:cs typeface="Courier New"/>
                <a:sym typeface="Courier New"/>
              </a:rPr>
              <a:t>deducible</a:t>
            </a:r>
            <a:r>
              <a:rPr b="1" lang="en-US" sz="1600">
                <a:solidFill>
                  <a:srgbClr val="D4D4D4"/>
                </a:solidFill>
                <a:latin typeface="Courier New"/>
                <a:ea typeface="Courier New"/>
                <a:cs typeface="Courier New"/>
                <a:sym typeface="Courier New"/>
              </a:rPr>
              <a:t>=</a:t>
            </a:r>
            <a:r>
              <a:rPr b="1" lang="en-US" sz="1600">
                <a:solidFill>
                  <a:srgbClr val="DCDCAA"/>
                </a:solidFill>
                <a:latin typeface="Courier New"/>
                <a:ea typeface="Courier New"/>
                <a:cs typeface="Courier New"/>
                <a:sym typeface="Courier New"/>
              </a:rPr>
              <a:t>input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"¿Cuenta con </a:t>
            </a:r>
            <a:r>
              <a:rPr b="1" lang="en-US" sz="1600">
                <a:solidFill>
                  <a:srgbClr val="CE9178"/>
                </a:solidFill>
                <a:latin typeface="Courier New"/>
                <a:ea typeface="Courier New"/>
                <a:cs typeface="Courier New"/>
                <a:sym typeface="Courier New"/>
              </a:rPr>
              <a:t>algún</a:t>
            </a:r>
            <a:r>
              <a:rPr b="1" lang="en-US" sz="1600">
                <a:solidFill>
                  <a:srgbClr val="CE9178"/>
                </a:solidFill>
                <a:latin typeface="Courier New"/>
                <a:ea typeface="Courier New"/>
                <a:cs typeface="Courier New"/>
                <a:sym typeface="Courier New"/>
              </a:rPr>
              <a:t> deducible? Introduzca ( si o no)"</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586C0"/>
                </a:solidFill>
                <a:latin typeface="Courier New"/>
                <a:ea typeface="Courier New"/>
                <a:cs typeface="Courier New"/>
                <a:sym typeface="Courier New"/>
              </a:rPr>
              <a:t>if</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sueldo</a:t>
            </a:r>
            <a:r>
              <a:rPr b="1" lang="en-US" sz="1600">
                <a:solidFill>
                  <a:srgbClr val="CCCCCC"/>
                </a:solidFill>
                <a:latin typeface="Courier New"/>
                <a:ea typeface="Courier New"/>
                <a:cs typeface="Courier New"/>
                <a:sym typeface="Courier New"/>
              </a:rPr>
              <a:t> </a:t>
            </a:r>
            <a:r>
              <a:rPr b="1" lang="en-US" sz="1600">
                <a:solidFill>
                  <a:srgbClr val="D4D4D4"/>
                </a:solidFill>
                <a:latin typeface="Courier New"/>
                <a:ea typeface="Courier New"/>
                <a:cs typeface="Courier New"/>
                <a:sym typeface="Courier New"/>
              </a:rPr>
              <a:t>&lt;</a:t>
            </a:r>
            <a:r>
              <a:rPr b="1" lang="en-US" sz="1600">
                <a:solidFill>
                  <a:srgbClr val="CCCCCC"/>
                </a:solidFill>
                <a:latin typeface="Courier New"/>
                <a:ea typeface="Courier New"/>
                <a:cs typeface="Courier New"/>
                <a:sym typeface="Courier New"/>
              </a:rPr>
              <a:t> </a:t>
            </a:r>
            <a:r>
              <a:rPr b="1" lang="en-US" sz="1600">
                <a:solidFill>
                  <a:srgbClr val="B5CEA8"/>
                </a:solidFill>
                <a:latin typeface="Courier New"/>
                <a:ea typeface="Courier New"/>
                <a:cs typeface="Courier New"/>
                <a:sym typeface="Courier New"/>
              </a:rPr>
              <a:t>10000</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neto</a:t>
            </a:r>
            <a:r>
              <a:rPr b="1" lang="en-US" sz="1600">
                <a:solidFill>
                  <a:srgbClr val="D4D4D4"/>
                </a:solidFill>
                <a:latin typeface="Courier New"/>
                <a:ea typeface="Courier New"/>
                <a:cs typeface="Courier New"/>
                <a:sym typeface="Courier New"/>
              </a:rPr>
              <a:t>=</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sueldo</a:t>
            </a:r>
            <a:r>
              <a:rPr b="1" lang="en-US" sz="1600">
                <a:solidFill>
                  <a:srgbClr val="D4D4D4"/>
                </a:solidFill>
                <a:latin typeface="Courier New"/>
                <a:ea typeface="Courier New"/>
                <a:cs typeface="Courier New"/>
                <a:sym typeface="Courier New"/>
              </a:rPr>
              <a:t>*</a:t>
            </a:r>
            <a:r>
              <a:rPr b="1" lang="en-US" sz="1600">
                <a:solidFill>
                  <a:srgbClr val="B5CEA8"/>
                </a:solidFill>
                <a:latin typeface="Courier New"/>
                <a:ea typeface="Courier New"/>
                <a:cs typeface="Courier New"/>
                <a:sym typeface="Courier New"/>
              </a:rPr>
              <a:t>0.05</a:t>
            </a:r>
            <a:endParaRPr b="1" sz="1600">
              <a:solidFill>
                <a:srgbClr val="B5CEA8"/>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DCDCAA"/>
                </a:solidFill>
                <a:latin typeface="Courier New"/>
                <a:ea typeface="Courier New"/>
                <a:cs typeface="Courier New"/>
                <a:sym typeface="Courier New"/>
              </a:rPr>
              <a:t>print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"El tipo impositivo es 5% y su valor es:"</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neto</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C586C0"/>
                </a:solidFill>
                <a:latin typeface="Courier New"/>
                <a:ea typeface="Courier New"/>
                <a:cs typeface="Courier New"/>
                <a:sym typeface="Courier New"/>
              </a:rPr>
              <a:t>if</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deducible</a:t>
            </a:r>
            <a:r>
              <a:rPr b="1" lang="en-US" sz="1600">
                <a:solidFill>
                  <a:srgbClr val="CCCCCC"/>
                </a:solidFill>
                <a:latin typeface="Courier New"/>
                <a:ea typeface="Courier New"/>
                <a:cs typeface="Courier New"/>
                <a:sym typeface="Courier New"/>
              </a:rPr>
              <a:t> </a:t>
            </a:r>
            <a:r>
              <a:rPr b="1" lang="en-US" sz="1600">
                <a:solidFill>
                  <a:srgbClr val="D4D4D4"/>
                </a:solidFill>
                <a:latin typeface="Courier New"/>
                <a:ea typeface="Courier New"/>
                <a:cs typeface="Courier New"/>
                <a:sym typeface="Courier New"/>
              </a:rPr>
              <a:t>==</a:t>
            </a:r>
            <a:r>
              <a:rPr b="1" lang="en-US" sz="1600">
                <a:solidFill>
                  <a:srgbClr val="CCCCCC"/>
                </a:solidFill>
                <a:latin typeface="Courier New"/>
                <a:ea typeface="Courier New"/>
                <a:cs typeface="Courier New"/>
                <a:sym typeface="Courier New"/>
              </a:rPr>
              <a:t> </a:t>
            </a:r>
            <a:r>
              <a:rPr b="1" lang="en-US" sz="1600">
                <a:solidFill>
                  <a:srgbClr val="CE9178"/>
                </a:solidFill>
                <a:latin typeface="Courier New"/>
                <a:ea typeface="Courier New"/>
                <a:cs typeface="Courier New"/>
                <a:sym typeface="Courier New"/>
              </a:rPr>
              <a:t>"si"</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0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netodedu</a:t>
            </a:r>
            <a:r>
              <a:rPr b="1" lang="en-US" sz="1600">
                <a:solidFill>
                  <a:srgbClr val="D4D4D4"/>
                </a:solidFill>
                <a:latin typeface="Courier New"/>
                <a:ea typeface="Courier New"/>
                <a:cs typeface="Courier New"/>
                <a:sym typeface="Courier New"/>
              </a:rPr>
              <a:t>=</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sueldo</a:t>
            </a:r>
            <a:r>
              <a:rPr b="1" lang="en-US" sz="1600">
                <a:solidFill>
                  <a:srgbClr val="D4D4D4"/>
                </a:solidFill>
                <a:latin typeface="Courier New"/>
                <a:ea typeface="Courier New"/>
                <a:cs typeface="Courier New"/>
                <a:sym typeface="Courier New"/>
              </a:rPr>
              <a:t>*</a:t>
            </a:r>
            <a:r>
              <a:rPr b="1" lang="en-US" sz="1600">
                <a:solidFill>
                  <a:srgbClr val="B5CEA8"/>
                </a:solidFill>
                <a:latin typeface="Courier New"/>
                <a:ea typeface="Courier New"/>
                <a:cs typeface="Courier New"/>
                <a:sym typeface="Courier New"/>
              </a:rPr>
              <a:t>0.2</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DCDCAA"/>
                </a:solidFill>
                <a:latin typeface="Courier New"/>
                <a:ea typeface="Courier New"/>
                <a:cs typeface="Courier New"/>
                <a:sym typeface="Courier New"/>
              </a:rPr>
              <a:t>print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"El valor deducible es:"</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netodedu</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tot</a:t>
            </a:r>
            <a:r>
              <a:rPr b="1" lang="en-US" sz="1600">
                <a:solidFill>
                  <a:srgbClr val="D4D4D4"/>
                </a:solidFill>
                <a:latin typeface="Courier New"/>
                <a:ea typeface="Courier New"/>
                <a:cs typeface="Courier New"/>
                <a:sym typeface="Courier New"/>
              </a:rPr>
              <a:t>=</a:t>
            </a:r>
            <a:r>
              <a:rPr b="1" lang="en-US" sz="1600">
                <a:solidFill>
                  <a:srgbClr val="9CDCFE"/>
                </a:solidFill>
                <a:latin typeface="Courier New"/>
                <a:ea typeface="Courier New"/>
                <a:cs typeface="Courier New"/>
                <a:sym typeface="Courier New"/>
              </a:rPr>
              <a:t>neto</a:t>
            </a:r>
            <a:r>
              <a:rPr b="1" lang="en-US" sz="1600">
                <a:solidFill>
                  <a:srgbClr val="D4D4D4"/>
                </a:solidFill>
                <a:latin typeface="Courier New"/>
                <a:ea typeface="Courier New"/>
                <a:cs typeface="Courier New"/>
                <a:sym typeface="Courier New"/>
              </a:rPr>
              <a:t>-</a:t>
            </a:r>
            <a:r>
              <a:rPr b="1" lang="en-US" sz="1600">
                <a:solidFill>
                  <a:srgbClr val="9CDCFE"/>
                </a:solidFill>
                <a:latin typeface="Courier New"/>
                <a:ea typeface="Courier New"/>
                <a:cs typeface="Courier New"/>
                <a:sym typeface="Courier New"/>
              </a:rPr>
              <a:t>netodedu</a:t>
            </a:r>
            <a:endParaRPr b="1" sz="1600">
              <a:solidFill>
                <a:srgbClr val="9CDCFE"/>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C586C0"/>
                </a:solidFill>
                <a:latin typeface="Courier New"/>
                <a:ea typeface="Courier New"/>
                <a:cs typeface="Courier New"/>
                <a:sym typeface="Courier New"/>
              </a:rPr>
              <a:t>if</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tot</a:t>
            </a:r>
            <a:r>
              <a:rPr b="1" lang="en-US" sz="1600">
                <a:solidFill>
                  <a:srgbClr val="D4D4D4"/>
                </a:solidFill>
                <a:latin typeface="Courier New"/>
                <a:ea typeface="Courier New"/>
                <a:cs typeface="Courier New"/>
                <a:sym typeface="Courier New"/>
              </a:rPr>
              <a:t>&lt;</a:t>
            </a:r>
            <a:r>
              <a:rPr b="1" lang="en-US" sz="1600">
                <a:solidFill>
                  <a:srgbClr val="B5CEA8"/>
                </a:solidFill>
                <a:latin typeface="Courier New"/>
                <a:ea typeface="Courier New"/>
                <a:cs typeface="Courier New"/>
                <a:sym typeface="Courier New"/>
              </a:rPr>
              <a:t>0</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DCDCAA"/>
                </a:solidFill>
                <a:latin typeface="Courier New"/>
                <a:ea typeface="Courier New"/>
                <a:cs typeface="Courier New"/>
                <a:sym typeface="Courier New"/>
              </a:rPr>
              <a:t>print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"felicidades deben regresarle:"</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tot</a:t>
            </a:r>
            <a:r>
              <a:rPr b="1" lang="en-US" sz="1600">
                <a:solidFill>
                  <a:srgbClr val="D4D4D4"/>
                </a:solidFill>
                <a:latin typeface="Courier New"/>
                <a:ea typeface="Courier New"/>
                <a:cs typeface="Courier New"/>
                <a:sym typeface="Courier New"/>
              </a:rPr>
              <a:t>*</a:t>
            </a:r>
            <a:r>
              <a:rPr b="1" lang="en-US" sz="1600">
                <a:solidFill>
                  <a:srgbClr val="CCCCCC"/>
                </a:solidFill>
                <a:latin typeface="Courier New"/>
                <a:ea typeface="Courier New"/>
                <a:cs typeface="Courier New"/>
                <a:sym typeface="Courier New"/>
              </a:rPr>
              <a:t>(</a:t>
            </a:r>
            <a:r>
              <a:rPr b="1" lang="en-US" sz="1600">
                <a:solidFill>
                  <a:srgbClr val="D4D4D4"/>
                </a:solidFill>
                <a:latin typeface="Courier New"/>
                <a:ea typeface="Courier New"/>
                <a:cs typeface="Courier New"/>
                <a:sym typeface="Courier New"/>
              </a:rPr>
              <a:t>-</a:t>
            </a:r>
            <a:r>
              <a:rPr b="1" lang="en-US" sz="1600">
                <a:solidFill>
                  <a:srgbClr val="B5CEA8"/>
                </a:solidFill>
                <a:latin typeface="Courier New"/>
                <a:ea typeface="Courier New"/>
                <a:cs typeface="Courier New"/>
                <a:sym typeface="Courier New"/>
              </a:rPr>
              <a:t>1</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C586C0"/>
                </a:solidFill>
                <a:latin typeface="Courier New"/>
                <a:ea typeface="Courier New"/>
                <a:cs typeface="Courier New"/>
                <a:sym typeface="Courier New"/>
              </a:rPr>
              <a:t>else</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DCDCAA"/>
                </a:solidFill>
                <a:latin typeface="Courier New"/>
                <a:ea typeface="Courier New"/>
                <a:cs typeface="Courier New"/>
                <a:sym typeface="Courier New"/>
              </a:rPr>
              <a:t>print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"Valor total a pagar:"</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tot</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C586C0"/>
                </a:solidFill>
                <a:latin typeface="Courier New"/>
                <a:ea typeface="Courier New"/>
                <a:cs typeface="Courier New"/>
                <a:sym typeface="Courier New"/>
              </a:rPr>
              <a:t>else</a:t>
            </a:r>
            <a:r>
              <a:rPr b="1" lang="en-US" sz="1600">
                <a:solidFill>
                  <a:srgbClr val="CCCCCC"/>
                </a:solidFill>
                <a:latin typeface="Courier New"/>
                <a:ea typeface="Courier New"/>
                <a:cs typeface="Courier New"/>
                <a:sym typeface="Courier New"/>
              </a:rPr>
              <a:t>:</a:t>
            </a:r>
            <a:endParaRPr b="1" sz="16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CCCCCC"/>
                </a:solidFill>
                <a:latin typeface="Courier New"/>
                <a:ea typeface="Courier New"/>
                <a:cs typeface="Courier New"/>
                <a:sym typeface="Courier New"/>
              </a:rPr>
              <a:t>        </a:t>
            </a:r>
            <a:r>
              <a:rPr b="1" lang="en-US" sz="1600">
                <a:solidFill>
                  <a:srgbClr val="DCDCAA"/>
                </a:solidFill>
                <a:latin typeface="Courier New"/>
                <a:ea typeface="Courier New"/>
                <a:cs typeface="Courier New"/>
                <a:sym typeface="Courier New"/>
              </a:rPr>
              <a:t>print</a:t>
            </a:r>
            <a:r>
              <a:rPr b="1" lang="en-US" sz="1600">
                <a:solidFill>
                  <a:srgbClr val="CCCCCC"/>
                </a:solidFill>
                <a:latin typeface="Courier New"/>
                <a:ea typeface="Courier New"/>
                <a:cs typeface="Courier New"/>
                <a:sym typeface="Courier New"/>
              </a:rPr>
              <a:t>(</a:t>
            </a:r>
            <a:r>
              <a:rPr b="1" lang="en-US" sz="1600">
                <a:solidFill>
                  <a:srgbClr val="CE9178"/>
                </a:solidFill>
                <a:latin typeface="Courier New"/>
                <a:ea typeface="Courier New"/>
                <a:cs typeface="Courier New"/>
                <a:sym typeface="Courier New"/>
              </a:rPr>
              <a:t>"Valor total a pagar:"</a:t>
            </a:r>
            <a:r>
              <a:rPr b="1" lang="en-US" sz="1600">
                <a:solidFill>
                  <a:srgbClr val="CCCCCC"/>
                </a:solidFill>
                <a:latin typeface="Courier New"/>
                <a:ea typeface="Courier New"/>
                <a:cs typeface="Courier New"/>
                <a:sym typeface="Courier New"/>
              </a:rPr>
              <a:t>, </a:t>
            </a:r>
            <a:r>
              <a:rPr b="1" lang="en-US" sz="1600">
                <a:solidFill>
                  <a:srgbClr val="9CDCFE"/>
                </a:solidFill>
                <a:latin typeface="Courier New"/>
                <a:ea typeface="Courier New"/>
                <a:cs typeface="Courier New"/>
                <a:sym typeface="Courier New"/>
              </a:rPr>
              <a:t>neto</a:t>
            </a:r>
            <a:r>
              <a:rPr b="1" lang="en-US" sz="1600">
                <a:solidFill>
                  <a:srgbClr val="CCCCCC"/>
                </a:solidFill>
                <a:latin typeface="Courier New"/>
                <a:ea typeface="Courier New"/>
                <a:cs typeface="Courier New"/>
                <a:sym typeface="Courier New"/>
              </a:rPr>
              <a:t>)</a:t>
            </a:r>
            <a:endParaRPr sz="1600">
              <a:solidFill>
                <a:srgbClr val="CCCCCC"/>
              </a:solidFill>
              <a:highlight>
                <a:srgbClr val="1F1F1F"/>
              </a:highlight>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5" name="Shape 865"/>
        <p:cNvGrpSpPr/>
        <p:nvPr/>
      </p:nvGrpSpPr>
      <p:grpSpPr>
        <a:xfrm>
          <a:off x="0" y="0"/>
          <a:ext cx="0" cy="0"/>
          <a:chOff x="0" y="0"/>
          <a:chExt cx="0" cy="0"/>
        </a:xfrm>
      </p:grpSpPr>
      <p:sp>
        <p:nvSpPr>
          <p:cNvPr id="866" name="Google Shape;866;g278ec0692c4_0_3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g278ec0692c4_0_3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8" name="Google Shape;868;g278ec0692c4_0_3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9" name="Google Shape;869;g278ec0692c4_0_37"/>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870" name="Google Shape;870;g278ec0692c4_0_3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278ec0692c4_0_3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72" name="Google Shape;872;g278ec0692c4_0_3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g278ec0692c4_0_37"/>
          <p:cNvSpPr txBox="1"/>
          <p:nvPr/>
        </p:nvSpPr>
        <p:spPr>
          <a:xfrm>
            <a:off x="724200" y="1599850"/>
            <a:ext cx="10743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i="0" sz="2500" u="none" cap="none" strike="noStrike">
              <a:solidFill>
                <a:srgbClr val="000000"/>
              </a:solidFill>
              <a:latin typeface="Trebuchet MS"/>
              <a:ea typeface="Trebuchet MS"/>
              <a:cs typeface="Trebuchet MS"/>
              <a:sym typeface="Trebuchet MS"/>
            </a:endParaRPr>
          </a:p>
        </p:txBody>
      </p:sp>
      <p:sp>
        <p:nvSpPr>
          <p:cNvPr id="874" name="Google Shape;874;g278ec0692c4_0_3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g278ec0692c4_0_3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876" name="Google Shape;876;g278ec0692c4_0_37"/>
          <p:cNvSpPr txBox="1"/>
          <p:nvPr/>
        </p:nvSpPr>
        <p:spPr>
          <a:xfrm>
            <a:off x="2912188" y="1298200"/>
            <a:ext cx="8176500" cy="5271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&gt;=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10000</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&amp;</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&lt;=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20000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0.15</a:t>
            </a:r>
            <a:endParaRPr b="1" sz="1700">
              <a:solidFill>
                <a:srgbClr val="B5CEA8"/>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tipo impositivo es 15% y su valor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deducible</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CE9178"/>
                </a:solidFill>
                <a:latin typeface="Courier New"/>
                <a:ea typeface="Courier New"/>
                <a:cs typeface="Courier New"/>
                <a:sym typeface="Courier New"/>
              </a:rPr>
              <a:t>"si"</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0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0.2</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valor deducible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netodedu</a:t>
            </a:r>
            <a:endParaRPr b="1" sz="1700">
              <a:solidFill>
                <a:srgbClr val="9CDCFE"/>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&lt;</a:t>
            </a:r>
            <a:r>
              <a:rPr b="1" lang="en-US" sz="1700">
                <a:solidFill>
                  <a:srgbClr val="B5CEA8"/>
                </a:solidFill>
                <a:latin typeface="Courier New"/>
                <a:ea typeface="Courier New"/>
                <a:cs typeface="Courier New"/>
                <a:sym typeface="Courier New"/>
              </a:rPr>
              <a:t>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"felicidades deben regresarle:"</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1</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800">
              <a:solidFill>
                <a:srgbClr val="9CDCFE"/>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0" name="Shape 880"/>
        <p:cNvGrpSpPr/>
        <p:nvPr/>
      </p:nvGrpSpPr>
      <p:grpSpPr>
        <a:xfrm>
          <a:off x="0" y="0"/>
          <a:ext cx="0" cy="0"/>
          <a:chOff x="0" y="0"/>
          <a:chExt cx="0" cy="0"/>
        </a:xfrm>
      </p:grpSpPr>
      <p:sp>
        <p:nvSpPr>
          <p:cNvPr id="881" name="Google Shape;881;g278ec0692c4_0_6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2" name="Google Shape;882;g278ec0692c4_0_6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g278ec0692c4_0_6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84" name="Google Shape;884;g278ec0692c4_0_66"/>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885" name="Google Shape;885;g278ec0692c4_0_6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278ec0692c4_0_6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87" name="Google Shape;887;g278ec0692c4_0_6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g278ec0692c4_0_66"/>
          <p:cNvSpPr txBox="1"/>
          <p:nvPr/>
        </p:nvSpPr>
        <p:spPr>
          <a:xfrm>
            <a:off x="724200" y="1599850"/>
            <a:ext cx="10743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i="0" sz="2500" u="none" cap="none" strike="noStrike">
              <a:solidFill>
                <a:srgbClr val="000000"/>
              </a:solidFill>
              <a:latin typeface="Trebuchet MS"/>
              <a:ea typeface="Trebuchet MS"/>
              <a:cs typeface="Trebuchet MS"/>
              <a:sym typeface="Trebuchet MS"/>
            </a:endParaRPr>
          </a:p>
        </p:txBody>
      </p:sp>
      <p:sp>
        <p:nvSpPr>
          <p:cNvPr id="889" name="Google Shape;889;g278ec0692c4_0_6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0" name="Google Shape;890;g278ec0692c4_0_6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891" name="Google Shape;891;g278ec0692c4_0_66"/>
          <p:cNvSpPr txBox="1"/>
          <p:nvPr/>
        </p:nvSpPr>
        <p:spPr>
          <a:xfrm>
            <a:off x="2979588" y="1418200"/>
            <a:ext cx="8176500" cy="5418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&gt;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20000</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&amp;</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&lt;=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35000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0.2</a:t>
            </a:r>
            <a:endParaRPr b="1" sz="1700">
              <a:solidFill>
                <a:srgbClr val="B5CEA8"/>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tipo impositivo es 20% y su valor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deducible</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CE9178"/>
                </a:solidFill>
                <a:latin typeface="Courier New"/>
                <a:ea typeface="Courier New"/>
                <a:cs typeface="Courier New"/>
                <a:sym typeface="Courier New"/>
              </a:rPr>
              <a:t>"si"</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0.2</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valor deducible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netodedu</a:t>
            </a:r>
            <a:endParaRPr b="1" sz="1700">
              <a:solidFill>
                <a:srgbClr val="9CDCFE"/>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&lt;</a:t>
            </a:r>
            <a:r>
              <a:rPr b="1" lang="en-US" sz="1700">
                <a:solidFill>
                  <a:srgbClr val="B5CEA8"/>
                </a:solidFill>
                <a:latin typeface="Courier New"/>
                <a:ea typeface="Courier New"/>
                <a:cs typeface="Courier New"/>
                <a:sym typeface="Courier New"/>
              </a:rPr>
              <a:t>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"felicidades deben regresarle:"</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1</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586C0"/>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5" name="Shape 895"/>
        <p:cNvGrpSpPr/>
        <p:nvPr/>
      </p:nvGrpSpPr>
      <p:grpSpPr>
        <a:xfrm>
          <a:off x="0" y="0"/>
          <a:ext cx="0" cy="0"/>
          <a:chOff x="0" y="0"/>
          <a:chExt cx="0" cy="0"/>
        </a:xfrm>
      </p:grpSpPr>
      <p:sp>
        <p:nvSpPr>
          <p:cNvPr id="896" name="Google Shape;896;g278ec0692c4_0_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g278ec0692c4_0_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g278ec0692c4_0_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99" name="Google Shape;899;g278ec0692c4_0_80"/>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900" name="Google Shape;900;g278ec0692c4_0_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278ec0692c4_0_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02" name="Google Shape;902;g278ec0692c4_0_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278ec0692c4_0_80"/>
          <p:cNvSpPr txBox="1"/>
          <p:nvPr/>
        </p:nvSpPr>
        <p:spPr>
          <a:xfrm>
            <a:off x="724200" y="1599850"/>
            <a:ext cx="10743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i="0" sz="2500" u="none" cap="none" strike="noStrike">
              <a:solidFill>
                <a:srgbClr val="000000"/>
              </a:solidFill>
              <a:latin typeface="Trebuchet MS"/>
              <a:ea typeface="Trebuchet MS"/>
              <a:cs typeface="Trebuchet MS"/>
              <a:sym typeface="Trebuchet MS"/>
            </a:endParaRPr>
          </a:p>
        </p:txBody>
      </p:sp>
      <p:sp>
        <p:nvSpPr>
          <p:cNvPr id="904" name="Google Shape;904;g278ec0692c4_0_8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5" name="Google Shape;905;g278ec0692c4_0_8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906" name="Google Shape;906;g278ec0692c4_0_80"/>
          <p:cNvSpPr txBox="1"/>
          <p:nvPr/>
        </p:nvSpPr>
        <p:spPr>
          <a:xfrm>
            <a:off x="2979588" y="1418200"/>
            <a:ext cx="8176500" cy="5418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&gt;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35000</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&amp;</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&lt;=</a:t>
            </a:r>
            <a:r>
              <a:rPr b="1" lang="en-US" sz="1700">
                <a:solidFill>
                  <a:srgbClr val="CCCCCC"/>
                </a:solidFill>
                <a:latin typeface="Courier New"/>
                <a:ea typeface="Courier New"/>
                <a:cs typeface="Courier New"/>
                <a:sym typeface="Courier New"/>
              </a:rPr>
              <a:t> </a:t>
            </a:r>
            <a:r>
              <a:rPr b="1" lang="en-US" sz="1700">
                <a:solidFill>
                  <a:srgbClr val="B5CEA8"/>
                </a:solidFill>
                <a:latin typeface="Courier New"/>
                <a:ea typeface="Courier New"/>
                <a:cs typeface="Courier New"/>
                <a:sym typeface="Courier New"/>
              </a:rPr>
              <a:t>60000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0.3</a:t>
            </a:r>
            <a:endParaRPr b="1" sz="1700">
              <a:solidFill>
                <a:srgbClr val="B5CEA8"/>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tipo impositivo es 30% y su valor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deducible</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CE9178"/>
                </a:solidFill>
                <a:latin typeface="Courier New"/>
                <a:ea typeface="Courier New"/>
                <a:cs typeface="Courier New"/>
                <a:sym typeface="Courier New"/>
              </a:rPr>
              <a:t>"si"</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0.2</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valor deducible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netodedu</a:t>
            </a:r>
            <a:endParaRPr b="1" sz="1700">
              <a:solidFill>
                <a:srgbClr val="9CDCFE"/>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&lt;</a:t>
            </a:r>
            <a:r>
              <a:rPr b="1" lang="en-US" sz="1700">
                <a:solidFill>
                  <a:srgbClr val="B5CEA8"/>
                </a:solidFill>
                <a:latin typeface="Courier New"/>
                <a:ea typeface="Courier New"/>
                <a:cs typeface="Courier New"/>
                <a:sym typeface="Courier New"/>
              </a:rPr>
              <a:t>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"felicidades deben regresarle:"</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1</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586C0"/>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0" name="Shape 910"/>
        <p:cNvGrpSpPr/>
        <p:nvPr/>
      </p:nvGrpSpPr>
      <p:grpSpPr>
        <a:xfrm>
          <a:off x="0" y="0"/>
          <a:ext cx="0" cy="0"/>
          <a:chOff x="0" y="0"/>
          <a:chExt cx="0" cy="0"/>
        </a:xfrm>
      </p:grpSpPr>
      <p:sp>
        <p:nvSpPr>
          <p:cNvPr id="911" name="Google Shape;911;g278ec0692c4_0_9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g278ec0692c4_0_9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g278ec0692c4_0_9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14" name="Google Shape;914;g278ec0692c4_0_94"/>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915" name="Google Shape;915;g278ec0692c4_0_9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g278ec0692c4_0_9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17" name="Google Shape;917;g278ec0692c4_0_9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g278ec0692c4_0_94"/>
          <p:cNvSpPr txBox="1"/>
          <p:nvPr/>
        </p:nvSpPr>
        <p:spPr>
          <a:xfrm>
            <a:off x="724200" y="1599850"/>
            <a:ext cx="10743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 </a:t>
            </a:r>
            <a:r>
              <a:rPr b="1" i="1" lang="en-US" sz="2000">
                <a:latin typeface="Trebuchet MS"/>
                <a:ea typeface="Trebuchet MS"/>
                <a:cs typeface="Trebuchet MS"/>
                <a:sym typeface="Trebuchet MS"/>
              </a:rPr>
              <a:t>7</a:t>
            </a:r>
            <a:r>
              <a:rPr b="1" i="1" lang="en-US" sz="2000" u="none" cap="none" strike="noStrike">
                <a:solidFill>
                  <a:srgbClr val="000000"/>
                </a:solidFill>
                <a:latin typeface="Trebuchet MS"/>
                <a:ea typeface="Trebuchet MS"/>
                <a:cs typeface="Trebuchet MS"/>
                <a:sym typeface="Trebuchet MS"/>
              </a:rPr>
              <a:t>.</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i="0" sz="2500" u="none" cap="none" strike="noStrike">
              <a:solidFill>
                <a:srgbClr val="000000"/>
              </a:solidFill>
              <a:latin typeface="Trebuchet MS"/>
              <a:ea typeface="Trebuchet MS"/>
              <a:cs typeface="Trebuchet MS"/>
              <a:sym typeface="Trebuchet MS"/>
            </a:endParaRPr>
          </a:p>
        </p:txBody>
      </p:sp>
      <p:sp>
        <p:nvSpPr>
          <p:cNvPr id="919" name="Google Shape;919;g278ec0692c4_0_9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g278ec0692c4_0_9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 </a:t>
            </a:r>
            <a:r>
              <a:rPr b="0" i="0" lang="en-US" sz="2000" u="none" cap="none" strike="noStrike">
                <a:solidFill>
                  <a:srgbClr val="003870"/>
                </a:solidFill>
                <a:latin typeface="Courier New"/>
                <a:ea typeface="Courier New"/>
                <a:cs typeface="Courier New"/>
                <a:sym typeface="Courier New"/>
              </a:rPr>
              <a:t>if </a:t>
            </a:r>
            <a:r>
              <a:rPr b="0" i="0" lang="en-US" sz="2000" u="none" cap="none" strike="noStrike">
                <a:solidFill>
                  <a:srgbClr val="003870"/>
                </a:solidFill>
                <a:latin typeface="Trebuchet MS"/>
                <a:ea typeface="Trebuchet MS"/>
                <a:cs typeface="Trebuchet MS"/>
                <a:sym typeface="Trebuchet MS"/>
              </a:rPr>
              <a:t>anidados - </a:t>
            </a:r>
            <a:r>
              <a:rPr b="1" i="0" lang="en-US" sz="2000" u="none" cap="none" strike="noStrike">
                <a:solidFill>
                  <a:srgbClr val="003870"/>
                </a:solidFill>
                <a:latin typeface="Trebuchet MS"/>
                <a:ea typeface="Trebuchet MS"/>
                <a:cs typeface="Trebuchet MS"/>
                <a:sym typeface="Trebuchet MS"/>
              </a:rPr>
              <a:t>Java</a:t>
            </a:r>
            <a:endParaRPr b="1" i="0" sz="2000" u="none" cap="none" strike="noStrike">
              <a:solidFill>
                <a:srgbClr val="003870"/>
              </a:solidFill>
              <a:latin typeface="Trebuchet MS"/>
              <a:ea typeface="Trebuchet MS"/>
              <a:cs typeface="Trebuchet MS"/>
              <a:sym typeface="Trebuchet MS"/>
            </a:endParaRPr>
          </a:p>
        </p:txBody>
      </p:sp>
      <p:sp>
        <p:nvSpPr>
          <p:cNvPr id="921" name="Google Shape;921;g278ec0692c4_0_94"/>
          <p:cNvSpPr txBox="1"/>
          <p:nvPr/>
        </p:nvSpPr>
        <p:spPr>
          <a:xfrm>
            <a:off x="2979588" y="1418200"/>
            <a:ext cx="8176500" cy="4707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&gt;</a:t>
            </a:r>
            <a:r>
              <a:rPr b="1" lang="en-US" sz="1700">
                <a:solidFill>
                  <a:srgbClr val="B5CEA8"/>
                </a:solidFill>
                <a:latin typeface="Courier New"/>
                <a:ea typeface="Courier New"/>
                <a:cs typeface="Courier New"/>
                <a:sym typeface="Courier New"/>
              </a:rPr>
              <a:t>60000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0.45</a:t>
            </a:r>
            <a:endParaRPr b="1" sz="1700">
              <a:solidFill>
                <a:srgbClr val="B5CEA8"/>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tipo impositivo es 45% y su valor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deducible</a:t>
            </a:r>
            <a:r>
              <a:rPr b="1" lang="en-US" sz="1700">
                <a:solidFill>
                  <a:srgbClr val="CCCCCC"/>
                </a:solidFill>
                <a:latin typeface="Courier New"/>
                <a:ea typeface="Courier New"/>
                <a:cs typeface="Courier New"/>
                <a:sym typeface="Courier New"/>
              </a:rPr>
              <a:t> </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CE9178"/>
                </a:solidFill>
                <a:latin typeface="Courier New"/>
                <a:ea typeface="Courier New"/>
                <a:cs typeface="Courier New"/>
                <a:sym typeface="Courier New"/>
              </a:rPr>
              <a:t>"si"</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sueldo</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0.2</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"El valor deducible es:"</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netodedu</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a:t>
            </a:r>
            <a:r>
              <a:rPr b="1" lang="en-US" sz="1700">
                <a:solidFill>
                  <a:srgbClr val="D4D4D4"/>
                </a:solidFill>
                <a:latin typeface="Courier New"/>
                <a:ea typeface="Courier New"/>
                <a:cs typeface="Courier New"/>
                <a:sym typeface="Courier New"/>
              </a:rPr>
              <a:t>-</a:t>
            </a:r>
            <a:r>
              <a:rPr b="1" lang="en-US" sz="1700">
                <a:solidFill>
                  <a:srgbClr val="9CDCFE"/>
                </a:solidFill>
                <a:latin typeface="Courier New"/>
                <a:ea typeface="Courier New"/>
                <a:cs typeface="Courier New"/>
                <a:sym typeface="Courier New"/>
              </a:rPr>
              <a:t>netodedu</a:t>
            </a:r>
            <a:endParaRPr b="1" sz="1700">
              <a:solidFill>
                <a:srgbClr val="9CDCFE"/>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if</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&lt;</a:t>
            </a:r>
            <a:r>
              <a:rPr b="1" lang="en-US" sz="1700">
                <a:solidFill>
                  <a:srgbClr val="B5CEA8"/>
                </a:solidFill>
                <a:latin typeface="Courier New"/>
                <a:ea typeface="Courier New"/>
                <a:cs typeface="Courier New"/>
                <a:sym typeface="Courier New"/>
              </a:rPr>
              <a:t>0</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"felicidades deben regresarle:"</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D4D4D4"/>
                </a:solidFill>
                <a:latin typeface="Courier New"/>
                <a:ea typeface="Courier New"/>
                <a:cs typeface="Courier New"/>
                <a:sym typeface="Courier New"/>
              </a:rPr>
              <a:t>*</a:t>
            </a:r>
            <a:r>
              <a:rPr b="1" lang="en-US" sz="1700">
                <a:solidFill>
                  <a:srgbClr val="CCCCCC"/>
                </a:solidFill>
                <a:latin typeface="Courier New"/>
                <a:ea typeface="Courier New"/>
                <a:cs typeface="Courier New"/>
                <a:sym typeface="Courier New"/>
              </a:rPr>
              <a:t>(</a:t>
            </a:r>
            <a:r>
              <a:rPr b="1" lang="en-US" sz="1700">
                <a:solidFill>
                  <a:srgbClr val="D4D4D4"/>
                </a:solidFill>
                <a:latin typeface="Courier New"/>
                <a:ea typeface="Courier New"/>
                <a:cs typeface="Courier New"/>
                <a:sym typeface="Courier New"/>
              </a:rPr>
              <a:t>-</a:t>
            </a:r>
            <a:r>
              <a:rPr b="1" lang="en-US" sz="1700">
                <a:solidFill>
                  <a:srgbClr val="B5CEA8"/>
                </a:solidFill>
                <a:latin typeface="Courier New"/>
                <a:ea typeface="Courier New"/>
                <a:cs typeface="Courier New"/>
                <a:sym typeface="Courier New"/>
              </a:rPr>
              <a:t>1</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tot</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C586C0"/>
                </a:solidFill>
                <a:latin typeface="Courier New"/>
                <a:ea typeface="Courier New"/>
                <a:cs typeface="Courier New"/>
                <a:sym typeface="Courier New"/>
              </a:rPr>
              <a:t>else</a:t>
            </a:r>
            <a:r>
              <a:rPr b="1" lang="en-US" sz="1700">
                <a:solidFill>
                  <a:srgbClr val="CCCCCC"/>
                </a:solidFill>
                <a:latin typeface="Courier New"/>
                <a:ea typeface="Courier New"/>
                <a:cs typeface="Courier New"/>
                <a:sym typeface="Courier New"/>
              </a:rPr>
              <a:t>:</a:t>
            </a:r>
            <a:endParaRPr b="1" sz="1700">
              <a:solidFill>
                <a:srgbClr val="CCCCCC"/>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rgbClr val="CCCCCC"/>
                </a:solidFill>
                <a:latin typeface="Courier New"/>
                <a:ea typeface="Courier New"/>
                <a:cs typeface="Courier New"/>
                <a:sym typeface="Courier New"/>
              </a:rPr>
              <a:t>        </a:t>
            </a:r>
            <a:r>
              <a:rPr b="1" lang="en-US" sz="1700">
                <a:solidFill>
                  <a:srgbClr val="DCDCAA"/>
                </a:solidFill>
                <a:latin typeface="Courier New"/>
                <a:ea typeface="Courier New"/>
                <a:cs typeface="Courier New"/>
                <a:sym typeface="Courier New"/>
              </a:rPr>
              <a:t>print</a:t>
            </a:r>
            <a:r>
              <a:rPr b="1" lang="en-US" sz="1700">
                <a:solidFill>
                  <a:srgbClr val="CCCCCC"/>
                </a:solidFill>
                <a:latin typeface="Courier New"/>
                <a:ea typeface="Courier New"/>
                <a:cs typeface="Courier New"/>
                <a:sym typeface="Courier New"/>
              </a:rPr>
              <a:t>(</a:t>
            </a:r>
            <a:r>
              <a:rPr b="1" lang="en-US" sz="1700">
                <a:solidFill>
                  <a:srgbClr val="CE9178"/>
                </a:solidFill>
                <a:latin typeface="Courier New"/>
                <a:ea typeface="Courier New"/>
                <a:cs typeface="Courier New"/>
                <a:sym typeface="Courier New"/>
              </a:rPr>
              <a:t>"Valor total a pagar:"</a:t>
            </a:r>
            <a:r>
              <a:rPr b="1" lang="en-US" sz="1700">
                <a:solidFill>
                  <a:srgbClr val="CCCCCC"/>
                </a:solidFill>
                <a:latin typeface="Courier New"/>
                <a:ea typeface="Courier New"/>
                <a:cs typeface="Courier New"/>
                <a:sym typeface="Courier New"/>
              </a:rPr>
              <a:t>, </a:t>
            </a:r>
            <a:r>
              <a:rPr b="1" lang="en-US" sz="1700">
                <a:solidFill>
                  <a:srgbClr val="9CDCFE"/>
                </a:solidFill>
                <a:latin typeface="Courier New"/>
                <a:ea typeface="Courier New"/>
                <a:cs typeface="Courier New"/>
                <a:sym typeface="Courier New"/>
              </a:rPr>
              <a:t>neto</a:t>
            </a:r>
            <a:r>
              <a:rPr b="1" lang="en-US" sz="1700">
                <a:solidFill>
                  <a:srgbClr val="CCCCCC"/>
                </a:solidFill>
                <a:latin typeface="Courier New"/>
                <a:ea typeface="Courier New"/>
                <a:cs typeface="Courier New"/>
                <a:sym typeface="Courier New"/>
              </a:rPr>
              <a:t>)</a:t>
            </a:r>
            <a:endParaRPr b="1" sz="1700">
              <a:solidFill>
                <a:srgbClr val="C586C0"/>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5" name="Shape 925"/>
        <p:cNvGrpSpPr/>
        <p:nvPr/>
      </p:nvGrpSpPr>
      <p:grpSpPr>
        <a:xfrm>
          <a:off x="0" y="0"/>
          <a:ext cx="0" cy="0"/>
          <a:chOff x="0" y="0"/>
          <a:chExt cx="0" cy="0"/>
        </a:xfrm>
      </p:grpSpPr>
      <p:sp>
        <p:nvSpPr>
          <p:cNvPr id="926" name="Google Shape;926;g1dd6d73f377_2_50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7" name="Google Shape;927;g1dd6d73f377_2_50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8" name="Google Shape;928;g1dd6d73f377_2_50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9" name="Google Shape;929;g1dd6d73f377_2_50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30" name="Google Shape;930;g1dd6d73f377_2_50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g1dd6d73f377_2_50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32" name="Google Shape;932;g1dd6d73f377_2_50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g1dd6d73f377_2_501"/>
          <p:cNvSpPr txBox="1"/>
          <p:nvPr/>
        </p:nvSpPr>
        <p:spPr>
          <a:xfrm>
            <a:off x="720025" y="1627925"/>
            <a:ext cx="10946100" cy="454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900"/>
              <a:buFont typeface="Arial"/>
              <a:buNone/>
            </a:pPr>
            <a:r>
              <a:rPr b="0" i="0" lang="en-US" sz="1900" u="none" cap="none" strike="noStrike">
                <a:solidFill>
                  <a:schemeClr val="dk1"/>
                </a:solidFill>
                <a:latin typeface="Trebuchet MS"/>
                <a:ea typeface="Trebuchet MS"/>
                <a:cs typeface="Trebuchet MS"/>
                <a:sym typeface="Trebuchet MS"/>
              </a:rPr>
              <a:t>Escribe un programa que responda a un usuario que quiere comprar un helado en una conocida marca de comida rápida cuánto le costará en función del topping que elija.</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170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El helado sin topping cuesta 3.900$.</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El topping de oreo cuesta 1.500$.</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El topping de KitKat cuesta 1.000$.</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El topping de brownie cuesta 750$.</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El topping de discos de chocolate cuesta 950$.</a:t>
            </a:r>
            <a:endParaRPr b="0" i="0" sz="1900" u="none" cap="none" strike="noStrike">
              <a:solidFill>
                <a:schemeClr val="dk1"/>
              </a:solidFill>
              <a:latin typeface="Trebuchet MS"/>
              <a:ea typeface="Trebuchet MS"/>
              <a:cs typeface="Trebuchet MS"/>
              <a:sym typeface="Trebuchet MS"/>
            </a:endParaRPr>
          </a:p>
          <a:p>
            <a:pPr indent="-349250" lvl="0" marL="457200" marR="0" rtl="0" algn="l">
              <a:lnSpc>
                <a:spcPct val="115000"/>
              </a:lnSpc>
              <a:spcBef>
                <a:spcPts val="0"/>
              </a:spcBef>
              <a:spcAft>
                <a:spcPts val="0"/>
              </a:spcAft>
              <a:buClr>
                <a:schemeClr val="dk1"/>
              </a:buClr>
              <a:buSzPts val="1900"/>
              <a:buFont typeface="Trebuchet MS"/>
              <a:buChar char="●"/>
            </a:pPr>
            <a:r>
              <a:rPr b="0" i="0" lang="en-US" sz="1900" u="none" cap="none" strike="noStrike">
                <a:solidFill>
                  <a:schemeClr val="dk1"/>
                </a:solidFill>
                <a:latin typeface="Trebuchet MS"/>
                <a:ea typeface="Trebuchet MS"/>
                <a:cs typeface="Trebuchet MS"/>
                <a:sym typeface="Trebuchet MS"/>
              </a:rPr>
              <a:t>En caso de no disponer del topping solicitado por el usuario el programa escribirá por pantalla «</a:t>
            </a:r>
            <a:r>
              <a:rPr b="0" i="1" lang="en-US" sz="1900" u="none" cap="none" strike="noStrike">
                <a:solidFill>
                  <a:schemeClr val="dk1"/>
                </a:solidFill>
                <a:latin typeface="Trebuchet MS"/>
                <a:ea typeface="Trebuchet MS"/>
                <a:cs typeface="Trebuchet MS"/>
                <a:sym typeface="Trebuchet MS"/>
              </a:rPr>
              <a:t>no tenemos este topping, lo sentimos.</a:t>
            </a:r>
            <a:r>
              <a:rPr b="0" i="0" lang="en-US" sz="1900" u="none" cap="none" strike="noStrike">
                <a:solidFill>
                  <a:schemeClr val="dk1"/>
                </a:solidFill>
                <a:latin typeface="Trebuchet MS"/>
                <a:ea typeface="Trebuchet MS"/>
                <a:cs typeface="Trebuchet MS"/>
                <a:sym typeface="Trebuchet MS"/>
              </a:rPr>
              <a:t> » y a continuación informar del precio del helado sin ningún topping.</a:t>
            </a:r>
            <a:endParaRPr b="0" i="0" sz="19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1200"/>
              </a:spcBef>
              <a:spcAft>
                <a:spcPts val="0"/>
              </a:spcAft>
              <a:buClr>
                <a:srgbClr val="000000"/>
              </a:buClr>
              <a:buSzPts val="1900"/>
              <a:buFont typeface="Arial"/>
              <a:buNone/>
            </a:pPr>
            <a:r>
              <a:rPr b="0" i="0" lang="en-US" sz="1900" u="none" cap="none" strike="noStrike">
                <a:solidFill>
                  <a:schemeClr val="dk1"/>
                </a:solidFill>
                <a:latin typeface="Trebuchet MS"/>
                <a:ea typeface="Trebuchet MS"/>
                <a:cs typeface="Trebuchet MS"/>
                <a:sym typeface="Trebuchet MS"/>
              </a:rPr>
              <a:t>Finalmente, el programa escribe por pantalla el precio del helado con el topping seleccionado (o ninguno).</a:t>
            </a:r>
            <a:endParaRPr b="0" i="0" sz="1900" u="none" cap="none" strike="noStrike">
              <a:solidFill>
                <a:schemeClr val="dk1"/>
              </a:solidFill>
              <a:latin typeface="Trebuchet MS"/>
              <a:ea typeface="Trebuchet MS"/>
              <a:cs typeface="Trebuchet MS"/>
              <a:sym typeface="Trebuchet MS"/>
            </a:endParaRPr>
          </a:p>
        </p:txBody>
      </p:sp>
      <p:sp>
        <p:nvSpPr>
          <p:cNvPr id="934" name="Google Shape;934;g1dd6d73f377_2_501"/>
          <p:cNvSpPr txBox="1"/>
          <p:nvPr/>
        </p:nvSpPr>
        <p:spPr>
          <a:xfrm>
            <a:off x="4829550" y="878350"/>
            <a:ext cx="2532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1" i="1" lang="en-US" sz="2500" u="none" cap="none" strike="noStrike">
                <a:solidFill>
                  <a:srgbClr val="00AEAA"/>
                </a:solidFill>
                <a:latin typeface="Trebuchet MS"/>
                <a:ea typeface="Trebuchet MS"/>
                <a:cs typeface="Trebuchet MS"/>
                <a:sym typeface="Trebuchet MS"/>
              </a:rPr>
              <a:t>Ejercicio</a:t>
            </a:r>
            <a:endParaRPr b="0" i="0" sz="2500" u="none" cap="none" strike="noStrike">
              <a:solidFill>
                <a:srgbClr val="00AEAA"/>
              </a:solidFill>
              <a:latin typeface="Trebuchet MS"/>
              <a:ea typeface="Trebuchet MS"/>
              <a:cs typeface="Trebuchet MS"/>
              <a:sym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8" name="Shape 938"/>
        <p:cNvGrpSpPr/>
        <p:nvPr/>
      </p:nvGrpSpPr>
      <p:grpSpPr>
        <a:xfrm>
          <a:off x="0" y="0"/>
          <a:ext cx="0" cy="0"/>
          <a:chOff x="0" y="0"/>
          <a:chExt cx="0" cy="0"/>
        </a:xfrm>
      </p:grpSpPr>
      <p:sp>
        <p:nvSpPr>
          <p:cNvPr id="939" name="Google Shape;939;g20f4114666e_0_4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0" name="Google Shape;940;g20f4114666e_0_4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1" name="Google Shape;941;g20f4114666e_0_4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42" name="Google Shape;942;g20f4114666e_0_4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43" name="Google Shape;943;g20f4114666e_0_4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g20f4114666e_0_4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45" name="Google Shape;945;g20f4114666e_0_4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20f4114666e_0_458"/>
          <p:cNvSpPr txBox="1"/>
          <p:nvPr/>
        </p:nvSpPr>
        <p:spPr>
          <a:xfrm>
            <a:off x="638288" y="2990400"/>
            <a:ext cx="54543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6000"/>
              <a:buFont typeface="Arial"/>
              <a:buNone/>
            </a:pPr>
            <a:r>
              <a:rPr b="0" i="0" lang="en-US" sz="6000" u="none" cap="none" strike="noStrike">
                <a:solidFill>
                  <a:srgbClr val="64CBC9"/>
                </a:solidFill>
                <a:latin typeface="Trebuchet MS"/>
                <a:ea typeface="Trebuchet MS"/>
                <a:cs typeface="Trebuchet MS"/>
                <a:sym typeface="Trebuchet MS"/>
              </a:rPr>
              <a:t>Switch Case</a:t>
            </a:r>
            <a:endParaRPr b="0" i="0" sz="6000" u="none" cap="none" strike="noStrike">
              <a:solidFill>
                <a:srgbClr val="64CBC9"/>
              </a:solidFill>
              <a:latin typeface="Trebuchet MS"/>
              <a:ea typeface="Trebuchet MS"/>
              <a:cs typeface="Trebuchet MS"/>
              <a:sym typeface="Trebuchet MS"/>
            </a:endParaRPr>
          </a:p>
        </p:txBody>
      </p:sp>
      <p:pic>
        <p:nvPicPr>
          <p:cNvPr id="947" name="Google Shape;947;g20f4114666e_0_458"/>
          <p:cNvPicPr preferRelativeResize="0"/>
          <p:nvPr/>
        </p:nvPicPr>
        <p:blipFill rotWithShape="1">
          <a:blip r:embed="rId4">
            <a:alphaModFix/>
          </a:blip>
          <a:srcRect b="7820" l="4119" r="7486" t="5560"/>
          <a:stretch/>
        </p:blipFill>
        <p:spPr>
          <a:xfrm>
            <a:off x="6487675" y="1559675"/>
            <a:ext cx="4710300" cy="3969600"/>
          </a:xfrm>
          <a:prstGeom prst="roundRect">
            <a:avLst>
              <a:gd fmla="val 16667" name="adj"/>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1" name="Shape 951"/>
        <p:cNvGrpSpPr/>
        <p:nvPr/>
      </p:nvGrpSpPr>
      <p:grpSpPr>
        <a:xfrm>
          <a:off x="0" y="0"/>
          <a:ext cx="0" cy="0"/>
          <a:chOff x="0" y="0"/>
          <a:chExt cx="0" cy="0"/>
        </a:xfrm>
      </p:grpSpPr>
      <p:sp>
        <p:nvSpPr>
          <p:cNvPr id="952" name="Google Shape;952;g20f4114666e_0_52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g20f4114666e_0_52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4" name="Google Shape;954;g20f4114666e_0_5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55" name="Google Shape;955;g20f4114666e_0_52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56" name="Google Shape;956;g20f4114666e_0_52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g20f4114666e_0_52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58" name="Google Shape;958;g20f4114666e_0_52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20f4114666e_0_521"/>
          <p:cNvSpPr txBox="1"/>
          <p:nvPr/>
        </p:nvSpPr>
        <p:spPr>
          <a:xfrm>
            <a:off x="495550" y="3054075"/>
            <a:ext cx="3436800" cy="1416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Es un tipo de enunciado condicional que activa solo la condición de coincidencia de la entrada dada.</a:t>
            </a:r>
            <a:endParaRPr b="0" i="0" sz="2000" u="none" cap="none" strike="noStrike">
              <a:solidFill>
                <a:srgbClr val="000000"/>
              </a:solidFill>
              <a:latin typeface="Trebuchet MS"/>
              <a:ea typeface="Trebuchet MS"/>
              <a:cs typeface="Trebuchet MS"/>
              <a:sym typeface="Trebuchet MS"/>
            </a:endParaRPr>
          </a:p>
        </p:txBody>
      </p:sp>
      <p:sp>
        <p:nvSpPr>
          <p:cNvPr id="960" name="Google Shape;960;g20f4114666e_0_52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g20f4114666e_0_52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Switch Case</a:t>
            </a:r>
            <a:endParaRPr b="1" i="0" sz="2000" u="none" cap="none" strike="noStrike">
              <a:solidFill>
                <a:srgbClr val="003870"/>
              </a:solidFill>
              <a:latin typeface="Trebuchet MS"/>
              <a:ea typeface="Trebuchet MS"/>
              <a:cs typeface="Trebuchet MS"/>
              <a:sym typeface="Trebuchet MS"/>
            </a:endParaRPr>
          </a:p>
        </p:txBody>
      </p:sp>
      <p:pic>
        <p:nvPicPr>
          <p:cNvPr id="962" name="Google Shape;962;g20f4114666e_0_521"/>
          <p:cNvPicPr preferRelativeResize="0"/>
          <p:nvPr/>
        </p:nvPicPr>
        <p:blipFill rotWithShape="1">
          <a:blip r:embed="rId4">
            <a:alphaModFix/>
          </a:blip>
          <a:srcRect b="0" l="0" r="0" t="0"/>
          <a:stretch/>
        </p:blipFill>
        <p:spPr>
          <a:xfrm>
            <a:off x="4184700" y="969700"/>
            <a:ext cx="7736346" cy="5447177"/>
          </a:xfrm>
          <a:prstGeom prst="rect">
            <a:avLst/>
          </a:prstGeom>
          <a:noFill/>
          <a:ln>
            <a:noFill/>
          </a:ln>
        </p:spPr>
      </p:pic>
      <p:pic>
        <p:nvPicPr>
          <p:cNvPr id="963" name="Google Shape;963;g20f4114666e_0_521"/>
          <p:cNvPicPr preferRelativeResize="0"/>
          <p:nvPr/>
        </p:nvPicPr>
        <p:blipFill rotWithShape="1">
          <a:blip r:embed="rId5">
            <a:alphaModFix/>
          </a:blip>
          <a:srcRect b="0" l="0" r="0" t="0"/>
          <a:stretch/>
        </p:blipFill>
        <p:spPr>
          <a:xfrm>
            <a:off x="10929800" y="969700"/>
            <a:ext cx="859150" cy="8591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7" name="Shape 967"/>
        <p:cNvGrpSpPr/>
        <p:nvPr/>
      </p:nvGrpSpPr>
      <p:grpSpPr>
        <a:xfrm>
          <a:off x="0" y="0"/>
          <a:ext cx="0" cy="0"/>
          <a:chOff x="0" y="0"/>
          <a:chExt cx="0" cy="0"/>
        </a:xfrm>
      </p:grpSpPr>
      <p:sp>
        <p:nvSpPr>
          <p:cNvPr id="968" name="Google Shape;968;g1dd6d73f377_2_48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9" name="Google Shape;969;g1dd6d73f377_2_48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g1dd6d73f377_2_48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1" name="Google Shape;971;g1dd6d73f377_2_48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72" name="Google Shape;972;g1dd6d73f377_2_48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1dd6d73f377_2_48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74" name="Google Shape;974;g1dd6d73f377_2_48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g1dd6d73f377_2_487"/>
          <p:cNvSpPr txBox="1"/>
          <p:nvPr/>
        </p:nvSpPr>
        <p:spPr>
          <a:xfrm>
            <a:off x="651700" y="1762525"/>
            <a:ext cx="4340100" cy="646500"/>
          </a:xfrm>
          <a:prstGeom prst="rect">
            <a:avLst/>
          </a:prstGeom>
          <a:noFill/>
          <a:ln>
            <a:noFill/>
          </a:ln>
        </p:spPr>
        <p:txBody>
          <a:bodyPr anchorCtr="0" anchor="t" bIns="91425" lIns="91425" spcFirstLastPara="1" rIns="91425" wrap="square" tIns="91425">
            <a:spAutoFit/>
          </a:bodyPr>
          <a:lstStyle/>
          <a:p>
            <a:pPr indent="0" lvl="0" marL="0" marR="330200" rtl="0" algn="l">
              <a:lnSpc>
                <a:spcPct val="144230"/>
              </a:lnSpc>
              <a:spcBef>
                <a:spcPts val="700"/>
              </a:spcBef>
              <a:spcAft>
                <a:spcPts val="700"/>
              </a:spcAft>
              <a:buClr>
                <a:srgbClr val="000000"/>
              </a:buClr>
              <a:buSzPts val="3000"/>
              <a:buFont typeface="Arial"/>
              <a:buNone/>
            </a:pPr>
            <a:r>
              <a:rPr b="0" i="0" lang="en-US" sz="3000" u="none" cap="none" strike="noStrike">
                <a:solidFill>
                  <a:srgbClr val="00AEAA"/>
                </a:solidFill>
                <a:latin typeface="Trebuchet MS"/>
                <a:ea typeface="Trebuchet MS"/>
                <a:cs typeface="Trebuchet MS"/>
                <a:sym typeface="Trebuchet MS"/>
              </a:rPr>
              <a:t>Palabras Reservadas</a:t>
            </a:r>
            <a:endParaRPr b="0" i="0" sz="3000" u="none" cap="none" strike="noStrike">
              <a:solidFill>
                <a:srgbClr val="00AEAA"/>
              </a:solidFill>
              <a:latin typeface="Trebuchet MS"/>
              <a:ea typeface="Trebuchet MS"/>
              <a:cs typeface="Trebuchet MS"/>
              <a:sym typeface="Trebuchet MS"/>
            </a:endParaRPr>
          </a:p>
        </p:txBody>
      </p:sp>
      <p:sp>
        <p:nvSpPr>
          <p:cNvPr id="976" name="Google Shape;976;g1dd6d73f377_2_48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7" name="Google Shape;977;g1dd6d73f377_2_48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Switch Case</a:t>
            </a:r>
            <a:endParaRPr b="1" i="0" sz="2000" u="none" cap="none" strike="noStrike">
              <a:solidFill>
                <a:srgbClr val="003870"/>
              </a:solidFill>
              <a:latin typeface="Trebuchet MS"/>
              <a:ea typeface="Trebuchet MS"/>
              <a:cs typeface="Trebuchet MS"/>
              <a:sym typeface="Trebuchet MS"/>
            </a:endParaRPr>
          </a:p>
        </p:txBody>
      </p:sp>
      <p:sp>
        <p:nvSpPr>
          <p:cNvPr id="978" name="Google Shape;978;g1dd6d73f377_2_487"/>
          <p:cNvSpPr txBox="1"/>
          <p:nvPr/>
        </p:nvSpPr>
        <p:spPr>
          <a:xfrm>
            <a:off x="573875" y="3119950"/>
            <a:ext cx="4999200" cy="1994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700"/>
              </a:spcAft>
              <a:buClr>
                <a:srgbClr val="000000"/>
              </a:buClr>
              <a:buSzPts val="2100"/>
              <a:buFont typeface="Arial"/>
              <a:buNone/>
            </a:pPr>
            <a:r>
              <a:rPr b="0" i="0" lang="en-US" sz="2100" u="none" cap="none" strike="noStrike">
                <a:solidFill>
                  <a:schemeClr val="dk1"/>
                </a:solidFill>
                <a:latin typeface="Trebuchet MS"/>
                <a:ea typeface="Trebuchet MS"/>
                <a:cs typeface="Trebuchet MS"/>
                <a:sym typeface="Trebuchet MS"/>
              </a:rPr>
              <a:t>Las selecciones (de los casos) se especifican con las palabras reservadas </a:t>
            </a:r>
            <a:r>
              <a:rPr b="1" i="0" lang="en-US" sz="2100" u="none" cap="none" strike="noStrike">
                <a:solidFill>
                  <a:srgbClr val="0000CD"/>
                </a:solidFill>
                <a:latin typeface="Courier New"/>
                <a:ea typeface="Courier New"/>
                <a:cs typeface="Courier New"/>
                <a:sym typeface="Courier New"/>
              </a:rPr>
              <a:t>switch</a:t>
            </a:r>
            <a:r>
              <a:rPr b="1" i="0" lang="en-US" sz="2100" u="none" cap="none" strike="noStrike">
                <a:solidFill>
                  <a:srgbClr val="0000CD"/>
                </a:solidFill>
                <a:latin typeface="Trebuchet MS"/>
                <a:ea typeface="Trebuchet MS"/>
                <a:cs typeface="Trebuchet MS"/>
                <a:sym typeface="Trebuchet MS"/>
              </a:rPr>
              <a:t> </a:t>
            </a:r>
            <a:r>
              <a:rPr b="0" i="0" lang="en-US" sz="2100" u="none" cap="none" strike="noStrike">
                <a:solidFill>
                  <a:schemeClr val="dk1"/>
                </a:solidFill>
                <a:latin typeface="Trebuchet MS"/>
                <a:ea typeface="Trebuchet MS"/>
                <a:cs typeface="Trebuchet MS"/>
                <a:sym typeface="Trebuchet MS"/>
              </a:rPr>
              <a:t>(cambiar), </a:t>
            </a:r>
            <a:r>
              <a:rPr b="1" i="0" lang="en-US" sz="2100" u="none" cap="none" strike="noStrike">
                <a:solidFill>
                  <a:srgbClr val="0000CD"/>
                </a:solidFill>
                <a:latin typeface="Courier New"/>
                <a:ea typeface="Courier New"/>
                <a:cs typeface="Courier New"/>
                <a:sym typeface="Courier New"/>
              </a:rPr>
              <a:t>case </a:t>
            </a:r>
            <a:r>
              <a:rPr b="0" i="0" lang="en-US" sz="2100" u="none" cap="none" strike="noStrike">
                <a:solidFill>
                  <a:schemeClr val="dk1"/>
                </a:solidFill>
                <a:latin typeface="Trebuchet MS"/>
                <a:ea typeface="Trebuchet MS"/>
                <a:cs typeface="Trebuchet MS"/>
                <a:sym typeface="Trebuchet MS"/>
              </a:rPr>
              <a:t>(caso), </a:t>
            </a:r>
            <a:r>
              <a:rPr b="1" i="0" lang="en-US" sz="2100" u="none" cap="none" strike="noStrike">
                <a:solidFill>
                  <a:srgbClr val="0000CD"/>
                </a:solidFill>
                <a:latin typeface="Courier New"/>
                <a:ea typeface="Courier New"/>
                <a:cs typeface="Courier New"/>
                <a:sym typeface="Courier New"/>
              </a:rPr>
              <a:t>default </a:t>
            </a:r>
            <a:r>
              <a:rPr b="0" i="0" lang="en-US" sz="2100" u="none" cap="none" strike="noStrike">
                <a:solidFill>
                  <a:schemeClr val="dk1"/>
                </a:solidFill>
                <a:latin typeface="Trebuchet MS"/>
                <a:ea typeface="Trebuchet MS"/>
                <a:cs typeface="Trebuchet MS"/>
                <a:sym typeface="Trebuchet MS"/>
              </a:rPr>
              <a:t>(por defecto) y </a:t>
            </a:r>
            <a:r>
              <a:rPr b="1" i="0" lang="en-US" sz="2100" u="none" cap="none" strike="noStrike">
                <a:solidFill>
                  <a:srgbClr val="0000CD"/>
                </a:solidFill>
                <a:latin typeface="Courier New"/>
                <a:ea typeface="Courier New"/>
                <a:cs typeface="Courier New"/>
                <a:sym typeface="Courier New"/>
              </a:rPr>
              <a:t>break </a:t>
            </a:r>
            <a:r>
              <a:rPr b="0" i="0" lang="en-US" sz="2100" u="none" cap="none" strike="noStrike">
                <a:solidFill>
                  <a:schemeClr val="dk1"/>
                </a:solidFill>
                <a:latin typeface="Trebuchet MS"/>
                <a:ea typeface="Trebuchet MS"/>
                <a:cs typeface="Trebuchet MS"/>
                <a:sym typeface="Trebuchet MS"/>
              </a:rPr>
              <a:t>(detenerse).</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2" name="Shape 982"/>
        <p:cNvGrpSpPr/>
        <p:nvPr/>
      </p:nvGrpSpPr>
      <p:grpSpPr>
        <a:xfrm>
          <a:off x="0" y="0"/>
          <a:ext cx="0" cy="0"/>
          <a:chOff x="0" y="0"/>
          <a:chExt cx="0" cy="0"/>
        </a:xfrm>
      </p:grpSpPr>
      <p:sp>
        <p:nvSpPr>
          <p:cNvPr id="983" name="Google Shape;983;g1dd767738ca_0_2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g1dd767738ca_0_2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g1dd767738ca_0_2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86" name="Google Shape;986;g1dd767738ca_0_2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87" name="Google Shape;987;g1dd767738ca_0_2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g1dd767738ca_0_2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89" name="Google Shape;989;g1dd767738ca_0_2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1dd767738ca_0_25"/>
          <p:cNvSpPr txBox="1"/>
          <p:nvPr/>
        </p:nvSpPr>
        <p:spPr>
          <a:xfrm>
            <a:off x="651700" y="1762525"/>
            <a:ext cx="4340100" cy="646500"/>
          </a:xfrm>
          <a:prstGeom prst="rect">
            <a:avLst/>
          </a:prstGeom>
          <a:noFill/>
          <a:ln>
            <a:noFill/>
          </a:ln>
        </p:spPr>
        <p:txBody>
          <a:bodyPr anchorCtr="0" anchor="t" bIns="91425" lIns="91425" spcFirstLastPara="1" rIns="91425" wrap="square" tIns="91425">
            <a:spAutoFit/>
          </a:bodyPr>
          <a:lstStyle/>
          <a:p>
            <a:pPr indent="0" lvl="0" marL="0" marR="330200" rtl="0" algn="l">
              <a:lnSpc>
                <a:spcPct val="144230"/>
              </a:lnSpc>
              <a:spcBef>
                <a:spcPts val="700"/>
              </a:spcBef>
              <a:spcAft>
                <a:spcPts val="700"/>
              </a:spcAft>
              <a:buClr>
                <a:srgbClr val="000000"/>
              </a:buClr>
              <a:buSzPts val="3000"/>
              <a:buFont typeface="Arial"/>
              <a:buNone/>
            </a:pPr>
            <a:r>
              <a:rPr b="0" i="0" lang="en-US" sz="3000" u="none" cap="none" strike="noStrike">
                <a:solidFill>
                  <a:srgbClr val="00AEAA"/>
                </a:solidFill>
                <a:latin typeface="Trebuchet MS"/>
                <a:ea typeface="Trebuchet MS"/>
                <a:cs typeface="Trebuchet MS"/>
                <a:sym typeface="Trebuchet MS"/>
              </a:rPr>
              <a:t>Palabras Reservadas</a:t>
            </a:r>
            <a:endParaRPr b="0" i="0" sz="3000" u="none" cap="none" strike="noStrike">
              <a:solidFill>
                <a:srgbClr val="00AEAA"/>
              </a:solidFill>
              <a:latin typeface="Trebuchet MS"/>
              <a:ea typeface="Trebuchet MS"/>
              <a:cs typeface="Trebuchet MS"/>
              <a:sym typeface="Trebuchet MS"/>
            </a:endParaRPr>
          </a:p>
        </p:txBody>
      </p:sp>
      <p:sp>
        <p:nvSpPr>
          <p:cNvPr id="991" name="Google Shape;991;g1dd767738ca_0_2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g1dd767738ca_0_2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Switch Case</a:t>
            </a:r>
            <a:endParaRPr b="1" i="0" sz="2000" u="none" cap="none" strike="noStrike">
              <a:solidFill>
                <a:srgbClr val="003870"/>
              </a:solidFill>
              <a:latin typeface="Trebuchet MS"/>
              <a:ea typeface="Trebuchet MS"/>
              <a:cs typeface="Trebuchet MS"/>
              <a:sym typeface="Trebuchet MS"/>
            </a:endParaRPr>
          </a:p>
        </p:txBody>
      </p:sp>
      <p:sp>
        <p:nvSpPr>
          <p:cNvPr id="993" name="Google Shape;993;g1dd767738ca_0_25"/>
          <p:cNvSpPr txBox="1"/>
          <p:nvPr/>
        </p:nvSpPr>
        <p:spPr>
          <a:xfrm>
            <a:off x="573875" y="3119950"/>
            <a:ext cx="4999200" cy="1994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700"/>
              </a:spcAft>
              <a:buClr>
                <a:srgbClr val="000000"/>
              </a:buClr>
              <a:buSzPts val="2100"/>
              <a:buFont typeface="Arial"/>
              <a:buNone/>
            </a:pPr>
            <a:r>
              <a:rPr b="0" i="0" lang="en-US" sz="2100" u="none" cap="none" strike="noStrike">
                <a:solidFill>
                  <a:schemeClr val="dk1"/>
                </a:solidFill>
                <a:latin typeface="Trebuchet MS"/>
                <a:ea typeface="Trebuchet MS"/>
                <a:cs typeface="Trebuchet MS"/>
                <a:sym typeface="Trebuchet MS"/>
              </a:rPr>
              <a:t>Las selecciones (de los casos) se especifican con las palabras reservadas </a:t>
            </a:r>
            <a:r>
              <a:rPr b="1" i="0" lang="en-US" sz="2100" u="none" cap="none" strike="noStrike">
                <a:solidFill>
                  <a:srgbClr val="0000CD"/>
                </a:solidFill>
                <a:latin typeface="Courier New"/>
                <a:ea typeface="Courier New"/>
                <a:cs typeface="Courier New"/>
                <a:sym typeface="Courier New"/>
              </a:rPr>
              <a:t>switch</a:t>
            </a:r>
            <a:r>
              <a:rPr b="1" i="0" lang="en-US" sz="2100" u="none" cap="none" strike="noStrike">
                <a:solidFill>
                  <a:srgbClr val="0000CD"/>
                </a:solidFill>
                <a:latin typeface="Trebuchet MS"/>
                <a:ea typeface="Trebuchet MS"/>
                <a:cs typeface="Trebuchet MS"/>
                <a:sym typeface="Trebuchet MS"/>
              </a:rPr>
              <a:t> </a:t>
            </a:r>
            <a:r>
              <a:rPr b="0" i="0" lang="en-US" sz="2100" u="none" cap="none" strike="noStrike">
                <a:solidFill>
                  <a:schemeClr val="dk1"/>
                </a:solidFill>
                <a:latin typeface="Trebuchet MS"/>
                <a:ea typeface="Trebuchet MS"/>
                <a:cs typeface="Trebuchet MS"/>
                <a:sym typeface="Trebuchet MS"/>
              </a:rPr>
              <a:t>(cambiar), </a:t>
            </a:r>
            <a:r>
              <a:rPr b="1" i="0" lang="en-US" sz="2100" u="none" cap="none" strike="noStrike">
                <a:solidFill>
                  <a:srgbClr val="0000CD"/>
                </a:solidFill>
                <a:latin typeface="Courier New"/>
                <a:ea typeface="Courier New"/>
                <a:cs typeface="Courier New"/>
                <a:sym typeface="Courier New"/>
              </a:rPr>
              <a:t>case </a:t>
            </a:r>
            <a:r>
              <a:rPr b="0" i="0" lang="en-US" sz="2100" u="none" cap="none" strike="noStrike">
                <a:solidFill>
                  <a:schemeClr val="dk1"/>
                </a:solidFill>
                <a:latin typeface="Trebuchet MS"/>
                <a:ea typeface="Trebuchet MS"/>
                <a:cs typeface="Trebuchet MS"/>
                <a:sym typeface="Trebuchet MS"/>
              </a:rPr>
              <a:t>(caso), </a:t>
            </a:r>
            <a:r>
              <a:rPr b="1" i="0" lang="en-US" sz="2100" u="none" cap="none" strike="noStrike">
                <a:solidFill>
                  <a:srgbClr val="0000CD"/>
                </a:solidFill>
                <a:latin typeface="Courier New"/>
                <a:ea typeface="Courier New"/>
                <a:cs typeface="Courier New"/>
                <a:sym typeface="Courier New"/>
              </a:rPr>
              <a:t>default </a:t>
            </a:r>
            <a:r>
              <a:rPr b="0" i="0" lang="en-US" sz="2100" u="none" cap="none" strike="noStrike">
                <a:solidFill>
                  <a:schemeClr val="dk1"/>
                </a:solidFill>
                <a:latin typeface="Trebuchet MS"/>
                <a:ea typeface="Trebuchet MS"/>
                <a:cs typeface="Trebuchet MS"/>
                <a:sym typeface="Trebuchet MS"/>
              </a:rPr>
              <a:t>(por defecto) y </a:t>
            </a:r>
            <a:r>
              <a:rPr b="1" i="0" lang="en-US" sz="2100" u="none" cap="none" strike="noStrike">
                <a:solidFill>
                  <a:srgbClr val="0000CD"/>
                </a:solidFill>
                <a:latin typeface="Courier New"/>
                <a:ea typeface="Courier New"/>
                <a:cs typeface="Courier New"/>
                <a:sym typeface="Courier New"/>
              </a:rPr>
              <a:t>break </a:t>
            </a:r>
            <a:r>
              <a:rPr b="0" i="0" lang="en-US" sz="2100" u="none" cap="none" strike="noStrike">
                <a:solidFill>
                  <a:schemeClr val="dk1"/>
                </a:solidFill>
                <a:latin typeface="Trebuchet MS"/>
                <a:ea typeface="Trebuchet MS"/>
                <a:cs typeface="Trebuchet MS"/>
                <a:sym typeface="Trebuchet MS"/>
              </a:rPr>
              <a:t>(detenerse).</a:t>
            </a:r>
            <a:endParaRPr b="0" i="0" sz="2100" u="none" cap="none" strike="noStrike">
              <a:solidFill>
                <a:schemeClr val="dk1"/>
              </a:solidFill>
              <a:latin typeface="Trebuchet MS"/>
              <a:ea typeface="Trebuchet MS"/>
              <a:cs typeface="Trebuchet MS"/>
              <a:sym typeface="Trebuchet MS"/>
            </a:endParaRPr>
          </a:p>
        </p:txBody>
      </p:sp>
      <p:sp>
        <p:nvSpPr>
          <p:cNvPr id="994" name="Google Shape;994;g1dd767738ca_0_25"/>
          <p:cNvSpPr txBox="1"/>
          <p:nvPr/>
        </p:nvSpPr>
        <p:spPr>
          <a:xfrm>
            <a:off x="6236000" y="1316800"/>
            <a:ext cx="5717400" cy="489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9D00"/>
                </a:solidFill>
                <a:latin typeface="Courier New"/>
                <a:ea typeface="Courier New"/>
                <a:cs typeface="Courier New"/>
                <a:sym typeface="Courier New"/>
              </a:rPr>
              <a:t>switch</a:t>
            </a: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chemeClr val="dk1"/>
                </a:solidFill>
                <a:latin typeface="Courier New"/>
                <a:ea typeface="Courier New"/>
                <a:cs typeface="Courier New"/>
                <a:sym typeface="Courier New"/>
              </a:rPr>
              <a:t>(</a:t>
            </a:r>
            <a:r>
              <a:rPr b="1" i="0" lang="en-US" sz="2000" u="none" cap="none" strike="noStrike">
                <a:solidFill>
                  <a:schemeClr val="accent5"/>
                </a:solidFill>
                <a:latin typeface="Courier New"/>
                <a:ea typeface="Courier New"/>
                <a:cs typeface="Courier New"/>
                <a:sym typeface="Courier New"/>
              </a:rPr>
              <a:t>a</a:t>
            </a:r>
            <a:r>
              <a:rPr b="0" i="0" lang="en-US" sz="2000" u="none" cap="none" strike="noStrike">
                <a:solidFill>
                  <a:schemeClr val="dk1"/>
                </a:solidFill>
                <a:latin typeface="Courier New"/>
                <a:ea typeface="Courier New"/>
                <a:cs typeface="Courier New"/>
                <a:sym typeface="Courier New"/>
              </a:rPr>
              <a:t>) </a:t>
            </a:r>
            <a:r>
              <a:rPr b="1" i="0" lang="en-US" sz="2000" u="none" cap="none" strike="noStrike">
                <a:solidFill>
                  <a:schemeClr val="dk1"/>
                </a:solidFill>
                <a:latin typeface="Courier New"/>
                <a:ea typeface="Courier New"/>
                <a:cs typeface="Courier New"/>
                <a:sym typeface="Courier New"/>
              </a:rPr>
              <a:t>{</a:t>
            </a:r>
            <a:r>
              <a:rPr b="0" i="0" lang="en-US" sz="2000" u="none" cap="none" strike="noStrike">
                <a:solidFill>
                  <a:srgbClr val="9EFEFF"/>
                </a:solidFill>
                <a:latin typeface="Courier New"/>
                <a:ea typeface="Courier New"/>
                <a:cs typeface="Courier New"/>
                <a:sym typeface="Courier New"/>
              </a:rPr>
              <a:t> </a:t>
            </a:r>
            <a:endParaRPr b="0" i="0" sz="2000" u="none" cap="none" strike="noStrike">
              <a:solidFill>
                <a:srgbClr val="9EFEFF"/>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case</a:t>
            </a:r>
            <a:r>
              <a:rPr b="0" i="0" lang="en-US" sz="2000" u="none" cap="none" strike="noStrike">
                <a:solidFill>
                  <a:srgbClr val="9EFEFF"/>
                </a:solidFill>
                <a:latin typeface="Courier New"/>
                <a:ea typeface="Courier New"/>
                <a:cs typeface="Courier New"/>
                <a:sym typeface="Courier New"/>
              </a:rPr>
              <a:t> </a:t>
            </a:r>
            <a:r>
              <a:rPr b="1" i="0" lang="en-US" sz="2000" u="none" cap="none" strike="noStrike">
                <a:solidFill>
                  <a:schemeClr val="accent5"/>
                </a:solidFill>
                <a:latin typeface="Courier New"/>
                <a:ea typeface="Courier New"/>
                <a:cs typeface="Courier New"/>
                <a:sym typeface="Courier New"/>
              </a:rPr>
              <a:t>val1</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669900"/>
                </a:solidFill>
                <a:latin typeface="Courier New"/>
                <a:ea typeface="Courier New"/>
                <a:cs typeface="Courier New"/>
                <a:sym typeface="Courier New"/>
              </a:rPr>
              <a:t>// instrucciones si </a:t>
            </a:r>
            <a:r>
              <a:rPr b="1" i="0" lang="en-US" sz="2000" u="none" cap="none" strike="noStrike">
                <a:solidFill>
                  <a:schemeClr val="accent5"/>
                </a:solidFill>
                <a:latin typeface="Courier New"/>
                <a:ea typeface="Courier New"/>
                <a:cs typeface="Courier New"/>
                <a:sym typeface="Courier New"/>
              </a:rPr>
              <a:t>a</a:t>
            </a:r>
            <a:r>
              <a:rPr b="0" i="0" lang="en-US" sz="2000" u="none" cap="none" strike="noStrike">
                <a:solidFill>
                  <a:srgbClr val="669900"/>
                </a:solidFill>
                <a:latin typeface="Courier New"/>
                <a:ea typeface="Courier New"/>
                <a:cs typeface="Courier New"/>
                <a:sym typeface="Courier New"/>
              </a:rPr>
              <a:t> es </a:t>
            </a:r>
            <a:r>
              <a:rPr b="1" i="0" lang="en-US" sz="2000" u="none" cap="none" strike="noStrike">
                <a:solidFill>
                  <a:schemeClr val="accent5"/>
                </a:solidFill>
                <a:latin typeface="Courier New"/>
                <a:ea typeface="Courier New"/>
                <a:cs typeface="Courier New"/>
                <a:sym typeface="Courier New"/>
              </a:rPr>
              <a:t>val1</a:t>
            </a:r>
            <a:endParaRPr b="1" i="0" sz="2000" u="none" cap="none" strike="noStrike">
              <a:solidFill>
                <a:schemeClr val="accent5"/>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break</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case</a:t>
            </a:r>
            <a:r>
              <a:rPr b="0" i="0" lang="en-US" sz="2000" u="none" cap="none" strike="noStrike">
                <a:solidFill>
                  <a:srgbClr val="9EFEFF"/>
                </a:solidFill>
                <a:latin typeface="Courier New"/>
                <a:ea typeface="Courier New"/>
                <a:cs typeface="Courier New"/>
                <a:sym typeface="Courier New"/>
              </a:rPr>
              <a:t> </a:t>
            </a:r>
            <a:r>
              <a:rPr b="1" i="0" lang="en-US" sz="2000" u="none" cap="none" strike="noStrike">
                <a:solidFill>
                  <a:schemeClr val="accent5"/>
                </a:solidFill>
                <a:latin typeface="Courier New"/>
                <a:ea typeface="Courier New"/>
                <a:cs typeface="Courier New"/>
                <a:sym typeface="Courier New"/>
              </a:rPr>
              <a:t>val2</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669900"/>
                </a:solidFill>
                <a:latin typeface="Courier New"/>
                <a:ea typeface="Courier New"/>
                <a:cs typeface="Courier New"/>
                <a:sym typeface="Courier New"/>
              </a:rPr>
              <a:t> // instrucciones si </a:t>
            </a:r>
            <a:r>
              <a:rPr b="1" i="0" lang="en-US" sz="2000" u="none" cap="none" strike="noStrike">
                <a:solidFill>
                  <a:schemeClr val="accent5"/>
                </a:solidFill>
                <a:latin typeface="Courier New"/>
                <a:ea typeface="Courier New"/>
                <a:cs typeface="Courier New"/>
                <a:sym typeface="Courier New"/>
              </a:rPr>
              <a:t>a</a:t>
            </a:r>
            <a:r>
              <a:rPr b="0" i="0" lang="en-US" sz="2000" u="none" cap="none" strike="noStrike">
                <a:solidFill>
                  <a:srgbClr val="669900"/>
                </a:solidFill>
                <a:latin typeface="Courier New"/>
                <a:ea typeface="Courier New"/>
                <a:cs typeface="Courier New"/>
                <a:sym typeface="Courier New"/>
              </a:rPr>
              <a:t> es </a:t>
            </a:r>
            <a:r>
              <a:rPr b="1" i="0" lang="en-US" sz="2000" u="none" cap="none" strike="noStrike">
                <a:solidFill>
                  <a:schemeClr val="accent5"/>
                </a:solidFill>
                <a:latin typeface="Courier New"/>
                <a:ea typeface="Courier New"/>
                <a:cs typeface="Courier New"/>
                <a:sym typeface="Courier New"/>
              </a:rPr>
              <a:t>val2</a:t>
            </a:r>
            <a:endParaRPr b="0" i="0" sz="2000" u="none" cap="none" strike="noStrike">
              <a:solidFill>
                <a:srgbClr val="6699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break</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   … </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case</a:t>
            </a:r>
            <a:r>
              <a:rPr b="0" i="0" lang="en-US" sz="2000" u="none" cap="none" strike="noStrike">
                <a:solidFill>
                  <a:srgbClr val="64CBC9"/>
                </a:solidFill>
                <a:latin typeface="Courier New"/>
                <a:ea typeface="Courier New"/>
                <a:cs typeface="Courier New"/>
                <a:sym typeface="Courier New"/>
              </a:rPr>
              <a:t> </a:t>
            </a:r>
            <a:r>
              <a:rPr b="1" i="0" lang="en-US" sz="2000" u="none" cap="none" strike="noStrike">
                <a:solidFill>
                  <a:schemeClr val="accent5"/>
                </a:solidFill>
                <a:latin typeface="Courier New"/>
                <a:ea typeface="Courier New"/>
                <a:cs typeface="Courier New"/>
                <a:sym typeface="Courier New"/>
              </a:rPr>
              <a:t>valN</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669900"/>
                </a:solidFill>
                <a:latin typeface="Courier New"/>
                <a:ea typeface="Courier New"/>
                <a:cs typeface="Courier New"/>
                <a:sym typeface="Courier New"/>
              </a:rPr>
              <a:t> // instrucciones si </a:t>
            </a:r>
            <a:r>
              <a:rPr b="1" i="0" lang="en-US" sz="2000" u="none" cap="none" strike="noStrike">
                <a:solidFill>
                  <a:schemeClr val="accent5"/>
                </a:solidFill>
                <a:latin typeface="Courier New"/>
                <a:ea typeface="Courier New"/>
                <a:cs typeface="Courier New"/>
                <a:sym typeface="Courier New"/>
              </a:rPr>
              <a:t>a</a:t>
            </a:r>
            <a:r>
              <a:rPr b="0" i="0" lang="en-US" sz="2000" u="none" cap="none" strike="noStrike">
                <a:solidFill>
                  <a:srgbClr val="669900"/>
                </a:solidFill>
                <a:latin typeface="Courier New"/>
                <a:ea typeface="Courier New"/>
                <a:cs typeface="Courier New"/>
                <a:sym typeface="Courier New"/>
              </a:rPr>
              <a:t> es </a:t>
            </a:r>
            <a:r>
              <a:rPr b="1" i="0" lang="en-US" sz="2000" u="none" cap="none" strike="noStrike">
                <a:solidFill>
                  <a:schemeClr val="accent5"/>
                </a:solidFill>
                <a:latin typeface="Courier New"/>
                <a:ea typeface="Courier New"/>
                <a:cs typeface="Courier New"/>
                <a:sym typeface="Courier New"/>
              </a:rPr>
              <a:t>valN</a:t>
            </a:r>
            <a:endParaRPr b="0" i="0" sz="2000" u="none" cap="none" strike="noStrike">
              <a:solidFill>
                <a:srgbClr val="6699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break</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EFEFF"/>
                </a:solidFill>
                <a:latin typeface="Courier New"/>
                <a:ea typeface="Courier New"/>
                <a:cs typeface="Courier New"/>
                <a:sym typeface="Courier New"/>
              </a:rPr>
              <a:t>   </a:t>
            </a:r>
            <a:r>
              <a:rPr b="0" i="0" lang="en-US" sz="2000" u="none" cap="none" strike="noStrike">
                <a:solidFill>
                  <a:srgbClr val="FF9D00"/>
                </a:solidFill>
                <a:latin typeface="Courier New"/>
                <a:ea typeface="Courier New"/>
                <a:cs typeface="Courier New"/>
                <a:sym typeface="Courier New"/>
              </a:rPr>
              <a:t>default</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669900"/>
                </a:solidFill>
                <a:latin typeface="Courier New"/>
                <a:ea typeface="Courier New"/>
                <a:cs typeface="Courier New"/>
                <a:sym typeface="Courier New"/>
              </a:rPr>
              <a:t>     // instrucciones si </a:t>
            </a:r>
            <a:r>
              <a:rPr b="1" i="0" lang="en-US" sz="2000" u="none" cap="none" strike="noStrike">
                <a:solidFill>
                  <a:schemeClr val="accent5"/>
                </a:solidFill>
                <a:latin typeface="Courier New"/>
                <a:ea typeface="Courier New"/>
                <a:cs typeface="Courier New"/>
                <a:sym typeface="Courier New"/>
              </a:rPr>
              <a:t>a</a:t>
            </a:r>
            <a:r>
              <a:rPr b="0" i="0" lang="en-US" sz="2000" u="none" cap="none" strike="noStrike">
                <a:solidFill>
                  <a:srgbClr val="669900"/>
                </a:solidFill>
                <a:latin typeface="Courier New"/>
                <a:ea typeface="Courier New"/>
                <a:cs typeface="Courier New"/>
                <a:sym typeface="Courier New"/>
              </a:rPr>
              <a:t> no es                                              </a:t>
            </a:r>
            <a:endParaRPr b="1" i="0" sz="2000" u="none" cap="none" strike="noStrike">
              <a:solidFill>
                <a:schemeClr val="accent5"/>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accent5"/>
                </a:solidFill>
                <a:latin typeface="Courier New"/>
                <a:ea typeface="Courier New"/>
                <a:cs typeface="Courier New"/>
                <a:sym typeface="Courier New"/>
              </a:rPr>
              <a:t>	     val1,val2, …</a:t>
            </a:r>
            <a:endParaRPr b="1" i="0" sz="2000" u="none" cap="none" strike="noStrike">
              <a:solidFill>
                <a:schemeClr val="accent5"/>
              </a:solidFill>
              <a:latin typeface="Courier New"/>
              <a:ea typeface="Courier New"/>
              <a:cs typeface="Courier New"/>
              <a:sym typeface="Courier New"/>
            </a:endParaRPr>
          </a:p>
          <a:p>
            <a:pPr indent="0" lvl="0" marL="0" marR="330200" rtl="0" algn="l">
              <a:lnSpc>
                <a:spcPct val="144230"/>
              </a:lnSpc>
              <a:spcBef>
                <a:spcPts val="700"/>
              </a:spcBef>
              <a:spcAft>
                <a:spcPts val="70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
        <p:nvSpPr>
          <p:cNvPr id="995" name="Google Shape;995;g1dd767738ca_0_25"/>
          <p:cNvSpPr/>
          <p:nvPr/>
        </p:nvSpPr>
        <p:spPr>
          <a:xfrm>
            <a:off x="5672938" y="3666550"/>
            <a:ext cx="463200" cy="192600"/>
          </a:xfrm>
          <a:prstGeom prst="rightArrow">
            <a:avLst>
              <a:gd fmla="val 50000" name="adj1"/>
              <a:gd fmla="val 91965"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9" name="Shape 999"/>
        <p:cNvGrpSpPr/>
        <p:nvPr/>
      </p:nvGrpSpPr>
      <p:grpSpPr>
        <a:xfrm>
          <a:off x="0" y="0"/>
          <a:ext cx="0" cy="0"/>
          <a:chOff x="0" y="0"/>
          <a:chExt cx="0" cy="0"/>
        </a:xfrm>
      </p:grpSpPr>
      <p:sp>
        <p:nvSpPr>
          <p:cNvPr id="1000" name="Google Shape;1000;g20f4114666e_0_536"/>
          <p:cNvSpPr/>
          <p:nvPr/>
        </p:nvSpPr>
        <p:spPr>
          <a:xfrm>
            <a:off x="4820500" y="2321788"/>
            <a:ext cx="6643800" cy="2652000"/>
          </a:xfrm>
          <a:prstGeom prst="round1Rect">
            <a:avLst>
              <a:gd fmla="val 16667" name="adj"/>
            </a:avLst>
          </a:prstGeom>
          <a:solidFill>
            <a:srgbClr val="64C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g20f4114666e_0_5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2" name="Google Shape;1002;g20f4114666e_0_53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3" name="Google Shape;1003;g20f4114666e_0_5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04" name="Google Shape;1004;g20f4114666e_0_5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05" name="Google Shape;1005;g20f4114666e_0_5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g20f4114666e_0_5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07" name="Google Shape;1007;g20f4114666e_0_5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08" name="Google Shape;1008;g20f4114666e_0_536"/>
          <p:cNvPicPr preferRelativeResize="0"/>
          <p:nvPr/>
        </p:nvPicPr>
        <p:blipFill rotWithShape="1">
          <a:blip r:embed="rId4">
            <a:alphaModFix/>
          </a:blip>
          <a:srcRect b="0" l="0" r="0" t="0"/>
          <a:stretch/>
        </p:blipFill>
        <p:spPr>
          <a:xfrm>
            <a:off x="1019100" y="2295550"/>
            <a:ext cx="2825825" cy="2825825"/>
          </a:xfrm>
          <a:prstGeom prst="rect">
            <a:avLst/>
          </a:prstGeom>
          <a:noFill/>
          <a:ln>
            <a:noFill/>
          </a:ln>
        </p:spPr>
      </p:pic>
      <p:sp>
        <p:nvSpPr>
          <p:cNvPr id="1009" name="Google Shape;1009;g20f4114666e_0_536"/>
          <p:cNvSpPr txBox="1"/>
          <p:nvPr/>
        </p:nvSpPr>
        <p:spPr>
          <a:xfrm>
            <a:off x="5045200" y="2692500"/>
            <a:ext cx="61944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rebuchet MS"/>
                <a:ea typeface="Trebuchet MS"/>
                <a:cs typeface="Trebuchet MS"/>
                <a:sym typeface="Trebuchet MS"/>
              </a:rPr>
              <a:t>Python no cuenta con la estructura condicional </a:t>
            </a:r>
            <a:r>
              <a:rPr b="0" i="0" lang="en-US" sz="2400" u="none" cap="none" strike="noStrike">
                <a:solidFill>
                  <a:schemeClr val="dk1"/>
                </a:solidFill>
                <a:latin typeface="Courier New"/>
                <a:ea typeface="Courier New"/>
                <a:cs typeface="Courier New"/>
                <a:sym typeface="Courier New"/>
              </a:rPr>
              <a:t>Switch Case</a:t>
            </a:r>
            <a:r>
              <a:rPr b="0" i="0" lang="en-US" sz="2400" u="none" cap="none" strike="noStrike">
                <a:solidFill>
                  <a:schemeClr val="dk1"/>
                </a:solidFill>
                <a:latin typeface="Trebuchet MS"/>
                <a:ea typeface="Trebuchet MS"/>
                <a:cs typeface="Trebuchet MS"/>
                <a:sym typeface="Trebuchet MS"/>
              </a:rPr>
              <a:t>. Se puede usar </a:t>
            </a:r>
            <a:r>
              <a:rPr b="0" i="0" lang="en-US" sz="2400" u="none" cap="none" strike="noStrike">
                <a:solidFill>
                  <a:schemeClr val="dk1"/>
                </a:solidFill>
                <a:latin typeface="Courier New"/>
                <a:ea typeface="Courier New"/>
                <a:cs typeface="Courier New"/>
                <a:sym typeface="Courier New"/>
              </a:rPr>
              <a:t>elif </a:t>
            </a:r>
            <a:r>
              <a:rPr b="0" i="0" lang="en-US" sz="2400" u="none" cap="none" strike="noStrike">
                <a:solidFill>
                  <a:schemeClr val="dk1"/>
                </a:solidFill>
                <a:latin typeface="Trebuchet MS"/>
                <a:ea typeface="Trebuchet MS"/>
                <a:cs typeface="Trebuchet MS"/>
                <a:sym typeface="Trebuchet MS"/>
              </a:rPr>
              <a:t>o un diccionario (estructura de datos) que permiten un funcionamiento similar.</a:t>
            </a:r>
            <a:endParaRPr b="0" i="0" sz="2400" u="none" cap="none" strike="noStrike">
              <a:solidFill>
                <a:schemeClr val="dk1"/>
              </a:solidFill>
              <a:latin typeface="Trebuchet MS"/>
              <a:ea typeface="Trebuchet MS"/>
              <a:cs typeface="Trebuchet MS"/>
              <a:sym typeface="Trebuchet MS"/>
            </a:endParaRPr>
          </a:p>
        </p:txBody>
      </p:sp>
      <p:sp>
        <p:nvSpPr>
          <p:cNvPr id="1010" name="Google Shape;1010;g20f4114666e_0_5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1" name="Google Shape;1011;g20f4114666e_0_5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Switch Case</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15" name="Shape 1015"/>
        <p:cNvGrpSpPr/>
        <p:nvPr/>
      </p:nvGrpSpPr>
      <p:grpSpPr>
        <a:xfrm>
          <a:off x="0" y="0"/>
          <a:ext cx="0" cy="0"/>
          <a:chOff x="0" y="0"/>
          <a:chExt cx="0" cy="0"/>
        </a:xfrm>
      </p:grpSpPr>
      <p:sp>
        <p:nvSpPr>
          <p:cNvPr id="1016" name="Google Shape;1016;g1dd767738ca_0_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7" name="Google Shape;1017;g1dd767738ca_0_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8" name="Google Shape;1018;g1dd767738ca_0_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19" name="Google Shape;1019;g1dd767738ca_0_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20" name="Google Shape;1020;g1dd767738ca_0_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g1dd767738ca_0_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22" name="Google Shape;1022;g1dd767738ca_0_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1dd767738ca_0_2"/>
          <p:cNvSpPr txBox="1"/>
          <p:nvPr>
            <p:ph type="title"/>
          </p:nvPr>
        </p:nvSpPr>
        <p:spPr>
          <a:xfrm>
            <a:off x="1642350" y="2387050"/>
            <a:ext cx="89073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Ejemplos Estructura </a:t>
            </a:r>
            <a:endParaRPr sz="6000">
              <a:latin typeface="Trebuchet MS"/>
              <a:ea typeface="Trebuchet MS"/>
              <a:cs typeface="Trebuchet MS"/>
              <a:sym typeface="Trebuchet MS"/>
            </a:endParaRPr>
          </a:p>
          <a:p>
            <a:pPr indent="0" lvl="0" marL="0" rtl="0" algn="ctr">
              <a:lnSpc>
                <a:spcPct val="100000"/>
              </a:lnSpc>
              <a:spcBef>
                <a:spcPts val="0"/>
              </a:spcBef>
              <a:spcAft>
                <a:spcPts val="0"/>
              </a:spcAft>
              <a:buSzPts val="1400"/>
              <a:buNone/>
            </a:pPr>
            <a:r>
              <a:rPr lang="en-US" sz="6000">
                <a:latin typeface="Courier New"/>
                <a:ea typeface="Courier New"/>
                <a:cs typeface="Courier New"/>
                <a:sym typeface="Courier New"/>
              </a:rPr>
              <a:t>[switch case]</a:t>
            </a:r>
            <a:endParaRPr sz="6000">
              <a:latin typeface="Courier New"/>
              <a:ea typeface="Courier New"/>
              <a:cs typeface="Courier New"/>
              <a:sym typeface="Courier New"/>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7" name="Shape 1027"/>
        <p:cNvGrpSpPr/>
        <p:nvPr/>
      </p:nvGrpSpPr>
      <p:grpSpPr>
        <a:xfrm>
          <a:off x="0" y="0"/>
          <a:ext cx="0" cy="0"/>
          <a:chOff x="0" y="0"/>
          <a:chExt cx="0" cy="0"/>
        </a:xfrm>
      </p:grpSpPr>
      <p:sp>
        <p:nvSpPr>
          <p:cNvPr id="1028" name="Google Shape;1028;g1dd767738ca_0_4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9" name="Google Shape;1029;g1dd767738ca_0_4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0" name="Google Shape;1030;g1dd767738ca_0_4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31" name="Google Shape;1031;g1dd767738ca_0_4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32" name="Google Shape;1032;g1dd767738ca_0_4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1dd767738ca_0_4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34" name="Google Shape;1034;g1dd767738ca_0_4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1dd767738ca_0_42"/>
          <p:cNvSpPr txBox="1"/>
          <p:nvPr/>
        </p:nvSpPr>
        <p:spPr>
          <a:xfrm>
            <a:off x="834251" y="1725600"/>
            <a:ext cx="107193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7.</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En un cine le solicitan que realice un programa que dado un día de la semana le indique al usuario que película se estrena. Si el usuario ingresa un día no válido debe mostrar un mensaje indicando el error.</a:t>
            </a:r>
            <a:endParaRPr b="0" i="0" sz="2000" u="none" cap="none" strike="noStrike">
              <a:solidFill>
                <a:srgbClr val="000000"/>
              </a:solidFill>
              <a:latin typeface="Trebuchet MS"/>
              <a:ea typeface="Trebuchet MS"/>
              <a:cs typeface="Trebuchet MS"/>
              <a:sym typeface="Trebuchet MS"/>
            </a:endParaRPr>
          </a:p>
        </p:txBody>
      </p:sp>
      <p:sp>
        <p:nvSpPr>
          <p:cNvPr id="1036" name="Google Shape;1036;g1dd767738ca_0_4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7" name="Google Shape;1037;g1dd767738ca_0_4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1" name="Shape 1041"/>
        <p:cNvGrpSpPr/>
        <p:nvPr/>
      </p:nvGrpSpPr>
      <p:grpSpPr>
        <a:xfrm>
          <a:off x="0" y="0"/>
          <a:ext cx="0" cy="0"/>
          <a:chOff x="0" y="0"/>
          <a:chExt cx="0" cy="0"/>
        </a:xfrm>
      </p:grpSpPr>
      <p:sp>
        <p:nvSpPr>
          <p:cNvPr id="1042" name="Google Shape;1042;g1dd767738ca_0_9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3" name="Google Shape;1043;g1dd767738ca_0_9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4" name="Google Shape;1044;g1dd767738ca_0_9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45" name="Google Shape;1045;g1dd767738ca_0_9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46" name="Google Shape;1046;g1dd767738ca_0_9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g1dd767738ca_0_9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48" name="Google Shape;1048;g1dd767738ca_0_9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g1dd767738ca_0_92"/>
          <p:cNvSpPr txBox="1"/>
          <p:nvPr/>
        </p:nvSpPr>
        <p:spPr>
          <a:xfrm>
            <a:off x="389863" y="2207150"/>
            <a:ext cx="3447900" cy="3263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7.</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En un cine le solicitan que realice un programa que dado un día de la semana le indique al usuario que película se estrena. Si el usuario ingresa un día no válido debe mostrar un mensaje indicando el error.</a:t>
            </a:r>
            <a:endParaRPr b="0" i="0" sz="2000" u="none" cap="none" strike="noStrike">
              <a:solidFill>
                <a:srgbClr val="000000"/>
              </a:solidFill>
              <a:latin typeface="Trebuchet MS"/>
              <a:ea typeface="Trebuchet MS"/>
              <a:cs typeface="Trebuchet MS"/>
              <a:sym typeface="Trebuchet MS"/>
            </a:endParaRPr>
          </a:p>
        </p:txBody>
      </p:sp>
      <p:sp>
        <p:nvSpPr>
          <p:cNvPr id="1050" name="Google Shape;1050;g1dd767738ca_0_9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1" name="Google Shape;1051;g1dd767738ca_0_9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052" name="Google Shape;1052;g1dd767738ca_0_92"/>
          <p:cNvSpPr txBox="1"/>
          <p:nvPr/>
        </p:nvSpPr>
        <p:spPr>
          <a:xfrm>
            <a:off x="4045300" y="1591400"/>
            <a:ext cx="8131800" cy="4494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Scanner </a:t>
            </a:r>
            <a:r>
              <a:rPr b="1" i="0" lang="en-US" sz="2000" u="none" cap="none" strike="noStrike">
                <a:solidFill>
                  <a:srgbClr val="94DBFD"/>
                </a:solidFill>
                <a:latin typeface="Courier New"/>
                <a:ea typeface="Courier New"/>
                <a:cs typeface="Courier New"/>
                <a:sym typeface="Courier New"/>
              </a:rPr>
              <a:t>scanner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new </a:t>
            </a:r>
            <a:r>
              <a:rPr b="1" i="0" lang="en-US" sz="2000" u="none" cap="none" strike="noStrike">
                <a:solidFill>
                  <a:srgbClr val="DBDBAA"/>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rgbClr val="D4D4D4"/>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in</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"Ingrese un dia de la semana:"</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9C8B0"/>
                </a:solidFill>
                <a:latin typeface="Courier New"/>
                <a:ea typeface="Courier New"/>
                <a:cs typeface="Courier New"/>
                <a:sym typeface="Courier New"/>
              </a:rPr>
              <a:t>String </a:t>
            </a:r>
            <a:r>
              <a:rPr b="1" i="0" lang="en-US" sz="2000" u="none" cap="none" strike="noStrike">
                <a:solidFill>
                  <a:srgbClr val="94DBFD"/>
                </a:solidFill>
                <a:latin typeface="Courier New"/>
                <a:ea typeface="Courier New"/>
                <a:cs typeface="Courier New"/>
                <a:sym typeface="Courier New"/>
              </a:rPr>
              <a:t>dia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94DBFD"/>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nextLine</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499CD5"/>
                </a:solidFill>
                <a:latin typeface="Courier New"/>
                <a:ea typeface="Courier New"/>
                <a:cs typeface="Courier New"/>
                <a:sym typeface="Courier New"/>
              </a:rPr>
              <a:t>switch </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94DBFD"/>
                </a:solidFill>
                <a:latin typeface="Courier New"/>
                <a:ea typeface="Courier New"/>
                <a:cs typeface="Courier New"/>
                <a:sym typeface="Courier New"/>
              </a:rPr>
              <a:t>dia</a:t>
            </a:r>
            <a:r>
              <a:rPr b="1" i="0" lang="en-US" sz="2000" u="none" cap="none" strike="noStrike">
                <a:solidFill>
                  <a:schemeClr val="dk1"/>
                </a:solidFill>
                <a:latin typeface="Courier New"/>
                <a:ea typeface="Courier New"/>
                <a:cs typeface="Courier New"/>
                <a:sym typeface="Courier New"/>
              </a:rPr>
              <a:t>) {</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"Lunes"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The Menu"</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"Martes"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Babylon"</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"Miercoles"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Avatar 2"</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6" name="Shape 1056"/>
        <p:cNvGrpSpPr/>
        <p:nvPr/>
      </p:nvGrpSpPr>
      <p:grpSpPr>
        <a:xfrm>
          <a:off x="0" y="0"/>
          <a:ext cx="0" cy="0"/>
          <a:chOff x="0" y="0"/>
          <a:chExt cx="0" cy="0"/>
        </a:xfrm>
      </p:grpSpPr>
      <p:sp>
        <p:nvSpPr>
          <p:cNvPr id="1057" name="Google Shape;1057;g1dd767738ca_0_6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8" name="Google Shape;1058;g1dd767738ca_0_6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9" name="Google Shape;1059;g1dd767738ca_0_6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60" name="Google Shape;1060;g1dd767738ca_0_6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61" name="Google Shape;1061;g1dd767738ca_0_6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g1dd767738ca_0_6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63" name="Google Shape;1063;g1dd767738ca_0_6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g1dd767738ca_0_63"/>
          <p:cNvSpPr txBox="1"/>
          <p:nvPr/>
        </p:nvSpPr>
        <p:spPr>
          <a:xfrm>
            <a:off x="666600" y="3267550"/>
            <a:ext cx="23469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7.</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222222"/>
                </a:solidFill>
                <a:latin typeface="Trebuchet MS"/>
                <a:ea typeface="Trebuchet MS"/>
                <a:cs typeface="Trebuchet MS"/>
                <a:sym typeface="Trebuchet MS"/>
              </a:rPr>
              <a:t>Continuación:</a:t>
            </a:r>
            <a:endParaRPr b="0" i="1" sz="2000" u="none" cap="none" strike="noStrike">
              <a:solidFill>
                <a:srgbClr val="000000"/>
              </a:solidFill>
              <a:latin typeface="Trebuchet MS"/>
              <a:ea typeface="Trebuchet MS"/>
              <a:cs typeface="Trebuchet MS"/>
              <a:sym typeface="Trebuchet MS"/>
            </a:endParaRPr>
          </a:p>
        </p:txBody>
      </p:sp>
      <p:sp>
        <p:nvSpPr>
          <p:cNvPr id="1065" name="Google Shape;1065;g1dd767738ca_0_6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g1dd767738ca_0_6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067" name="Google Shape;1067;g1dd767738ca_0_63"/>
          <p:cNvSpPr txBox="1"/>
          <p:nvPr/>
        </p:nvSpPr>
        <p:spPr>
          <a:xfrm>
            <a:off x="3429000" y="1420438"/>
            <a:ext cx="8131800" cy="4802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499CD5"/>
                </a:solidFill>
                <a:latin typeface="Courier New"/>
                <a:ea typeface="Courier New"/>
                <a:cs typeface="Courier New"/>
                <a:sym typeface="Courier New"/>
              </a:rPr>
              <a:t>   case </a:t>
            </a:r>
            <a:r>
              <a:rPr b="1" i="0" lang="en-US" sz="2000" u="none" cap="none" strike="noStrike">
                <a:solidFill>
                  <a:srgbClr val="CD9069"/>
                </a:solidFill>
                <a:latin typeface="Courier New"/>
                <a:ea typeface="Courier New"/>
                <a:cs typeface="Courier New"/>
                <a:sym typeface="Courier New"/>
              </a:rPr>
              <a:t>"Jueves"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The Whale"</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"Viernes"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John Wick 4"</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"Sabado"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Oppenheimer"</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case </a:t>
            </a:r>
            <a:r>
              <a:rPr b="1" i="0" lang="en-US" sz="2000" u="none" cap="none" strike="noStrike">
                <a:solidFill>
                  <a:srgbClr val="CD9069"/>
                </a:solidFill>
                <a:latin typeface="Courier New"/>
                <a:ea typeface="Courier New"/>
                <a:cs typeface="Courier New"/>
                <a:sym typeface="Courier New"/>
              </a:rPr>
              <a:t>"Domingo"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"Estreno: The Marvels"</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break</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499CD5"/>
                </a:solidFill>
                <a:latin typeface="Courier New"/>
                <a:ea typeface="Courier New"/>
                <a:cs typeface="Courier New"/>
                <a:sym typeface="Courier New"/>
              </a:rPr>
              <a:t>default</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4D4D4"/>
                </a:solidFill>
                <a:latin typeface="Courier New"/>
                <a:ea typeface="Courier New"/>
                <a:cs typeface="Courier New"/>
                <a:sym typeface="Courier New"/>
              </a:rPr>
              <a:t>       </a:t>
            </a:r>
            <a:r>
              <a:rPr b="1" i="0" lang="en-US" sz="2000" u="none" cap="none" strike="noStrike">
                <a:solidFill>
                  <a:srgbClr val="39C8B0"/>
                </a:solidFill>
                <a:latin typeface="Courier New"/>
                <a:ea typeface="Courier New"/>
                <a:cs typeface="Courier New"/>
                <a:sym typeface="Courier New"/>
              </a:rPr>
              <a:t>System</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FFC66D"/>
                </a:solidFill>
                <a:latin typeface="Courier New"/>
                <a:ea typeface="Courier New"/>
                <a:cs typeface="Courier New"/>
                <a:sym typeface="Courier New"/>
              </a:rPr>
              <a:t>out</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DBDBAA"/>
                </a:solidFill>
                <a:latin typeface="Courier New"/>
                <a:ea typeface="Courier New"/>
                <a:cs typeface="Courier New"/>
                <a:sym typeface="Courier New"/>
              </a:rPr>
              <a:t>println</a:t>
            </a:r>
            <a:r>
              <a:rPr b="1" i="0" lang="en-US" sz="2000" u="none" cap="none" strike="noStrike">
                <a:solidFill>
                  <a:schemeClr val="dk1"/>
                </a:solidFill>
                <a:latin typeface="Courier New"/>
                <a:ea typeface="Courier New"/>
                <a:cs typeface="Courier New"/>
                <a:sym typeface="Courier New"/>
              </a:rPr>
              <a:t>(</a:t>
            </a:r>
            <a:r>
              <a:rPr b="1" i="0" lang="en-US" sz="2000" u="none" cap="none" strike="noStrike">
                <a:solidFill>
                  <a:srgbClr val="CD9069"/>
                </a:solidFill>
                <a:latin typeface="Courier New"/>
                <a:ea typeface="Courier New"/>
                <a:cs typeface="Courier New"/>
                <a:sym typeface="Courier New"/>
              </a:rPr>
              <a:t>"Ingrese un dia valido"</a:t>
            </a:r>
            <a:r>
              <a:rPr b="1" i="0" lang="en-US" sz="2000" u="none" cap="none" strike="noStrike">
                <a:solidFill>
                  <a:schemeClr val="dk1"/>
                </a:solidFill>
                <a:latin typeface="Courier New"/>
                <a:ea typeface="Courier New"/>
                <a:cs typeface="Courier New"/>
                <a:sym typeface="Courier New"/>
              </a:rPr>
              <a:t>);</a:t>
            </a:r>
            <a:endParaRPr b="1" i="0" sz="20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1" name="Shape 1071"/>
        <p:cNvGrpSpPr/>
        <p:nvPr/>
      </p:nvGrpSpPr>
      <p:grpSpPr>
        <a:xfrm>
          <a:off x="0" y="0"/>
          <a:ext cx="0" cy="0"/>
          <a:chOff x="0" y="0"/>
          <a:chExt cx="0" cy="0"/>
        </a:xfrm>
      </p:grpSpPr>
      <p:sp>
        <p:nvSpPr>
          <p:cNvPr id="1072" name="Google Shape;1072;g1dd767738ca_0_7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3" name="Google Shape;1073;g1dd767738ca_0_7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4" name="Google Shape;1074;g1dd767738ca_0_7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75" name="Google Shape;1075;g1dd767738ca_0_7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76" name="Google Shape;1076;g1dd767738ca_0_7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g1dd767738ca_0_7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78" name="Google Shape;1078;g1dd767738ca_0_7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g1dd767738ca_0_78"/>
          <p:cNvSpPr txBox="1"/>
          <p:nvPr/>
        </p:nvSpPr>
        <p:spPr>
          <a:xfrm>
            <a:off x="741450" y="1599850"/>
            <a:ext cx="107091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8.</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Realice un programa que realice una operación aritmética con dos números enteros. El usuario ingresará el nombre de la operación y los dos números por teclado. Si la operación ingresada no se encuentra, debe mostrar un mensaje indicandolo.</a:t>
            </a:r>
            <a:endParaRPr b="0" i="0" sz="2000" u="none" cap="none" strike="noStrike">
              <a:solidFill>
                <a:srgbClr val="000000"/>
              </a:solidFill>
              <a:latin typeface="Trebuchet MS"/>
              <a:ea typeface="Trebuchet MS"/>
              <a:cs typeface="Trebuchet MS"/>
              <a:sym typeface="Trebuchet MS"/>
            </a:endParaRPr>
          </a:p>
        </p:txBody>
      </p:sp>
      <p:sp>
        <p:nvSpPr>
          <p:cNvPr id="1080" name="Google Shape;1080;g1dd767738ca_0_7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1" name="Google Shape;1081;g1dd767738ca_0_7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5" name="Shape 1085"/>
        <p:cNvGrpSpPr/>
        <p:nvPr/>
      </p:nvGrpSpPr>
      <p:grpSpPr>
        <a:xfrm>
          <a:off x="0" y="0"/>
          <a:ext cx="0" cy="0"/>
          <a:chOff x="0" y="0"/>
          <a:chExt cx="0" cy="0"/>
        </a:xfrm>
      </p:grpSpPr>
      <p:sp>
        <p:nvSpPr>
          <p:cNvPr id="1086" name="Google Shape;1086;g1dd767738ca_0_10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7" name="Google Shape;1087;g1dd767738ca_0_10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8" name="Google Shape;1088;g1dd767738ca_0_10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89" name="Google Shape;1089;g1dd767738ca_0_10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90" name="Google Shape;1090;g1dd767738ca_0_10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g1dd767738ca_0_10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92" name="Google Shape;1092;g1dd767738ca_0_10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g1dd767738ca_0_109"/>
          <p:cNvSpPr txBox="1"/>
          <p:nvPr/>
        </p:nvSpPr>
        <p:spPr>
          <a:xfrm>
            <a:off x="474450" y="1819875"/>
            <a:ext cx="3055800" cy="4186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8.</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Realice un programa que realice una operación aritmética con dos números enteros. El usuario ingresará el nombre de la operación y los dos números por teclado. Si la operación ingresada no se encuentra, debe mostrar un mensaje indicandolo.</a:t>
            </a:r>
            <a:endParaRPr b="0" i="0" sz="2000" u="none" cap="none" strike="noStrike">
              <a:solidFill>
                <a:srgbClr val="000000"/>
              </a:solidFill>
              <a:latin typeface="Trebuchet MS"/>
              <a:ea typeface="Trebuchet MS"/>
              <a:cs typeface="Trebuchet MS"/>
              <a:sym typeface="Trebuchet MS"/>
            </a:endParaRPr>
          </a:p>
        </p:txBody>
      </p:sp>
      <p:sp>
        <p:nvSpPr>
          <p:cNvPr id="1094" name="Google Shape;1094;g1dd767738ca_0_10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5" name="Google Shape;1095;g1dd767738ca_0_10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096" name="Google Shape;1096;g1dd767738ca_0_109"/>
          <p:cNvSpPr txBox="1"/>
          <p:nvPr/>
        </p:nvSpPr>
        <p:spPr>
          <a:xfrm>
            <a:off x="3882500" y="1972275"/>
            <a:ext cx="8191200" cy="3986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Scanner </a:t>
            </a:r>
            <a:r>
              <a:rPr b="1" i="0" lang="en-US" sz="1900" u="none" cap="none" strike="noStrike">
                <a:solidFill>
                  <a:srgbClr val="94DBFD"/>
                </a:solidFill>
                <a:latin typeface="Courier New"/>
                <a:ea typeface="Courier New"/>
                <a:cs typeface="Courier New"/>
                <a:sym typeface="Courier New"/>
              </a:rPr>
              <a:t>scanner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new </a:t>
            </a:r>
            <a:r>
              <a:rPr b="1" i="0" lang="en-US" sz="1900" u="none" cap="none" strike="noStrike">
                <a:solidFill>
                  <a:schemeClr val="dk1"/>
                </a:solidFill>
                <a:latin typeface="Courier New"/>
                <a:ea typeface="Courier New"/>
                <a:cs typeface="Courier New"/>
                <a:sym typeface="Courier New"/>
              </a:rPr>
              <a:t>Scanner(</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in</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el primer numero:"</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int </a:t>
            </a:r>
            <a:r>
              <a:rPr b="1" i="0" lang="en-US" sz="1900" u="none" cap="none" strike="noStrike">
                <a:solidFill>
                  <a:srgbClr val="94DBFD"/>
                </a:solidFill>
                <a:latin typeface="Courier New"/>
                <a:ea typeface="Courier New"/>
                <a:cs typeface="Courier New"/>
                <a:sym typeface="Courier New"/>
              </a:rPr>
              <a:t>num1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.nextInt();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el segundo numero:"</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int </a:t>
            </a:r>
            <a:r>
              <a:rPr b="1" i="0" lang="en-US" sz="1900" u="none" cap="none" strike="noStrike">
                <a:solidFill>
                  <a:srgbClr val="94DBFD"/>
                </a:solidFill>
                <a:latin typeface="Courier New"/>
                <a:ea typeface="Courier New"/>
                <a:cs typeface="Courier New"/>
                <a:sym typeface="Courier New"/>
              </a:rPr>
              <a:t>num2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.nextInt();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.nextLine();</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la operacion aritmetica:"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String </a:t>
            </a:r>
            <a:r>
              <a:rPr b="1" i="0" lang="en-US" sz="1900" u="none" cap="none" strike="noStrike">
                <a:solidFill>
                  <a:srgbClr val="94DBFD"/>
                </a:solidFill>
                <a:latin typeface="Courier New"/>
                <a:ea typeface="Courier New"/>
                <a:cs typeface="Courier New"/>
                <a:sym typeface="Courier New"/>
              </a:rPr>
              <a:t>operacion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.nextLine();</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double </a:t>
            </a:r>
            <a:r>
              <a:rPr b="1" i="0" lang="en-US" sz="1900" u="none" cap="none" strike="noStrike">
                <a:solidFill>
                  <a:srgbClr val="94DBFD"/>
                </a:solidFill>
                <a:latin typeface="Courier New"/>
                <a:ea typeface="Courier New"/>
                <a:cs typeface="Courier New"/>
                <a:sym typeface="Courier New"/>
              </a:rPr>
              <a:t>res</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0" name="Shape 1100"/>
        <p:cNvGrpSpPr/>
        <p:nvPr/>
      </p:nvGrpSpPr>
      <p:grpSpPr>
        <a:xfrm>
          <a:off x="0" y="0"/>
          <a:ext cx="0" cy="0"/>
          <a:chOff x="0" y="0"/>
          <a:chExt cx="0" cy="0"/>
        </a:xfrm>
      </p:grpSpPr>
      <p:sp>
        <p:nvSpPr>
          <p:cNvPr id="1101" name="Google Shape;1101;g1dd767738ca_0_16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2" name="Google Shape;1102;g1dd767738ca_0_16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3" name="Google Shape;1103;g1dd767738ca_0_16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04" name="Google Shape;1104;g1dd767738ca_0_16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05" name="Google Shape;1105;g1dd767738ca_0_16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1dd767738ca_0_16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07" name="Google Shape;1107;g1dd767738ca_0_16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1dd767738ca_0_169"/>
          <p:cNvSpPr txBox="1"/>
          <p:nvPr/>
        </p:nvSpPr>
        <p:spPr>
          <a:xfrm>
            <a:off x="474450" y="1819875"/>
            <a:ext cx="3055800" cy="4186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8.</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222222"/>
                </a:solidFill>
                <a:latin typeface="Trebuchet MS"/>
                <a:ea typeface="Trebuchet MS"/>
                <a:cs typeface="Trebuchet MS"/>
                <a:sym typeface="Trebuchet MS"/>
              </a:rPr>
              <a:t>Realice un programa que realice una operación aritmética con dos números enteros. El usuario ingresará el nombre de la operación y los dos números por teclado. Si la operación ingresada no se encuentra, debe mostrar un mensaje indicandolo.</a:t>
            </a:r>
            <a:endParaRPr b="0" i="0" sz="2000" u="none" cap="none" strike="noStrike">
              <a:solidFill>
                <a:srgbClr val="000000"/>
              </a:solidFill>
              <a:latin typeface="Trebuchet MS"/>
              <a:ea typeface="Trebuchet MS"/>
              <a:cs typeface="Trebuchet MS"/>
              <a:sym typeface="Trebuchet MS"/>
            </a:endParaRPr>
          </a:p>
        </p:txBody>
      </p:sp>
      <p:sp>
        <p:nvSpPr>
          <p:cNvPr id="1109" name="Google Shape;1109;g1dd767738ca_0_16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g1dd767738ca_0_16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111" name="Google Shape;1111;g1dd767738ca_0_169"/>
          <p:cNvSpPr txBox="1"/>
          <p:nvPr/>
        </p:nvSpPr>
        <p:spPr>
          <a:xfrm>
            <a:off x="3882500" y="1972275"/>
            <a:ext cx="8191200" cy="3986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Scanner </a:t>
            </a:r>
            <a:r>
              <a:rPr b="1" i="0" lang="en-US" sz="1900" u="none" cap="none" strike="noStrike">
                <a:solidFill>
                  <a:srgbClr val="94DBFD"/>
                </a:solidFill>
                <a:latin typeface="Courier New"/>
                <a:ea typeface="Courier New"/>
                <a:cs typeface="Courier New"/>
                <a:sym typeface="Courier New"/>
              </a:rPr>
              <a:t>scanner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499CD5"/>
                </a:solidFill>
                <a:latin typeface="Courier New"/>
                <a:ea typeface="Courier New"/>
                <a:cs typeface="Courier New"/>
                <a:sym typeface="Courier New"/>
              </a:rPr>
              <a:t>new </a:t>
            </a:r>
            <a:r>
              <a:rPr b="1" i="0" lang="en-US" sz="1900" u="none" cap="none" strike="noStrike">
                <a:solidFill>
                  <a:schemeClr val="dk1"/>
                </a:solidFill>
                <a:latin typeface="Courier New"/>
                <a:ea typeface="Courier New"/>
                <a:cs typeface="Courier New"/>
                <a:sym typeface="Courier New"/>
              </a:rPr>
              <a:t>Scanner(</a:t>
            </a: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in</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el primer numero:"</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int </a:t>
            </a:r>
            <a:r>
              <a:rPr b="1" i="0" lang="en-US" sz="1900" u="none" cap="none" strike="noStrike">
                <a:solidFill>
                  <a:srgbClr val="94DBFD"/>
                </a:solidFill>
                <a:latin typeface="Courier New"/>
                <a:ea typeface="Courier New"/>
                <a:cs typeface="Courier New"/>
                <a:sym typeface="Courier New"/>
              </a:rPr>
              <a:t>num1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.nextInt();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el segundo numero:"</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int </a:t>
            </a:r>
            <a:r>
              <a:rPr b="1" i="0" lang="en-US" sz="1900" u="none" cap="none" strike="noStrike">
                <a:solidFill>
                  <a:srgbClr val="94DBFD"/>
                </a:solidFill>
                <a:latin typeface="Courier New"/>
                <a:ea typeface="Courier New"/>
                <a:cs typeface="Courier New"/>
                <a:sym typeface="Courier New"/>
              </a:rPr>
              <a:t>num2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.nextInt();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.nextLine();</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System</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FFC66D"/>
                </a:solidFill>
                <a:latin typeface="Courier New"/>
                <a:ea typeface="Courier New"/>
                <a:cs typeface="Courier New"/>
                <a:sym typeface="Courier New"/>
              </a:rPr>
              <a:t>out</a:t>
            </a:r>
            <a:r>
              <a:rPr b="1" i="0" lang="en-US" sz="1900" u="none" cap="none" strike="noStrike">
                <a:solidFill>
                  <a:schemeClr val="dk1"/>
                </a:solidFill>
                <a:latin typeface="Courier New"/>
                <a:ea typeface="Courier New"/>
                <a:cs typeface="Courier New"/>
                <a:sym typeface="Courier New"/>
              </a:rPr>
              <a:t>.println(</a:t>
            </a:r>
            <a:r>
              <a:rPr b="1" i="0" lang="en-US" sz="1900" u="none" cap="none" strike="noStrike">
                <a:solidFill>
                  <a:srgbClr val="CD9069"/>
                </a:solidFill>
                <a:latin typeface="Courier New"/>
                <a:ea typeface="Courier New"/>
                <a:cs typeface="Courier New"/>
                <a:sym typeface="Courier New"/>
              </a:rPr>
              <a:t>"Ingrese la operacion aritmetica:"</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9C8B0"/>
                </a:solidFill>
                <a:latin typeface="Courier New"/>
                <a:ea typeface="Courier New"/>
                <a:cs typeface="Courier New"/>
                <a:sym typeface="Courier New"/>
              </a:rPr>
              <a:t>String </a:t>
            </a:r>
            <a:r>
              <a:rPr b="1" i="0" lang="en-US" sz="1900" u="none" cap="none" strike="noStrike">
                <a:solidFill>
                  <a:srgbClr val="94DBFD"/>
                </a:solidFill>
                <a:latin typeface="Courier New"/>
                <a:ea typeface="Courier New"/>
                <a:cs typeface="Courier New"/>
                <a:sym typeface="Courier New"/>
              </a:rPr>
              <a:t>operacion </a:t>
            </a:r>
            <a:r>
              <a:rPr b="1" i="0" lang="en-US" sz="1900" u="none" cap="none" strike="noStrike">
                <a:solidFill>
                  <a:schemeClr val="dk1"/>
                </a:solidFill>
                <a:latin typeface="Courier New"/>
                <a:ea typeface="Courier New"/>
                <a:cs typeface="Courier New"/>
                <a:sym typeface="Courier New"/>
              </a:rPr>
              <a:t>=</a:t>
            </a:r>
            <a:r>
              <a:rPr b="1" i="0" lang="en-US" sz="1900" u="none" cap="none" strike="noStrike">
                <a:solidFill>
                  <a:srgbClr val="D4D4D4"/>
                </a:solidFill>
                <a:latin typeface="Courier New"/>
                <a:ea typeface="Courier New"/>
                <a:cs typeface="Courier New"/>
                <a:sym typeface="Courier New"/>
              </a:rPr>
              <a:t> </a:t>
            </a:r>
            <a:r>
              <a:rPr b="1" i="0" lang="en-US" sz="1900" u="none" cap="none" strike="noStrike">
                <a:solidFill>
                  <a:srgbClr val="94DBFD"/>
                </a:solidFill>
                <a:latin typeface="Courier New"/>
                <a:ea typeface="Courier New"/>
                <a:cs typeface="Courier New"/>
                <a:sym typeface="Courier New"/>
              </a:rPr>
              <a:t>scanner</a:t>
            </a:r>
            <a:r>
              <a:rPr b="1" i="0" lang="en-US" sz="1900" u="none" cap="none" strike="noStrike">
                <a:solidFill>
                  <a:schemeClr val="dk1"/>
                </a:solidFill>
                <a:latin typeface="Courier New"/>
                <a:ea typeface="Courier New"/>
                <a:cs typeface="Courier New"/>
                <a:sym typeface="Courier New"/>
              </a:rPr>
              <a:t>.nextLine();</a:t>
            </a:r>
            <a:endParaRPr b="1"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D4D4D4"/>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499CD5"/>
                </a:solidFill>
                <a:latin typeface="Courier New"/>
                <a:ea typeface="Courier New"/>
                <a:cs typeface="Courier New"/>
                <a:sym typeface="Courier New"/>
              </a:rPr>
              <a:t>double </a:t>
            </a:r>
            <a:r>
              <a:rPr b="1" i="0" lang="en-US" sz="1900" u="none" cap="none" strike="noStrike">
                <a:solidFill>
                  <a:srgbClr val="94DBFD"/>
                </a:solidFill>
                <a:latin typeface="Courier New"/>
                <a:ea typeface="Courier New"/>
                <a:cs typeface="Courier New"/>
                <a:sym typeface="Courier New"/>
              </a:rPr>
              <a:t>res</a:t>
            </a:r>
            <a:r>
              <a:rPr b="1" i="0" lang="en-US" sz="1900" u="none" cap="none" strike="noStrike">
                <a:solidFill>
                  <a:schemeClr val="dk1"/>
                </a:solidFill>
                <a:latin typeface="Courier New"/>
                <a:ea typeface="Courier New"/>
                <a:cs typeface="Courier New"/>
                <a:sym typeface="Courier New"/>
              </a:rPr>
              <a:t>;</a:t>
            </a:r>
            <a:endParaRPr b="1" i="0" sz="1900" u="none" cap="none" strike="noStrike">
              <a:solidFill>
                <a:schemeClr val="dk1"/>
              </a:solidFill>
              <a:latin typeface="Courier New"/>
              <a:ea typeface="Courier New"/>
              <a:cs typeface="Courier New"/>
              <a:sym typeface="Courier New"/>
            </a:endParaRPr>
          </a:p>
        </p:txBody>
      </p:sp>
      <p:sp>
        <p:nvSpPr>
          <p:cNvPr id="1112" name="Google Shape;1112;g1dd767738ca_0_169"/>
          <p:cNvSpPr/>
          <p:nvPr/>
        </p:nvSpPr>
        <p:spPr>
          <a:xfrm>
            <a:off x="7998525" y="2633263"/>
            <a:ext cx="3986400" cy="157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Esta línea es necesaria ya que el objeto </a:t>
            </a:r>
            <a:r>
              <a:rPr b="0" i="0" lang="en-US" sz="1600" u="none" cap="none" strike="noStrike">
                <a:solidFill>
                  <a:srgbClr val="000000"/>
                </a:solidFill>
                <a:latin typeface="Courier New"/>
                <a:ea typeface="Courier New"/>
                <a:cs typeface="Courier New"/>
                <a:sym typeface="Courier New"/>
              </a:rPr>
              <a:t>Scanner </a:t>
            </a:r>
            <a:r>
              <a:rPr b="0" i="0" lang="en-US" sz="1600" u="none" cap="none" strike="noStrike">
                <a:solidFill>
                  <a:srgbClr val="000000"/>
                </a:solidFill>
                <a:latin typeface="Trebuchet MS"/>
                <a:ea typeface="Trebuchet MS"/>
                <a:cs typeface="Trebuchet MS"/>
                <a:sym typeface="Trebuchet MS"/>
              </a:rPr>
              <a:t>leerá el resto de las líneas donde lo dejó la lectura anterior, es decir, seguirá leyendo tipos </a:t>
            </a:r>
            <a:r>
              <a:rPr b="0" i="0" lang="en-US" sz="1600" u="none" cap="none" strike="noStrike">
                <a:solidFill>
                  <a:srgbClr val="000000"/>
                </a:solidFill>
                <a:latin typeface="Courier New"/>
                <a:ea typeface="Courier New"/>
                <a:cs typeface="Courier New"/>
                <a:sym typeface="Courier New"/>
              </a:rPr>
              <a:t>int</a:t>
            </a:r>
            <a:r>
              <a:rPr b="0" i="0" lang="en-US" sz="1600" u="none" cap="none" strike="noStrike">
                <a:solidFill>
                  <a:srgbClr val="000000"/>
                </a:solidFill>
                <a:latin typeface="Trebuchet MS"/>
                <a:ea typeface="Trebuchet MS"/>
                <a:cs typeface="Trebuchet MS"/>
                <a:sym typeface="Trebuchet MS"/>
              </a:rPr>
              <a:t>.</a:t>
            </a:r>
            <a:endParaRPr b="0" i="0" sz="1600" u="none" cap="none" strike="noStrike">
              <a:solidFill>
                <a:srgbClr val="000000"/>
              </a:solidFill>
              <a:latin typeface="Trebuchet MS"/>
              <a:ea typeface="Trebuchet MS"/>
              <a:cs typeface="Trebuchet MS"/>
              <a:sym typeface="Trebuchet MS"/>
            </a:endParaRPr>
          </a:p>
        </p:txBody>
      </p:sp>
      <p:sp>
        <p:nvSpPr>
          <p:cNvPr id="1113" name="Google Shape;1113;g1dd767738ca_0_169"/>
          <p:cNvSpPr/>
          <p:nvPr/>
        </p:nvSpPr>
        <p:spPr>
          <a:xfrm>
            <a:off x="3958700" y="4384375"/>
            <a:ext cx="2960700" cy="29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7" name="Shape 1117"/>
        <p:cNvGrpSpPr/>
        <p:nvPr/>
      </p:nvGrpSpPr>
      <p:grpSpPr>
        <a:xfrm>
          <a:off x="0" y="0"/>
          <a:ext cx="0" cy="0"/>
          <a:chOff x="0" y="0"/>
          <a:chExt cx="0" cy="0"/>
        </a:xfrm>
      </p:grpSpPr>
      <p:sp>
        <p:nvSpPr>
          <p:cNvPr id="1118" name="Google Shape;1118;g1dd767738ca_0_12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9" name="Google Shape;1119;g1dd767738ca_0_12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0" name="Google Shape;1120;g1dd767738ca_0_12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21" name="Google Shape;1121;g1dd767738ca_0_12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22" name="Google Shape;1122;g1dd767738ca_0_12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g1dd767738ca_0_12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24" name="Google Shape;1124;g1dd767738ca_0_12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g1dd767738ca_0_123"/>
          <p:cNvSpPr txBox="1"/>
          <p:nvPr/>
        </p:nvSpPr>
        <p:spPr>
          <a:xfrm>
            <a:off x="373200" y="3152975"/>
            <a:ext cx="19539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8.</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222222"/>
                </a:solidFill>
                <a:latin typeface="Trebuchet MS"/>
                <a:ea typeface="Trebuchet MS"/>
                <a:cs typeface="Trebuchet MS"/>
                <a:sym typeface="Trebuchet MS"/>
              </a:rPr>
              <a:t>Continuación:</a:t>
            </a:r>
            <a:endParaRPr b="0" i="1" sz="2000" u="none" cap="none" strike="noStrike">
              <a:solidFill>
                <a:srgbClr val="000000"/>
              </a:solidFill>
              <a:latin typeface="Trebuchet MS"/>
              <a:ea typeface="Trebuchet MS"/>
              <a:cs typeface="Trebuchet MS"/>
              <a:sym typeface="Trebuchet MS"/>
            </a:endParaRPr>
          </a:p>
        </p:txBody>
      </p:sp>
      <p:sp>
        <p:nvSpPr>
          <p:cNvPr id="1126" name="Google Shape;1126;g1dd767738ca_0_12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7" name="Google Shape;1127;g1dd767738ca_0_12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128" name="Google Shape;1128;g1dd767738ca_0_123"/>
          <p:cNvSpPr txBox="1"/>
          <p:nvPr/>
        </p:nvSpPr>
        <p:spPr>
          <a:xfrm>
            <a:off x="2238225" y="1817400"/>
            <a:ext cx="9849900" cy="3886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499CD5"/>
                </a:solidFill>
                <a:latin typeface="Courier New"/>
                <a:ea typeface="Courier New"/>
                <a:cs typeface="Courier New"/>
                <a:sym typeface="Courier New"/>
              </a:rPr>
              <a:t>switch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94DBFD"/>
                </a:solidFill>
                <a:latin typeface="Courier New"/>
                <a:ea typeface="Courier New"/>
                <a:cs typeface="Courier New"/>
                <a:sym typeface="Courier New"/>
              </a:rPr>
              <a:t>operacion</a:t>
            </a:r>
            <a:r>
              <a:rPr b="1" i="0" lang="en-US" sz="1850" u="none" cap="none" strike="noStrike">
                <a:solidFill>
                  <a:schemeClr val="dk1"/>
                </a:solidFill>
                <a:latin typeface="Courier New"/>
                <a:ea typeface="Courier New"/>
                <a:cs typeface="Courier New"/>
                <a:sym typeface="Courier New"/>
              </a:rPr>
              <a:t>) {</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case </a:t>
            </a:r>
            <a:r>
              <a:rPr b="1" i="0" lang="en-US" sz="1850" u="none" cap="none" strike="noStrike">
                <a:solidFill>
                  <a:srgbClr val="CD9069"/>
                </a:solidFill>
                <a:latin typeface="Courier New"/>
                <a:ea typeface="Courier New"/>
                <a:cs typeface="Courier New"/>
                <a:sym typeface="Courier New"/>
              </a:rPr>
              <a:t>"Suma"</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num1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num2</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"Resultado de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operacion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CD9069"/>
                </a:solidFill>
                <a:latin typeface="Courier New"/>
                <a:ea typeface="Courier New"/>
                <a:cs typeface="Courier New"/>
                <a:sym typeface="Courier New"/>
              </a:rPr>
              <a:t>":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break</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case </a:t>
            </a:r>
            <a:r>
              <a:rPr b="1" i="0" lang="en-US" sz="1850" u="none" cap="none" strike="noStrike">
                <a:solidFill>
                  <a:srgbClr val="CD9069"/>
                </a:solidFill>
                <a:latin typeface="Courier New"/>
                <a:ea typeface="Courier New"/>
                <a:cs typeface="Courier New"/>
                <a:sym typeface="Courier New"/>
              </a:rPr>
              <a:t>"Resta"</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num1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num2</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"Resultado de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operacion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CD9069"/>
                </a:solidFill>
                <a:latin typeface="Courier New"/>
                <a:ea typeface="Courier New"/>
                <a:cs typeface="Courier New"/>
                <a:sym typeface="Courier New"/>
              </a:rPr>
              <a:t>":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break</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case </a:t>
            </a:r>
            <a:r>
              <a:rPr b="1" i="0" lang="en-US" sz="1850" u="none" cap="none" strike="noStrike">
                <a:solidFill>
                  <a:srgbClr val="CD9069"/>
                </a:solidFill>
                <a:latin typeface="Courier New"/>
                <a:ea typeface="Courier New"/>
                <a:cs typeface="Courier New"/>
                <a:sym typeface="Courier New"/>
              </a:rPr>
              <a:t>"Multiplicacion"</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 </a:t>
            </a:r>
            <a:r>
              <a:rPr b="1" i="0" lang="en-US" sz="1850" u="none" cap="none" strike="noStrike">
                <a:solidFill>
                  <a:schemeClr val="dk1"/>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num1 </a:t>
            </a:r>
            <a:r>
              <a:rPr b="1" i="0" lang="en-US" sz="1850" u="none" cap="none" strike="noStrike">
                <a:solidFill>
                  <a:schemeClr val="dk1"/>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num2</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"Resultado de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operacion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CD9069"/>
                </a:solidFill>
                <a:latin typeface="Courier New"/>
                <a:ea typeface="Courier New"/>
                <a:cs typeface="Courier New"/>
                <a:sym typeface="Courier New"/>
              </a:rPr>
              <a:t>":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break</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32" name="Shape 1132"/>
        <p:cNvGrpSpPr/>
        <p:nvPr/>
      </p:nvGrpSpPr>
      <p:grpSpPr>
        <a:xfrm>
          <a:off x="0" y="0"/>
          <a:ext cx="0" cy="0"/>
          <a:chOff x="0" y="0"/>
          <a:chExt cx="0" cy="0"/>
        </a:xfrm>
      </p:grpSpPr>
      <p:sp>
        <p:nvSpPr>
          <p:cNvPr id="1133" name="Google Shape;1133;g1dd767738ca_0_14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4" name="Google Shape;1134;g1dd767738ca_0_14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5" name="Google Shape;1135;g1dd767738ca_0_1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36" name="Google Shape;1136;g1dd767738ca_0_14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37" name="Google Shape;1137;g1dd767738ca_0_14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g1dd767738ca_0_14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39" name="Google Shape;1139;g1dd767738ca_0_14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g1dd767738ca_0_140"/>
          <p:cNvSpPr txBox="1"/>
          <p:nvPr/>
        </p:nvSpPr>
        <p:spPr>
          <a:xfrm>
            <a:off x="373200" y="3152975"/>
            <a:ext cx="19539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1" lang="en-US" sz="2000" u="none" cap="none" strike="noStrike">
                <a:solidFill>
                  <a:srgbClr val="222222"/>
                </a:solidFill>
                <a:latin typeface="Trebuchet MS"/>
                <a:ea typeface="Trebuchet MS"/>
                <a:cs typeface="Trebuchet MS"/>
                <a:sym typeface="Trebuchet MS"/>
              </a:rPr>
              <a:t>Ejemplo 8.</a:t>
            </a:r>
            <a:endParaRPr b="1" i="1"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222222"/>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1" lang="en-US" sz="2000" u="none" cap="none" strike="noStrike">
                <a:solidFill>
                  <a:srgbClr val="222222"/>
                </a:solidFill>
                <a:latin typeface="Trebuchet MS"/>
                <a:ea typeface="Trebuchet MS"/>
                <a:cs typeface="Trebuchet MS"/>
                <a:sym typeface="Trebuchet MS"/>
              </a:rPr>
              <a:t>Continuación:</a:t>
            </a:r>
            <a:endParaRPr b="0" i="1" sz="2000" u="none" cap="none" strike="noStrike">
              <a:solidFill>
                <a:srgbClr val="000000"/>
              </a:solidFill>
              <a:latin typeface="Trebuchet MS"/>
              <a:ea typeface="Trebuchet MS"/>
              <a:cs typeface="Trebuchet MS"/>
              <a:sym typeface="Trebuchet MS"/>
            </a:endParaRPr>
          </a:p>
        </p:txBody>
      </p:sp>
      <p:sp>
        <p:nvSpPr>
          <p:cNvPr id="1141" name="Google Shape;1141;g1dd767738ca_0_14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2" name="Google Shape;1142;g1dd767738ca_0_14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Ejemplos Switch Case</a:t>
            </a:r>
            <a:endParaRPr b="1" i="0" sz="2000" u="none" cap="none" strike="noStrike">
              <a:solidFill>
                <a:srgbClr val="003870"/>
              </a:solidFill>
              <a:latin typeface="Trebuchet MS"/>
              <a:ea typeface="Trebuchet MS"/>
              <a:cs typeface="Trebuchet MS"/>
              <a:sym typeface="Trebuchet MS"/>
            </a:endParaRPr>
          </a:p>
        </p:txBody>
      </p:sp>
      <p:sp>
        <p:nvSpPr>
          <p:cNvPr id="1143" name="Google Shape;1143;g1dd767738ca_0_140"/>
          <p:cNvSpPr txBox="1"/>
          <p:nvPr/>
        </p:nvSpPr>
        <p:spPr>
          <a:xfrm>
            <a:off x="2223425" y="2171113"/>
            <a:ext cx="9849900" cy="3032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case </a:t>
            </a:r>
            <a:r>
              <a:rPr b="1" i="0" lang="en-US" sz="1850" u="none" cap="none" strike="noStrike">
                <a:solidFill>
                  <a:srgbClr val="CD9069"/>
                </a:solidFill>
                <a:latin typeface="Courier New"/>
                <a:ea typeface="Courier New"/>
                <a:cs typeface="Courier New"/>
                <a:sym typeface="Courier New"/>
              </a:rPr>
              <a:t>"Division"</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num1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num2</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"Resultado de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operacion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CD9069"/>
                </a:solidFill>
                <a:latin typeface="Courier New"/>
                <a:ea typeface="Courier New"/>
                <a:cs typeface="Courier New"/>
                <a:sym typeface="Courier New"/>
              </a:rPr>
              <a:t>":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break</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case </a:t>
            </a:r>
            <a:r>
              <a:rPr b="1" i="0" lang="en-US" sz="1850" u="none" cap="none" strike="noStrike">
                <a:solidFill>
                  <a:srgbClr val="CD9069"/>
                </a:solidFill>
                <a:latin typeface="Courier New"/>
                <a:ea typeface="Courier New"/>
                <a:cs typeface="Courier New"/>
                <a:sym typeface="Courier New"/>
              </a:rPr>
              <a:t>"Potencia"</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chemeClr val="dk1"/>
                </a:solidFill>
                <a:latin typeface="Courier New"/>
                <a:ea typeface="Courier New"/>
                <a:cs typeface="Courier New"/>
                <a:sym typeface="Courier New"/>
              </a:rPr>
              <a:t>Math.pow(</a:t>
            </a:r>
            <a:r>
              <a:rPr b="1" i="0" lang="en-US" sz="1850" u="none" cap="none" strike="noStrike">
                <a:solidFill>
                  <a:srgbClr val="94DBFD"/>
                </a:solidFill>
                <a:latin typeface="Courier New"/>
                <a:ea typeface="Courier New"/>
                <a:cs typeface="Courier New"/>
                <a:sym typeface="Courier New"/>
              </a:rPr>
              <a:t>num1</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num2</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"Resultado de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operacion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CD9069"/>
                </a:solidFill>
                <a:latin typeface="Courier New"/>
                <a:ea typeface="Courier New"/>
                <a:cs typeface="Courier New"/>
                <a:sym typeface="Courier New"/>
              </a:rPr>
              <a:t>": " </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94DBFD"/>
                </a:solidFill>
                <a:latin typeface="Courier New"/>
                <a:ea typeface="Courier New"/>
                <a:cs typeface="Courier New"/>
                <a:sym typeface="Courier New"/>
              </a:rPr>
              <a:t>res</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break</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499CD5"/>
                </a:solidFill>
                <a:latin typeface="Courier New"/>
                <a:ea typeface="Courier New"/>
                <a:cs typeface="Courier New"/>
                <a:sym typeface="Courier New"/>
              </a:rPr>
              <a:t>default</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50"/>
              <a:buFont typeface="Arial"/>
              <a:buNone/>
            </a:pPr>
            <a:r>
              <a:rPr b="1" i="0" lang="en-US" sz="1850" u="none" cap="none" strike="noStrike">
                <a:solidFill>
                  <a:srgbClr val="D4D4D4"/>
                </a:solidFill>
                <a:latin typeface="Courier New"/>
                <a:ea typeface="Courier New"/>
                <a:cs typeface="Courier New"/>
                <a:sym typeface="Courier New"/>
              </a:rPr>
              <a:t>       </a:t>
            </a:r>
            <a:r>
              <a:rPr b="1" i="0" lang="en-US" sz="1850" u="none" cap="none" strike="noStrike">
                <a:solidFill>
                  <a:srgbClr val="39C8B0"/>
                </a:solidFill>
                <a:latin typeface="Courier New"/>
                <a:ea typeface="Courier New"/>
                <a:cs typeface="Courier New"/>
                <a:sym typeface="Courier New"/>
              </a:rPr>
              <a:t>System</a:t>
            </a:r>
            <a:r>
              <a:rPr b="1" i="0" lang="en-US" sz="1850" u="none" cap="none" strike="noStrike">
                <a:solidFill>
                  <a:schemeClr val="dk1"/>
                </a:solidFill>
                <a:latin typeface="Courier New"/>
                <a:ea typeface="Courier New"/>
                <a:cs typeface="Courier New"/>
                <a:sym typeface="Courier New"/>
              </a:rPr>
              <a:t>.</a:t>
            </a:r>
            <a:r>
              <a:rPr b="1" i="0" lang="en-US" sz="1850" u="none" cap="none" strike="noStrike">
                <a:solidFill>
                  <a:srgbClr val="FFC66D"/>
                </a:solidFill>
                <a:latin typeface="Courier New"/>
                <a:ea typeface="Courier New"/>
                <a:cs typeface="Courier New"/>
                <a:sym typeface="Courier New"/>
              </a:rPr>
              <a:t>out</a:t>
            </a:r>
            <a:r>
              <a:rPr b="1" i="0" lang="en-US" sz="1850" u="none" cap="none" strike="noStrike">
                <a:solidFill>
                  <a:schemeClr val="dk1"/>
                </a:solidFill>
                <a:latin typeface="Courier New"/>
                <a:ea typeface="Courier New"/>
                <a:cs typeface="Courier New"/>
                <a:sym typeface="Courier New"/>
              </a:rPr>
              <a:t>.println(</a:t>
            </a:r>
            <a:r>
              <a:rPr b="1" i="0" lang="en-US" sz="1850" u="none" cap="none" strike="noStrike">
                <a:solidFill>
                  <a:srgbClr val="CD9069"/>
                </a:solidFill>
                <a:latin typeface="Courier New"/>
                <a:ea typeface="Courier New"/>
                <a:cs typeface="Courier New"/>
                <a:sym typeface="Courier New"/>
              </a:rPr>
              <a:t>"Operacion no valida"</a:t>
            </a:r>
            <a:r>
              <a:rPr b="1" i="0" lang="en-US" sz="1850" u="none" cap="none" strike="noStrike">
                <a:solidFill>
                  <a:schemeClr val="dk1"/>
                </a:solidFill>
                <a:latin typeface="Courier New"/>
                <a:ea typeface="Courier New"/>
                <a:cs typeface="Courier New"/>
                <a:sym typeface="Courier New"/>
              </a:rPr>
              <a:t>);</a:t>
            </a:r>
            <a:endParaRPr b="1" i="0" sz="185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47" name="Shape 1147"/>
        <p:cNvGrpSpPr/>
        <p:nvPr/>
      </p:nvGrpSpPr>
      <p:grpSpPr>
        <a:xfrm>
          <a:off x="0" y="0"/>
          <a:ext cx="0" cy="0"/>
          <a:chOff x="0" y="0"/>
          <a:chExt cx="0" cy="0"/>
        </a:xfrm>
      </p:grpSpPr>
      <p:sp>
        <p:nvSpPr>
          <p:cNvPr id="1148" name="Google Shape;1148;g20f4114666e_0_5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9" name="Google Shape;1149;g20f4114666e_0_5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0" name="Google Shape;1150;g20f4114666e_0_5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51" name="Google Shape;1151;g20f4114666e_0_5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52" name="Google Shape;1152;g20f4114666e_0_5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g20f4114666e_0_5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54" name="Google Shape;1154;g20f4114666e_0_5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20f4114666e_0_558"/>
          <p:cNvSpPr txBox="1"/>
          <p:nvPr/>
        </p:nvSpPr>
        <p:spPr>
          <a:xfrm>
            <a:off x="857225" y="2371500"/>
            <a:ext cx="9378900" cy="320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500"/>
              <a:buFont typeface="Arial"/>
              <a:buNone/>
            </a:pPr>
            <a:r>
              <a:rPr b="0" i="0" lang="en-US" sz="3500" u="none" cap="none" strike="noStrike">
                <a:solidFill>
                  <a:srgbClr val="64CBC9"/>
                </a:solidFill>
                <a:latin typeface="Trebuchet MS"/>
                <a:ea typeface="Trebuchet MS"/>
                <a:cs typeface="Trebuchet MS"/>
                <a:sym typeface="Trebuchet MS"/>
                <a:extLst>
                  <a:ext uri="http://customooxmlschemas.google.com/">
                    <go:slidesCustomData xmlns:go="http://customooxmlschemas.google.com/" textRoundtripDataId="1"/>
                  </a:ext>
                </a:extLst>
              </a:rPr>
              <a:t>Notebook:</a:t>
            </a:r>
            <a:r>
              <a:rPr b="0" i="0" lang="en-US" sz="3500" u="none" cap="none" strike="noStrike">
                <a:solidFill>
                  <a:srgbClr val="64CBC9"/>
                </a:solidFill>
                <a:latin typeface="Trebuchet MS"/>
                <a:ea typeface="Trebuchet MS"/>
                <a:cs typeface="Trebuchet MS"/>
                <a:sym typeface="Trebuchet MS"/>
              </a:rPr>
              <a:t> </a:t>
            </a:r>
            <a:r>
              <a:rPr b="0" i="0" lang="en-US" sz="3500" u="sng" cap="none" strike="noStrike">
                <a:solidFill>
                  <a:schemeClr val="hlink"/>
                </a:solidFill>
                <a:latin typeface="Trebuchet MS"/>
                <a:ea typeface="Trebuchet MS"/>
                <a:cs typeface="Trebuchet MS"/>
                <a:sym typeface="Trebuchet MS"/>
                <a:hlinkClick r:id="rId4"/>
              </a:rPr>
              <a:t>Enlace Notebook</a:t>
            </a:r>
            <a:endParaRPr b="0" i="0" sz="35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3500"/>
              <a:buFont typeface="Arial"/>
              <a:buNone/>
            </a:pPr>
            <a:r>
              <a:t/>
            </a:r>
            <a:endParaRPr b="0" i="0" sz="3500" u="none" cap="none" strike="noStrike">
              <a:solidFill>
                <a:srgbClr val="64CBC9"/>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3500"/>
              <a:buFont typeface="Arial"/>
              <a:buNone/>
            </a:pPr>
            <a:r>
              <a:rPr b="0" i="0" lang="en-US" sz="3500" u="none" cap="none" strike="noStrike">
                <a:solidFill>
                  <a:srgbClr val="64CBC9"/>
                </a:solidFill>
                <a:latin typeface="Trebuchet MS"/>
                <a:ea typeface="Trebuchet MS"/>
                <a:cs typeface="Trebuchet MS"/>
                <a:sym typeface="Trebuchet MS"/>
                <a:extLst>
                  <a:ext uri="http://customooxmlschemas.google.com/">
                    <go:slidesCustomData xmlns:go="http://customooxmlschemas.google.com/" textRoundtripDataId="2"/>
                  </a:ext>
                </a:extLst>
              </a:rPr>
              <a:t>Taller:</a:t>
            </a:r>
            <a:r>
              <a:rPr b="0" i="0" lang="en-US" sz="3500" u="none" cap="none" strike="noStrike">
                <a:solidFill>
                  <a:srgbClr val="64CBC9"/>
                </a:solidFill>
                <a:latin typeface="Trebuchet MS"/>
                <a:ea typeface="Trebuchet MS"/>
                <a:cs typeface="Trebuchet MS"/>
                <a:sym typeface="Trebuchet MS"/>
              </a:rPr>
              <a:t> </a:t>
            </a:r>
            <a:r>
              <a:rPr b="0" i="0" lang="en-US" sz="3500" u="sng" cap="none" strike="noStrike">
                <a:solidFill>
                  <a:schemeClr val="hlink"/>
                </a:solidFill>
                <a:latin typeface="Trebuchet MS"/>
                <a:ea typeface="Trebuchet MS"/>
                <a:cs typeface="Trebuchet MS"/>
                <a:sym typeface="Trebuchet MS"/>
                <a:hlinkClick r:id="rId5"/>
              </a:rPr>
              <a:t>Enlace Taller 5</a:t>
            </a:r>
            <a:endParaRPr b="0" i="0" sz="3500" u="none" cap="none" strike="noStrike">
              <a:solidFill>
                <a:schemeClr val="dk1"/>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3500"/>
              <a:buFont typeface="Arial"/>
              <a:buNone/>
            </a:pPr>
            <a:r>
              <a:t/>
            </a:r>
            <a:endParaRPr b="0" i="0" sz="3500" u="none" cap="none" strike="noStrike">
              <a:solidFill>
                <a:srgbClr val="64CBC9"/>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3500"/>
              <a:buFont typeface="Arial"/>
              <a:buNone/>
            </a:pPr>
            <a:r>
              <a:rPr b="0" i="0" lang="en-US" sz="3500" u="none" cap="none" strike="noStrike">
                <a:solidFill>
                  <a:srgbClr val="64CBC9"/>
                </a:solidFill>
                <a:latin typeface="Trebuchet MS"/>
                <a:ea typeface="Trebuchet MS"/>
                <a:cs typeface="Trebuchet MS"/>
                <a:sym typeface="Trebuchet MS"/>
                <a:extLst>
                  <a:ext uri="http://customooxmlschemas.google.com/">
                    <go:slidesCustomData xmlns:go="http://customooxmlschemas.google.com/" textRoundtripDataId="3"/>
                  </a:ext>
                </a:extLst>
              </a:rPr>
              <a:t>Quiz</a:t>
            </a:r>
            <a:r>
              <a:rPr b="0" i="0" lang="en-US" sz="3500" u="none" cap="none" strike="noStrike">
                <a:solidFill>
                  <a:srgbClr val="64CBC9"/>
                </a:solidFill>
                <a:latin typeface="Trebuchet MS"/>
                <a:ea typeface="Trebuchet MS"/>
                <a:cs typeface="Trebuchet MS"/>
                <a:sym typeface="Trebuchet MS"/>
              </a:rPr>
              <a:t>: Quiz 4 - Programación I</a:t>
            </a:r>
            <a:endParaRPr b="0" i="0" sz="3500" u="none" cap="none" strike="noStrike">
              <a:solidFill>
                <a:schemeClr val="dk1"/>
              </a:solidFill>
              <a:latin typeface="Trebuchet MS"/>
              <a:ea typeface="Trebuchet MS"/>
              <a:cs typeface="Trebuchet MS"/>
              <a:sym typeface="Trebuchet MS"/>
            </a:endParaRPr>
          </a:p>
        </p:txBody>
      </p:sp>
      <p:pic>
        <p:nvPicPr>
          <p:cNvPr id="1156" name="Google Shape;1156;g20f4114666e_0_558"/>
          <p:cNvPicPr preferRelativeResize="0"/>
          <p:nvPr/>
        </p:nvPicPr>
        <p:blipFill rotWithShape="1">
          <a:blip r:embed="rId6">
            <a:alphaModFix/>
          </a:blip>
          <a:srcRect b="0" l="0" r="0" t="0"/>
          <a:stretch/>
        </p:blipFill>
        <p:spPr>
          <a:xfrm rot="722873">
            <a:off x="8914047" y="1866835"/>
            <a:ext cx="1039477" cy="1039477"/>
          </a:xfrm>
          <a:prstGeom prst="rect">
            <a:avLst/>
          </a:prstGeom>
          <a:noFill/>
          <a:ln>
            <a:noFill/>
          </a:ln>
        </p:spPr>
      </p:pic>
      <p:pic>
        <p:nvPicPr>
          <p:cNvPr id="1157" name="Google Shape;1157;g20f4114666e_0_558"/>
          <p:cNvPicPr preferRelativeResize="0"/>
          <p:nvPr/>
        </p:nvPicPr>
        <p:blipFill rotWithShape="1">
          <a:blip r:embed="rId7">
            <a:alphaModFix/>
          </a:blip>
          <a:srcRect b="0" l="0" r="0" t="0"/>
          <a:stretch/>
        </p:blipFill>
        <p:spPr>
          <a:xfrm>
            <a:off x="9185075" y="3397425"/>
            <a:ext cx="948575" cy="844936"/>
          </a:xfrm>
          <a:prstGeom prst="rect">
            <a:avLst/>
          </a:prstGeom>
          <a:noFill/>
          <a:ln>
            <a:noFill/>
          </a:ln>
        </p:spPr>
      </p:pic>
      <p:pic>
        <p:nvPicPr>
          <p:cNvPr id="1158" name="Google Shape;1158;g20f4114666e_0_558"/>
          <p:cNvPicPr preferRelativeResize="0"/>
          <p:nvPr/>
        </p:nvPicPr>
        <p:blipFill rotWithShape="1">
          <a:blip r:embed="rId8">
            <a:alphaModFix/>
          </a:blip>
          <a:srcRect b="0" l="0" r="0" t="0"/>
          <a:stretch/>
        </p:blipFill>
        <p:spPr>
          <a:xfrm>
            <a:off x="9185074" y="4696887"/>
            <a:ext cx="1051599" cy="10516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2" name="Shape 1162"/>
        <p:cNvGrpSpPr/>
        <p:nvPr/>
      </p:nvGrpSpPr>
      <p:grpSpPr>
        <a:xfrm>
          <a:off x="0" y="0"/>
          <a:ext cx="0" cy="0"/>
          <a:chOff x="0" y="0"/>
          <a:chExt cx="0" cy="0"/>
        </a:xfrm>
      </p:grpSpPr>
      <p:sp>
        <p:nvSpPr>
          <p:cNvPr id="1163" name="Google Shape;1163;g1dd767738ca_0_2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4" name="Google Shape;1164;g1dd767738ca_0_2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5" name="Google Shape;1165;g1dd767738ca_0_2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66" name="Google Shape;1166;g1dd767738ca_0_2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167" name="Google Shape;1167;g1dd767738ca_0_2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g1dd767738ca_0_2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169" name="Google Shape;1169;g1dd767738ca_0_2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g1dd767738ca_0_217"/>
          <p:cNvSpPr txBox="1"/>
          <p:nvPr/>
        </p:nvSpPr>
        <p:spPr>
          <a:xfrm>
            <a:off x="857225" y="1475525"/>
            <a:ext cx="93789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500"/>
              <a:buFont typeface="Arial"/>
              <a:buNone/>
            </a:pPr>
            <a:r>
              <a:rPr b="0" i="0" lang="en-US" sz="3500" u="none" cap="none" strike="noStrike">
                <a:solidFill>
                  <a:srgbClr val="00AEAA"/>
                </a:solidFill>
                <a:latin typeface="Trebuchet MS"/>
                <a:ea typeface="Trebuchet MS"/>
                <a:cs typeface="Trebuchet MS"/>
                <a:sym typeface="Trebuchet MS"/>
              </a:rPr>
              <a:t>Referencias</a:t>
            </a:r>
            <a:endParaRPr b="0" i="0" sz="3500" u="none" cap="none" strike="noStrike">
              <a:solidFill>
                <a:srgbClr val="00AEAA"/>
              </a:solidFill>
              <a:latin typeface="Trebuchet MS"/>
              <a:ea typeface="Trebuchet MS"/>
              <a:cs typeface="Trebuchet MS"/>
              <a:sym typeface="Trebuchet MS"/>
            </a:endParaRPr>
          </a:p>
        </p:txBody>
      </p:sp>
      <p:sp>
        <p:nvSpPr>
          <p:cNvPr id="1171" name="Google Shape;1171;g1dd767738ca_0_217"/>
          <p:cNvSpPr txBox="1"/>
          <p:nvPr/>
        </p:nvSpPr>
        <p:spPr>
          <a:xfrm>
            <a:off x="1033900" y="2577300"/>
            <a:ext cx="95568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4"/>
              </a:rPr>
              <a:t>https://www.educative.io/answers/how-to-find-the-length-of-a-string-in-java</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5"/>
              </a:rPr>
              <a:t>https://www.educative.io/answers/what-is-objectsequals-in-java</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sng" cap="none" strike="noStrike">
                <a:solidFill>
                  <a:schemeClr val="hlink"/>
                </a:solidFill>
                <a:latin typeface="Trebuchet MS"/>
                <a:ea typeface="Trebuchet MS"/>
                <a:cs typeface="Trebuchet MS"/>
                <a:sym typeface="Trebuchet MS"/>
                <a:hlinkClick r:id="rId6"/>
              </a:rPr>
              <a:t>https://stackoverflow.com/questions/32948425/how-to-read-int-double-and-sentence-of-string-using-same-scanner-variable</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5"/>
          <p:cNvSpPr/>
          <p:nvPr/>
        </p:nvSpPr>
        <p:spPr>
          <a:xfrm>
            <a:off x="0" y="0"/>
            <a:ext cx="12192000" cy="6858000"/>
          </a:xfrm>
          <a:custGeom>
            <a:rect b="b" l="l" r="r" t="t"/>
            <a:pathLst>
              <a:path extrusionOk="0" h="6858000" w="12192000">
                <a:moveTo>
                  <a:pt x="0" y="0"/>
                </a:moveTo>
                <a:lnTo>
                  <a:pt x="12191999" y="0"/>
                </a:lnTo>
                <a:lnTo>
                  <a:pt x="12191999" y="6857999"/>
                </a:lnTo>
                <a:lnTo>
                  <a:pt x="0" y="6857999"/>
                </a:lnTo>
                <a:lnTo>
                  <a:pt x="0" y="0"/>
                </a:lnTo>
                <a:close/>
              </a:path>
            </a:pathLst>
          </a:custGeom>
          <a:solidFill>
            <a:srgbClr val="002955"/>
          </a:solidFill>
          <a:ln cap="flat" cmpd="sng" w="9525">
            <a:solidFill>
              <a:srgbClr val="00295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177" name="Google Shape;1177;p5"/>
          <p:cNvPicPr preferRelativeResize="0"/>
          <p:nvPr/>
        </p:nvPicPr>
        <p:blipFill rotWithShape="1">
          <a:blip r:embed="rId3">
            <a:alphaModFix/>
          </a:blip>
          <a:srcRect b="0" l="9049" r="0" t="0"/>
          <a:stretch/>
        </p:blipFill>
        <p:spPr>
          <a:xfrm>
            <a:off x="415625" y="1229575"/>
            <a:ext cx="3862051" cy="4246425"/>
          </a:xfrm>
          <a:prstGeom prst="rect">
            <a:avLst/>
          </a:prstGeom>
          <a:noFill/>
          <a:ln>
            <a:noFill/>
          </a:ln>
        </p:spPr>
      </p:pic>
      <p:sp>
        <p:nvSpPr>
          <p:cNvPr id="1178" name="Google Shape;1178;p5"/>
          <p:cNvSpPr txBox="1"/>
          <p:nvPr/>
        </p:nvSpPr>
        <p:spPr>
          <a:xfrm>
            <a:off x="3972850" y="2898738"/>
            <a:ext cx="78831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0" i="0" lang="en-US" sz="4700" u="none" cap="none" strike="noStrike">
                <a:solidFill>
                  <a:schemeClr val="lt1"/>
                </a:solidFill>
                <a:latin typeface="Times New Roman"/>
                <a:ea typeface="Times New Roman"/>
                <a:cs typeface="Times New Roman"/>
                <a:sym typeface="Times New Roman"/>
              </a:rPr>
              <a:t>UNIVERSIDAD DE CALDAS</a:t>
            </a:r>
            <a:endParaRPr b="0" i="0" sz="47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2022-07-17T16:15:25Z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