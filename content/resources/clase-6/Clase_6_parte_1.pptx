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Oswald SemiBold"/>
      <p:regular r:id="rId17"/>
      <p:bold r:id="rId18"/>
    </p:embeddedFont>
    <p:embeddedFont>
      <p:font typeface="Oswald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font" Target="fonts/OswaldSemiBold-regular.fntdata"/><Relationship Id="rId18" Type="http://schemas.openxmlformats.org/officeDocument/2006/relationships/font" Target="fonts/OswaldSemiBold-bold.fntdata"/><Relationship Id="rId19" Type="http://schemas.openxmlformats.org/officeDocument/2006/relationships/font" Target="fonts/Oswald-regular.fntdata"/><Relationship Id="rId20" Type="http://schemas.openxmlformats.org/officeDocument/2006/relationships/font" Target="fonts/Oswa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4535b1426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" name="Google Shape;66;g24535b1426a_0_0:notes"/>
          <p:cNvSpPr/>
          <p:nvPr>
            <p:ph idx="2" type="sldImg"/>
          </p:nvPr>
        </p:nvSpPr>
        <p:spPr>
          <a:xfrm>
            <a:off x="2143125" y="685800"/>
            <a:ext cx="25725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4535b1426a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8" name="Google Shape;78;g24535b1426a_0_11:notes"/>
          <p:cNvSpPr/>
          <p:nvPr>
            <p:ph idx="2" type="sldImg"/>
          </p:nvPr>
        </p:nvSpPr>
        <p:spPr>
          <a:xfrm>
            <a:off x="2143125" y="685800"/>
            <a:ext cx="25725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4535b1426a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" name="Google Shape;90;g24535b1426a_0_22:notes"/>
          <p:cNvSpPr/>
          <p:nvPr>
            <p:ph idx="2" type="sldImg"/>
          </p:nvPr>
        </p:nvSpPr>
        <p:spPr>
          <a:xfrm>
            <a:off x="2143125" y="685800"/>
            <a:ext cx="25725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4535b1426a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g24535b1426a_0_35:notes"/>
          <p:cNvSpPr/>
          <p:nvPr>
            <p:ph idx="2" type="sldImg"/>
          </p:nvPr>
        </p:nvSpPr>
        <p:spPr>
          <a:xfrm>
            <a:off x="2143125" y="685800"/>
            <a:ext cx="25725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4535b1426a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" name="Google Shape;117;g24535b1426a_0_47:notes"/>
          <p:cNvSpPr/>
          <p:nvPr>
            <p:ph idx="2" type="sldImg"/>
          </p:nvPr>
        </p:nvSpPr>
        <p:spPr>
          <a:xfrm>
            <a:off x="2143125" y="685800"/>
            <a:ext cx="25725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4535b1426a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2" name="Google Shape;132;g24535b1426a_0_61:notes"/>
          <p:cNvSpPr/>
          <p:nvPr>
            <p:ph idx="2" type="sldImg"/>
          </p:nvPr>
        </p:nvSpPr>
        <p:spPr>
          <a:xfrm>
            <a:off x="2143125" y="685800"/>
            <a:ext cx="25725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4535b1426a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" name="Google Shape;147;g24535b1426a_0_75:notes"/>
          <p:cNvSpPr/>
          <p:nvPr>
            <p:ph idx="2" type="sldImg"/>
          </p:nvPr>
        </p:nvSpPr>
        <p:spPr>
          <a:xfrm>
            <a:off x="2143125" y="685800"/>
            <a:ext cx="25725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4535b1426a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4" name="Google Shape;164;g24535b1426a_0_91:notes"/>
          <p:cNvSpPr/>
          <p:nvPr>
            <p:ph idx="2" type="sldImg"/>
          </p:nvPr>
        </p:nvSpPr>
        <p:spPr>
          <a:xfrm>
            <a:off x="2143125" y="685800"/>
            <a:ext cx="25725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4535b1426a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0" name="Google Shape;180;g24535b1426a_0_106:notes"/>
          <p:cNvSpPr/>
          <p:nvPr>
            <p:ph idx="2" type="sldImg"/>
          </p:nvPr>
        </p:nvSpPr>
        <p:spPr>
          <a:xfrm>
            <a:off x="2143125" y="685800"/>
            <a:ext cx="25725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4535b1426a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5" name="Google Shape;195;g24535b1426a_0_120:notes"/>
          <p:cNvSpPr/>
          <p:nvPr>
            <p:ph idx="2" type="sldImg"/>
          </p:nvPr>
        </p:nvSpPr>
        <p:spPr>
          <a:xfrm>
            <a:off x="2143125" y="685800"/>
            <a:ext cx="25725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4535b1426a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1" name="Google Shape;211;g24535b1426a_0_135:notes"/>
          <p:cNvSpPr/>
          <p:nvPr>
            <p:ph idx="2" type="sldImg"/>
          </p:nvPr>
        </p:nvSpPr>
        <p:spPr>
          <a:xfrm>
            <a:off x="2143125" y="685800"/>
            <a:ext cx="25725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2" name="Google Shape;52;p13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6583680" y="4783455"/>
            <a:ext cx="2103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3019241" y="2404455"/>
            <a:ext cx="3105600" cy="4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2600">
                <a:solidFill>
                  <a:srgbClr val="00AEA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693803" y="1937785"/>
            <a:ext cx="7756500" cy="29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8" name="Google Shape;58;p14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6583680" y="4783455"/>
            <a:ext cx="2103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60" name="Google Shape;60;p14"/>
          <p:cNvSpPr/>
          <p:nvPr/>
        </p:nvSpPr>
        <p:spPr>
          <a:xfrm>
            <a:off x="0" y="734798"/>
            <a:ext cx="4307100" cy="50400"/>
          </a:xfrm>
          <a:prstGeom prst="rect">
            <a:avLst/>
          </a:prstGeom>
          <a:solidFill>
            <a:srgbClr val="FDD90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" name="Google Shape;61;p14"/>
          <p:cNvPicPr preferRelativeResize="0"/>
          <p:nvPr/>
        </p:nvPicPr>
        <p:blipFill rotWithShape="1">
          <a:blip r:embed="rId2">
            <a:alphaModFix/>
          </a:blip>
          <a:srcRect b="10482" l="0" r="0" t="0"/>
          <a:stretch/>
        </p:blipFill>
        <p:spPr>
          <a:xfrm>
            <a:off x="834709" y="200959"/>
            <a:ext cx="2033856" cy="4982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OTRA – Observatorio de Transparencia Umanizales" id="62" name="Google Shape;62;p14"/>
          <p:cNvPicPr preferRelativeResize="0"/>
          <p:nvPr/>
        </p:nvPicPr>
        <p:blipFill rotWithShape="1">
          <a:blip r:embed="rId3">
            <a:alphaModFix/>
          </a:blip>
          <a:srcRect b="10523" l="0" r="0" t="12268"/>
          <a:stretch/>
        </p:blipFill>
        <p:spPr>
          <a:xfrm>
            <a:off x="0" y="0"/>
            <a:ext cx="902858" cy="697082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/>
          <p:nvPr/>
        </p:nvSpPr>
        <p:spPr>
          <a:xfrm>
            <a:off x="2868566" y="272244"/>
            <a:ext cx="1438500" cy="4248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9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8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/>
          <p:nvPr/>
        </p:nvSpPr>
        <p:spPr>
          <a:xfrm>
            <a:off x="3499246" y="4017169"/>
            <a:ext cx="5644991" cy="1126331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5"/>
          <p:cNvSpPr/>
          <p:nvPr/>
        </p:nvSpPr>
        <p:spPr>
          <a:xfrm>
            <a:off x="0" y="1294208"/>
            <a:ext cx="1042035" cy="3849529"/>
          </a:xfrm>
          <a:custGeom>
            <a:rect b="b" l="l" r="r" t="t"/>
            <a:pathLst>
              <a:path extrusionOk="0" h="5132705" w="1389380">
                <a:moveTo>
                  <a:pt x="0" y="0"/>
                </a:moveTo>
                <a:lnTo>
                  <a:pt x="1389061" y="0"/>
                </a:lnTo>
                <a:lnTo>
                  <a:pt x="1389061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3651646" y="4163615"/>
            <a:ext cx="289559" cy="288131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" name="Google Shape;71;p15"/>
          <p:cNvPicPr preferRelativeResize="0"/>
          <p:nvPr/>
        </p:nvPicPr>
        <p:blipFill rotWithShape="1">
          <a:blip r:embed="rId3">
            <a:alphaModFix/>
          </a:blip>
          <a:srcRect b="0" l="0" r="2190" t="0"/>
          <a:stretch/>
        </p:blipFill>
        <p:spPr>
          <a:xfrm>
            <a:off x="1416113" y="1790531"/>
            <a:ext cx="7728133" cy="1562437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/>
          <p:nvPr/>
        </p:nvSpPr>
        <p:spPr>
          <a:xfrm>
            <a:off x="2343150" y="1096766"/>
            <a:ext cx="6800850" cy="114648"/>
          </a:xfrm>
          <a:custGeom>
            <a:rect b="b" l="l" r="r" t="t"/>
            <a:pathLst>
              <a:path extrusionOk="0" h="344805" w="9067800">
                <a:moveTo>
                  <a:pt x="0" y="0"/>
                </a:moveTo>
                <a:lnTo>
                  <a:pt x="9067799" y="0"/>
                </a:lnTo>
                <a:lnTo>
                  <a:pt x="9067799" y="344486"/>
                </a:lnTo>
                <a:lnTo>
                  <a:pt x="0" y="344486"/>
                </a:lnTo>
                <a:lnTo>
                  <a:pt x="0" y="0"/>
                </a:lnTo>
                <a:close/>
              </a:path>
            </a:pathLst>
          </a:cu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3" name="Google Shape;73;p15"/>
          <p:cNvPicPr preferRelativeResize="0"/>
          <p:nvPr/>
        </p:nvPicPr>
        <p:blipFill rotWithShape="1">
          <a:blip r:embed="rId4">
            <a:alphaModFix/>
          </a:blip>
          <a:srcRect b="17577" l="0" r="0" t="17297"/>
          <a:stretch/>
        </p:blipFill>
        <p:spPr>
          <a:xfrm>
            <a:off x="2650060" y="133594"/>
            <a:ext cx="2119369" cy="7887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5"/>
          <p:cNvSpPr txBox="1"/>
          <p:nvPr/>
        </p:nvSpPr>
        <p:spPr>
          <a:xfrm>
            <a:off x="4834341" y="274031"/>
            <a:ext cx="1659600" cy="50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s" sz="12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2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4755816" y="349313"/>
            <a:ext cx="21300" cy="3393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/>
          <p:nvPr/>
        </p:nvSpPr>
        <p:spPr>
          <a:xfrm>
            <a:off x="0" y="1294208"/>
            <a:ext cx="182403" cy="3849529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6"/>
          <p:cNvSpPr/>
          <p:nvPr/>
        </p:nvSpPr>
        <p:spPr>
          <a:xfrm>
            <a:off x="3499246" y="4451747"/>
            <a:ext cx="5644991" cy="694571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3640568" y="4580578"/>
            <a:ext cx="289559" cy="288131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6"/>
          <p:cNvSpPr txBox="1"/>
          <p:nvPr>
            <p:ph type="title"/>
          </p:nvPr>
        </p:nvSpPr>
        <p:spPr>
          <a:xfrm>
            <a:off x="437719" y="943096"/>
            <a:ext cx="8311500" cy="7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 sz="4500"/>
              <a:t>Programación I - Clase 7</a:t>
            </a:r>
            <a:endParaRPr sz="4500"/>
          </a:p>
        </p:txBody>
      </p:sp>
      <p:sp>
        <p:nvSpPr>
          <p:cNvPr id="84" name="Google Shape;84;p16"/>
          <p:cNvSpPr txBox="1"/>
          <p:nvPr/>
        </p:nvSpPr>
        <p:spPr>
          <a:xfrm>
            <a:off x="714244" y="2069156"/>
            <a:ext cx="7758600" cy="16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475">
            <a:spAutoFit/>
          </a:bodyPr>
          <a:lstStyle/>
          <a:p>
            <a:pPr indent="0" lvl="0" marL="12700" marR="0" rtl="0" algn="ctr">
              <a:lnSpc>
                <a:spcPct val="102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" sz="2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Johan Sebastian Piña Duran</a:t>
            </a:r>
            <a:endParaRPr b="0" i="0" sz="2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0" rtl="0" algn="ctr">
              <a:lnSpc>
                <a:spcPct val="8425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ctr">
              <a:lnSpc>
                <a:spcPct val="8425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ctr">
              <a:lnSpc>
                <a:spcPct val="8425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Universidad de Caldas</a:t>
            </a:r>
            <a:endParaRPr b="0" i="0" sz="2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0" rtl="0" algn="ctr">
              <a:lnSpc>
                <a:spcPct val="8425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0" rtl="0" algn="ctr">
              <a:lnSpc>
                <a:spcPct val="8425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0" rtl="0" algn="ctr">
              <a:lnSpc>
                <a:spcPct val="703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s" sz="2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johan.duran@ucaldas.edu.co</a:t>
            </a:r>
            <a:endParaRPr b="0" i="0" sz="2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85" name="Google Shape;85;p16"/>
          <p:cNvPicPr preferRelativeResize="0"/>
          <p:nvPr/>
        </p:nvPicPr>
        <p:blipFill rotWithShape="1">
          <a:blip r:embed="rId3">
            <a:alphaModFix/>
          </a:blip>
          <a:srcRect b="17577" l="0" r="0" t="17297"/>
          <a:stretch/>
        </p:blipFill>
        <p:spPr>
          <a:xfrm>
            <a:off x="86250" y="154388"/>
            <a:ext cx="2119369" cy="7887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6"/>
          <p:cNvSpPr txBox="1"/>
          <p:nvPr/>
        </p:nvSpPr>
        <p:spPr>
          <a:xfrm>
            <a:off x="2270531" y="294825"/>
            <a:ext cx="1659600" cy="50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s" sz="12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2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2192006" y="370106"/>
            <a:ext cx="21300" cy="3393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/>
          <p:nvPr/>
        </p:nvSpPr>
        <p:spPr>
          <a:xfrm>
            <a:off x="0" y="1294208"/>
            <a:ext cx="182403" cy="3849529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7"/>
          <p:cNvSpPr/>
          <p:nvPr/>
        </p:nvSpPr>
        <p:spPr>
          <a:xfrm>
            <a:off x="6888806" y="4742270"/>
            <a:ext cx="2257996" cy="40172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7"/>
          <p:cNvSpPr/>
          <p:nvPr/>
        </p:nvSpPr>
        <p:spPr>
          <a:xfrm>
            <a:off x="6965655" y="4833749"/>
            <a:ext cx="219100" cy="219940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p17"/>
          <p:cNvPicPr preferRelativeResize="0"/>
          <p:nvPr/>
        </p:nvPicPr>
        <p:blipFill rotWithShape="1">
          <a:blip r:embed="rId3">
            <a:alphaModFix/>
          </a:blip>
          <a:srcRect b="17577" l="0" r="0" t="17297"/>
          <a:stretch/>
        </p:blipFill>
        <p:spPr>
          <a:xfrm>
            <a:off x="0" y="0"/>
            <a:ext cx="2119369" cy="7887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7"/>
          <p:cNvSpPr/>
          <p:nvPr/>
        </p:nvSpPr>
        <p:spPr>
          <a:xfrm>
            <a:off x="0" y="845850"/>
            <a:ext cx="2639400" cy="528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7"/>
          <p:cNvSpPr txBox="1"/>
          <p:nvPr>
            <p:ph type="title"/>
          </p:nvPr>
        </p:nvSpPr>
        <p:spPr>
          <a:xfrm>
            <a:off x="707250" y="1281956"/>
            <a:ext cx="2358900" cy="4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 sz="2800">
                <a:latin typeface="Trebuchet MS"/>
                <a:ea typeface="Trebuchet MS"/>
                <a:cs typeface="Trebuchet MS"/>
                <a:sym typeface="Trebuchet MS"/>
              </a:rPr>
              <a:t>Agenda</a:t>
            </a:r>
            <a:endParaRPr sz="28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8" name="Google Shape;98;p17"/>
          <p:cNvSpPr txBox="1"/>
          <p:nvPr/>
        </p:nvSpPr>
        <p:spPr>
          <a:xfrm>
            <a:off x="2184150" y="130106"/>
            <a:ext cx="1659600" cy="50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s" sz="12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2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99" name="Google Shape;99;p17"/>
          <p:cNvSpPr/>
          <p:nvPr/>
        </p:nvSpPr>
        <p:spPr>
          <a:xfrm>
            <a:off x="2105625" y="205388"/>
            <a:ext cx="21300" cy="3393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7"/>
          <p:cNvSpPr txBox="1"/>
          <p:nvPr/>
        </p:nvSpPr>
        <p:spPr>
          <a:xfrm>
            <a:off x="637800" y="1923019"/>
            <a:ext cx="5116800" cy="25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-31115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Trebuchet MS"/>
              <a:buAutoNum type="arabicPeriod"/>
            </a:pPr>
            <a:r>
              <a:rPr b="0" i="0" lang="es" sz="23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Introducción a estructuras repetitivas</a:t>
            </a:r>
            <a:endParaRPr b="0" i="0" sz="23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1150" lvl="1" marL="685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Trebuchet MS"/>
              <a:buChar char="○"/>
            </a:pPr>
            <a:r>
              <a:rPr b="0" i="0" lang="es" sz="23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Condicionales sí pero 				¿A qué costo?</a:t>
            </a:r>
            <a:endParaRPr b="0" i="0" sz="23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1150" lvl="1" marL="685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Trebuchet MS"/>
              <a:buChar char="○"/>
            </a:pPr>
            <a:r>
              <a:rPr b="0" i="0" lang="es" sz="23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Estructuras de repetición</a:t>
            </a:r>
            <a:endParaRPr b="0" i="0" sz="23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2. Ciclo for</a:t>
            </a:r>
            <a:endParaRPr b="0" i="0" sz="23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01" name="Google Shape;10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05856" y="1684031"/>
            <a:ext cx="2570381" cy="2570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/>
          <p:nvPr/>
        </p:nvSpPr>
        <p:spPr>
          <a:xfrm>
            <a:off x="0" y="1294208"/>
            <a:ext cx="182403" cy="3849529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8"/>
          <p:cNvSpPr/>
          <p:nvPr/>
        </p:nvSpPr>
        <p:spPr>
          <a:xfrm>
            <a:off x="6888806" y="4742270"/>
            <a:ext cx="2257996" cy="40172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8"/>
          <p:cNvSpPr/>
          <p:nvPr/>
        </p:nvSpPr>
        <p:spPr>
          <a:xfrm>
            <a:off x="6965655" y="4833749"/>
            <a:ext cx="219100" cy="219940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" name="Google Shape;109;p18"/>
          <p:cNvPicPr preferRelativeResize="0"/>
          <p:nvPr/>
        </p:nvPicPr>
        <p:blipFill rotWithShape="1">
          <a:blip r:embed="rId3">
            <a:alphaModFix/>
          </a:blip>
          <a:srcRect b="17577" l="0" r="0" t="17297"/>
          <a:stretch/>
        </p:blipFill>
        <p:spPr>
          <a:xfrm>
            <a:off x="0" y="0"/>
            <a:ext cx="2119369" cy="78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8"/>
          <p:cNvSpPr/>
          <p:nvPr/>
        </p:nvSpPr>
        <p:spPr>
          <a:xfrm>
            <a:off x="0" y="845850"/>
            <a:ext cx="2639400" cy="528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8"/>
          <p:cNvSpPr txBox="1"/>
          <p:nvPr/>
        </p:nvSpPr>
        <p:spPr>
          <a:xfrm>
            <a:off x="2184150" y="130106"/>
            <a:ext cx="1659600" cy="50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s" sz="12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2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112" name="Google Shape;112;p18"/>
          <p:cNvSpPr/>
          <p:nvPr/>
        </p:nvSpPr>
        <p:spPr>
          <a:xfrm>
            <a:off x="2105625" y="205388"/>
            <a:ext cx="21300" cy="3393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8"/>
          <p:cNvSpPr txBox="1"/>
          <p:nvPr>
            <p:ph type="title"/>
          </p:nvPr>
        </p:nvSpPr>
        <p:spPr>
          <a:xfrm>
            <a:off x="597525" y="2050538"/>
            <a:ext cx="3519600" cy="10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 sz="3200">
                <a:solidFill>
                  <a:srgbClr val="39C8B0"/>
                </a:solidFill>
                <a:latin typeface="Trebuchet MS"/>
                <a:ea typeface="Trebuchet MS"/>
                <a:cs typeface="Trebuchet MS"/>
                <a:sym typeface="Trebuchet MS"/>
              </a:rPr>
              <a:t>Condicionales sí pero ¿A qué costo?</a:t>
            </a:r>
            <a:endParaRPr sz="3200">
              <a:solidFill>
                <a:srgbClr val="39C8B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14" name="Google Shape;11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32325" y="1143919"/>
            <a:ext cx="4431319" cy="316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9"/>
          <p:cNvSpPr/>
          <p:nvPr/>
        </p:nvSpPr>
        <p:spPr>
          <a:xfrm>
            <a:off x="0" y="1294208"/>
            <a:ext cx="182403" cy="3849529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9"/>
          <p:cNvSpPr/>
          <p:nvPr/>
        </p:nvSpPr>
        <p:spPr>
          <a:xfrm>
            <a:off x="5121938" y="-2"/>
            <a:ext cx="4026760" cy="382953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1" name="Google Shape;121;p19"/>
          <p:cNvPicPr preferRelativeResize="0"/>
          <p:nvPr/>
        </p:nvPicPr>
        <p:blipFill rotWithShape="1">
          <a:blip r:embed="rId3">
            <a:alphaModFix/>
          </a:blip>
          <a:srcRect b="17577" l="0" r="0" t="17297"/>
          <a:stretch/>
        </p:blipFill>
        <p:spPr>
          <a:xfrm>
            <a:off x="0" y="0"/>
            <a:ext cx="2119369" cy="78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9"/>
          <p:cNvSpPr/>
          <p:nvPr/>
        </p:nvSpPr>
        <p:spPr>
          <a:xfrm>
            <a:off x="0" y="845850"/>
            <a:ext cx="2639400" cy="528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9"/>
          <p:cNvSpPr txBox="1"/>
          <p:nvPr/>
        </p:nvSpPr>
        <p:spPr>
          <a:xfrm>
            <a:off x="2184150" y="130106"/>
            <a:ext cx="1659600" cy="50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s" sz="12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2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124" name="Google Shape;124;p19"/>
          <p:cNvSpPr/>
          <p:nvPr/>
        </p:nvSpPr>
        <p:spPr>
          <a:xfrm>
            <a:off x="2105625" y="205388"/>
            <a:ext cx="21300" cy="3393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9"/>
          <p:cNvSpPr txBox="1"/>
          <p:nvPr/>
        </p:nvSpPr>
        <p:spPr>
          <a:xfrm>
            <a:off x="5164275" y="0"/>
            <a:ext cx="3968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s" sz="1500" u="none" cap="none" strike="noStrike">
                <a:solidFill>
                  <a:srgbClr val="003870"/>
                </a:solidFill>
                <a:latin typeface="Trebuchet MS"/>
                <a:ea typeface="Trebuchet MS"/>
                <a:cs typeface="Trebuchet MS"/>
                <a:sym typeface="Trebuchet MS"/>
              </a:rPr>
              <a:t>Python</a:t>
            </a:r>
            <a:endParaRPr b="1" i="0" sz="1500" u="none" cap="none" strike="noStrike">
              <a:solidFill>
                <a:srgbClr val="00387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6" name="Google Shape;126;p19"/>
          <p:cNvSpPr/>
          <p:nvPr/>
        </p:nvSpPr>
        <p:spPr>
          <a:xfrm>
            <a:off x="6888806" y="4742270"/>
            <a:ext cx="2257996" cy="40172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9"/>
          <p:cNvSpPr/>
          <p:nvPr/>
        </p:nvSpPr>
        <p:spPr>
          <a:xfrm>
            <a:off x="6965655" y="4833749"/>
            <a:ext cx="219100" cy="219940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9"/>
          <p:cNvSpPr txBox="1"/>
          <p:nvPr/>
        </p:nvSpPr>
        <p:spPr>
          <a:xfrm>
            <a:off x="724781" y="1311488"/>
            <a:ext cx="75867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s" sz="2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Ingresa por teclado el nombre y la edad de 10 usuarios, muestra los datos y valida lo ingresado.</a:t>
            </a:r>
            <a:endParaRPr b="0" i="0" sz="2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9" name="Google Shape;129;p19"/>
          <p:cNvSpPr txBox="1"/>
          <p:nvPr/>
        </p:nvSpPr>
        <p:spPr>
          <a:xfrm>
            <a:off x="2002329" y="2463141"/>
            <a:ext cx="5031600" cy="1754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s" sz="1500" u="none" cap="none" strike="noStrike">
                <a:solidFill>
                  <a:srgbClr val="0000CD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1" i="0" lang="es" sz="15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i="0" lang="es" sz="1500" u="none" cap="none" strike="noStrike">
                <a:solidFill>
                  <a:srgbClr val="DD4A68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“Ingrese el nombre del usuario 1:”</a:t>
            </a:r>
            <a:r>
              <a:rPr b="1" i="0" lang="es" sz="15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i="0" sz="1500" u="none" cap="none" strike="noStrike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s" sz="15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nombre_1 = </a:t>
            </a:r>
            <a:r>
              <a:rPr b="1" i="0" lang="es" sz="1500" u="none" cap="none" strike="noStrike">
                <a:solidFill>
                  <a:srgbClr val="0000CD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b="1" i="0" lang="es" sz="15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i="0" lang="es" sz="1500" u="none" cap="none" strike="noStrike">
                <a:solidFill>
                  <a:srgbClr val="0000CD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b="1" i="0" lang="es" sz="15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())</a:t>
            </a:r>
            <a:endParaRPr b="1" i="0" sz="1500" u="none" cap="none" strike="noStrike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s" sz="1500" u="none" cap="none" strike="noStrike">
                <a:solidFill>
                  <a:srgbClr val="0000CD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1" i="0" lang="es" sz="15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i="0" lang="es" sz="1500" u="none" cap="none" strike="noStrike">
                <a:solidFill>
                  <a:srgbClr val="DD4A68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“Ingrese la edad del usuario 1:”</a:t>
            </a:r>
            <a:r>
              <a:rPr b="1" i="0" lang="es" sz="15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i="0" sz="1500" u="none" cap="none" strike="noStrike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s" sz="15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edad_1 = </a:t>
            </a:r>
            <a:r>
              <a:rPr b="1" i="0" lang="es" sz="1500" u="none" cap="none" strike="noStrike">
                <a:solidFill>
                  <a:srgbClr val="0000CD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i="0" lang="es" sz="15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i="0" lang="es" sz="1500" u="none" cap="none" strike="noStrike">
                <a:solidFill>
                  <a:srgbClr val="0000CD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b="1" i="0" lang="es" sz="15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())</a:t>
            </a:r>
            <a:endParaRPr b="1" i="0" sz="1500" u="none" cap="none" strike="noStrike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1" lang="es" sz="1500" u="none" cap="none" strike="noStrike">
                <a:solidFill>
                  <a:srgbClr val="2FBA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# Repetir el proceso 9 veces más </a:t>
            </a:r>
            <a:endParaRPr b="0" i="1" sz="1500" u="none" cap="none" strike="noStrike">
              <a:solidFill>
                <a:srgbClr val="2FBA00"/>
              </a:solidFill>
              <a:highlight>
                <a:srgbClr val="FCFCF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/>
          <p:nvPr/>
        </p:nvSpPr>
        <p:spPr>
          <a:xfrm>
            <a:off x="1068601" y="2405138"/>
            <a:ext cx="6747300" cy="2216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500" u="none" cap="none" strike="noStrike">
                <a:solidFill>
                  <a:srgbClr val="0000C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1" i="0" lang="es" sz="15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i="0" lang="es" sz="1500" u="none" cap="none" strike="noStrike">
                <a:solidFill>
                  <a:srgbClr val="DD4A6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“Ingrese los datos del usuario 1”</a:t>
            </a:r>
            <a:r>
              <a:rPr b="1" i="0" lang="es" sz="15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i="0" sz="1500" u="none" cap="none" strike="noStrike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5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nombre = </a:t>
            </a:r>
            <a:r>
              <a:rPr b="1" i="0" lang="es" sz="1500" u="none" cap="none" strike="noStrike">
                <a:solidFill>
                  <a:srgbClr val="0000C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b="1" i="0" lang="es" sz="15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i="0" lang="es" sz="1500" u="none" cap="none" strike="noStrike">
                <a:solidFill>
                  <a:srgbClr val="0000C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b="1" i="0" lang="es" sz="15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i="0" lang="es" sz="1500" u="none" cap="none" strike="noStrike">
                <a:solidFill>
                  <a:srgbClr val="DD4A6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“Ingrese nombre completo:”</a:t>
            </a:r>
            <a:r>
              <a:rPr b="1" i="0" lang="es" sz="15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i="0" sz="1500" u="none" cap="none" strike="noStrike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s" sz="15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cc = </a:t>
            </a:r>
            <a:r>
              <a:rPr b="1" i="0" lang="es" sz="1500" u="none" cap="none" strike="noStrike">
                <a:solidFill>
                  <a:srgbClr val="0000CD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float</a:t>
            </a:r>
            <a:r>
              <a:rPr b="1" i="0" lang="es" sz="15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i="0" lang="es" sz="1500" u="none" cap="none" strike="noStrike">
                <a:solidFill>
                  <a:srgbClr val="0000CD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b="1" i="0" lang="es" sz="15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i="0" lang="es" sz="1500" u="none" cap="none" strike="noStrike">
                <a:solidFill>
                  <a:srgbClr val="DD4A68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“Ingrese CC:”</a:t>
            </a:r>
            <a:r>
              <a:rPr b="1" i="0" lang="es" sz="15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i="0" sz="1500" u="none" cap="none" strike="noStrike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s" sz="15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direccion = </a:t>
            </a:r>
            <a:r>
              <a:rPr b="1" i="0" lang="es" sz="1500" u="none" cap="none" strike="noStrike">
                <a:solidFill>
                  <a:srgbClr val="0000CD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b="1" i="0" lang="es" sz="15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i="0" lang="es" sz="1500" u="none" cap="none" strike="noStrike">
                <a:solidFill>
                  <a:srgbClr val="0000CD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b="1" i="0" lang="es" sz="15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i="0" lang="es" sz="1500" u="none" cap="none" strike="noStrike">
                <a:solidFill>
                  <a:srgbClr val="DD4A68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“Ingrese dirección completa:”</a:t>
            </a:r>
            <a:r>
              <a:rPr b="1" i="0" lang="es" sz="15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i="0" sz="1500" u="none" cap="none" strike="noStrike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s" sz="15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codigop = </a:t>
            </a:r>
            <a:r>
              <a:rPr b="1" i="0" lang="es" sz="1500" u="none" cap="none" strike="noStrike">
                <a:solidFill>
                  <a:srgbClr val="0000CD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i="0" lang="es" sz="15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i="0" lang="es" sz="1500" u="none" cap="none" strike="noStrike">
                <a:solidFill>
                  <a:srgbClr val="0000CD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b="1" i="0" lang="es" sz="15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i="0" lang="es" sz="1500" u="none" cap="none" strike="noStrike">
                <a:solidFill>
                  <a:srgbClr val="DD4A68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“Ingrese codigo postal:”</a:t>
            </a:r>
            <a:r>
              <a:rPr b="1" i="0" lang="es" sz="15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i="0" sz="1500" u="none" cap="none" strike="noStrike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s" sz="15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NE = </a:t>
            </a:r>
            <a:r>
              <a:rPr b="1" i="0" lang="es" sz="1500" u="none" cap="none" strike="noStrike">
                <a:solidFill>
                  <a:srgbClr val="0000CD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b="1" i="0" lang="es" sz="15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i="0" lang="es" sz="1500" u="none" cap="none" strike="noStrike">
                <a:solidFill>
                  <a:srgbClr val="0000CD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b="1" i="0" lang="es" sz="15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i="0" lang="es" sz="1500" u="none" cap="none" strike="noStrike">
                <a:solidFill>
                  <a:srgbClr val="DD4A68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“Ingrese nivel educativo:”</a:t>
            </a:r>
            <a:r>
              <a:rPr b="1" i="0" lang="es" sz="15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i="0" sz="1500" u="none" cap="none" strike="noStrike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s" sz="15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civil = </a:t>
            </a:r>
            <a:r>
              <a:rPr b="1" i="0" lang="es" sz="1500" u="none" cap="none" strike="noStrike">
                <a:solidFill>
                  <a:srgbClr val="0000CD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b="1" i="0" lang="es" sz="15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i="0" lang="es" sz="1500" u="none" cap="none" strike="noStrike">
                <a:solidFill>
                  <a:srgbClr val="0000CD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b="1" i="0" lang="es" sz="15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i="0" lang="es" sz="1500" u="none" cap="none" strike="noStrike">
                <a:solidFill>
                  <a:srgbClr val="DD4A68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“Ingrese estado civil:”</a:t>
            </a:r>
            <a:r>
              <a:rPr b="1" i="0" lang="es" sz="15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i="0" sz="1500" u="none" cap="none" strike="noStrike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1" lang="es" sz="1500" u="none" cap="none" strike="noStrike">
                <a:solidFill>
                  <a:srgbClr val="2FBA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# Repetir el proceso 50 veces más?</a:t>
            </a:r>
            <a:endParaRPr b="1" i="0" sz="1500" u="none" cap="none" strike="noStrike">
              <a:solidFill>
                <a:srgbClr val="2FBA00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5" name="Google Shape;135;p20"/>
          <p:cNvSpPr/>
          <p:nvPr/>
        </p:nvSpPr>
        <p:spPr>
          <a:xfrm>
            <a:off x="0" y="1294208"/>
            <a:ext cx="182403" cy="3849529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0"/>
          <p:cNvSpPr/>
          <p:nvPr/>
        </p:nvSpPr>
        <p:spPr>
          <a:xfrm>
            <a:off x="5121938" y="-2"/>
            <a:ext cx="4026760" cy="382953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7" name="Google Shape;137;p20"/>
          <p:cNvPicPr preferRelativeResize="0"/>
          <p:nvPr/>
        </p:nvPicPr>
        <p:blipFill rotWithShape="1">
          <a:blip r:embed="rId3">
            <a:alphaModFix/>
          </a:blip>
          <a:srcRect b="17577" l="0" r="0" t="17297"/>
          <a:stretch/>
        </p:blipFill>
        <p:spPr>
          <a:xfrm>
            <a:off x="0" y="0"/>
            <a:ext cx="2119369" cy="78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0"/>
          <p:cNvSpPr/>
          <p:nvPr/>
        </p:nvSpPr>
        <p:spPr>
          <a:xfrm>
            <a:off x="0" y="845850"/>
            <a:ext cx="2639400" cy="528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0"/>
          <p:cNvSpPr txBox="1"/>
          <p:nvPr/>
        </p:nvSpPr>
        <p:spPr>
          <a:xfrm>
            <a:off x="2184150" y="130106"/>
            <a:ext cx="1659600" cy="50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s" sz="12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2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140" name="Google Shape;140;p20"/>
          <p:cNvSpPr/>
          <p:nvPr/>
        </p:nvSpPr>
        <p:spPr>
          <a:xfrm>
            <a:off x="2105625" y="205388"/>
            <a:ext cx="21300" cy="3393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0"/>
          <p:cNvSpPr txBox="1"/>
          <p:nvPr/>
        </p:nvSpPr>
        <p:spPr>
          <a:xfrm>
            <a:off x="5164275" y="0"/>
            <a:ext cx="3968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s" sz="1500" u="none" cap="none" strike="noStrike">
                <a:solidFill>
                  <a:srgbClr val="003870"/>
                </a:solidFill>
                <a:latin typeface="Trebuchet MS"/>
                <a:ea typeface="Trebuchet MS"/>
                <a:cs typeface="Trebuchet MS"/>
                <a:sym typeface="Trebuchet MS"/>
              </a:rPr>
              <a:t>Python</a:t>
            </a:r>
            <a:endParaRPr b="1" i="0" sz="1500" u="none" cap="none" strike="noStrike">
              <a:solidFill>
                <a:srgbClr val="00387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2" name="Google Shape;142;p20"/>
          <p:cNvSpPr/>
          <p:nvPr/>
        </p:nvSpPr>
        <p:spPr>
          <a:xfrm>
            <a:off x="6888806" y="4742270"/>
            <a:ext cx="2257996" cy="40172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0"/>
          <p:cNvSpPr/>
          <p:nvPr/>
        </p:nvSpPr>
        <p:spPr>
          <a:xfrm>
            <a:off x="6965655" y="4833749"/>
            <a:ext cx="219100" cy="219940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0"/>
          <p:cNvSpPr txBox="1"/>
          <p:nvPr/>
        </p:nvSpPr>
        <p:spPr>
          <a:xfrm>
            <a:off x="714225" y="1294069"/>
            <a:ext cx="74562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s" sz="1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Ingresa por teclado el nombre, CC, dirección, código postal, nivel educativo y estado civil de 50 usuarios, y muestra los datos.</a:t>
            </a:r>
            <a:endParaRPr b="0" i="0" sz="19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1"/>
          <p:cNvSpPr txBox="1"/>
          <p:nvPr/>
        </p:nvSpPr>
        <p:spPr>
          <a:xfrm>
            <a:off x="1068601" y="2405138"/>
            <a:ext cx="6747300" cy="2216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500" u="none" cap="none" strike="noStrike">
                <a:solidFill>
                  <a:srgbClr val="0000C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1" i="0" lang="es" sz="15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i="0" lang="es" sz="1500" u="none" cap="none" strike="noStrike">
                <a:solidFill>
                  <a:srgbClr val="DD4A6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“Ingrese los datos del usuario 1”</a:t>
            </a:r>
            <a:r>
              <a:rPr b="1" i="0" lang="es" sz="15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i="0" sz="1500" u="none" cap="none" strike="noStrike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5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nombre = </a:t>
            </a:r>
            <a:r>
              <a:rPr b="1" i="0" lang="es" sz="1500" u="none" cap="none" strike="noStrike">
                <a:solidFill>
                  <a:srgbClr val="0000C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b="1" i="0" lang="es" sz="15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i="0" lang="es" sz="1500" u="none" cap="none" strike="noStrike">
                <a:solidFill>
                  <a:srgbClr val="0000C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b="1" i="0" lang="es" sz="15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i="0" lang="es" sz="1500" u="none" cap="none" strike="noStrike">
                <a:solidFill>
                  <a:srgbClr val="DD4A6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“Ingrese nombre completo:”</a:t>
            </a:r>
            <a:r>
              <a:rPr b="1" i="0" lang="es" sz="15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i="0" sz="1500" u="none" cap="none" strike="noStrike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s" sz="15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cc = </a:t>
            </a:r>
            <a:r>
              <a:rPr b="1" i="0" lang="es" sz="1500" u="none" cap="none" strike="noStrike">
                <a:solidFill>
                  <a:srgbClr val="0000CD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float</a:t>
            </a:r>
            <a:r>
              <a:rPr b="1" i="0" lang="es" sz="15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i="0" lang="es" sz="1500" u="none" cap="none" strike="noStrike">
                <a:solidFill>
                  <a:srgbClr val="0000CD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b="1" i="0" lang="es" sz="15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i="0" lang="es" sz="1500" u="none" cap="none" strike="noStrike">
                <a:solidFill>
                  <a:srgbClr val="DD4A68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“Ingrese CC:”</a:t>
            </a:r>
            <a:r>
              <a:rPr b="1" i="0" lang="es" sz="15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i="0" sz="1500" u="none" cap="none" strike="noStrike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s" sz="15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direccion = </a:t>
            </a:r>
            <a:r>
              <a:rPr b="1" i="0" lang="es" sz="1500" u="none" cap="none" strike="noStrike">
                <a:solidFill>
                  <a:srgbClr val="0000CD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b="1" i="0" lang="es" sz="15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i="0" lang="es" sz="1500" u="none" cap="none" strike="noStrike">
                <a:solidFill>
                  <a:srgbClr val="0000CD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b="1" i="0" lang="es" sz="15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i="0" lang="es" sz="1500" u="none" cap="none" strike="noStrike">
                <a:solidFill>
                  <a:srgbClr val="DD4A68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“Ingrese dirección completa:”</a:t>
            </a:r>
            <a:r>
              <a:rPr b="1" i="0" lang="es" sz="15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i="0" sz="1500" u="none" cap="none" strike="noStrike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s" sz="15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codigop = </a:t>
            </a:r>
            <a:r>
              <a:rPr b="1" i="0" lang="es" sz="1500" u="none" cap="none" strike="noStrike">
                <a:solidFill>
                  <a:srgbClr val="0000CD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i="0" lang="es" sz="15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i="0" lang="es" sz="1500" u="none" cap="none" strike="noStrike">
                <a:solidFill>
                  <a:srgbClr val="0000CD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b="1" i="0" lang="es" sz="15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i="0" lang="es" sz="1500" u="none" cap="none" strike="noStrike">
                <a:solidFill>
                  <a:srgbClr val="DD4A68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“Ingrese codigo postal:”</a:t>
            </a:r>
            <a:r>
              <a:rPr b="1" i="0" lang="es" sz="15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i="0" sz="1500" u="none" cap="none" strike="noStrike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s" sz="15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NE = </a:t>
            </a:r>
            <a:r>
              <a:rPr b="1" i="0" lang="es" sz="1500" u="none" cap="none" strike="noStrike">
                <a:solidFill>
                  <a:srgbClr val="0000CD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b="1" i="0" lang="es" sz="15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i="0" lang="es" sz="1500" u="none" cap="none" strike="noStrike">
                <a:solidFill>
                  <a:srgbClr val="0000CD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b="1" i="0" lang="es" sz="15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i="0" lang="es" sz="1500" u="none" cap="none" strike="noStrike">
                <a:solidFill>
                  <a:srgbClr val="DD4A68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“Ingrese nivel educativo:”</a:t>
            </a:r>
            <a:r>
              <a:rPr b="1" i="0" lang="es" sz="15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i="0" sz="1500" u="none" cap="none" strike="noStrike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s" sz="15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civil = </a:t>
            </a:r>
            <a:r>
              <a:rPr b="1" i="0" lang="es" sz="1500" u="none" cap="none" strike="noStrike">
                <a:solidFill>
                  <a:srgbClr val="0000CD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b="1" i="0" lang="es" sz="15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i="0" lang="es" sz="1500" u="none" cap="none" strike="noStrike">
                <a:solidFill>
                  <a:srgbClr val="0000CD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b="1" i="0" lang="es" sz="15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i="0" lang="es" sz="1500" u="none" cap="none" strike="noStrike">
                <a:solidFill>
                  <a:srgbClr val="DD4A68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“Ingrese estado civil:”</a:t>
            </a:r>
            <a:r>
              <a:rPr b="1" i="0" lang="es" sz="15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i="0" sz="1500" u="none" cap="none" strike="noStrike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1" lang="es" sz="1500" u="none" cap="none" strike="noStrike">
                <a:solidFill>
                  <a:srgbClr val="2FBA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# Repetir el proceso 50 veces más?</a:t>
            </a:r>
            <a:endParaRPr b="1" i="0" sz="1500" u="none" cap="none" strike="noStrike">
              <a:solidFill>
                <a:srgbClr val="2FBA00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0" name="Google Shape;150;p21"/>
          <p:cNvSpPr/>
          <p:nvPr/>
        </p:nvSpPr>
        <p:spPr>
          <a:xfrm>
            <a:off x="0" y="1294208"/>
            <a:ext cx="182403" cy="3849529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1"/>
          <p:cNvSpPr/>
          <p:nvPr/>
        </p:nvSpPr>
        <p:spPr>
          <a:xfrm>
            <a:off x="5121938" y="-2"/>
            <a:ext cx="4026760" cy="382953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p21"/>
          <p:cNvPicPr preferRelativeResize="0"/>
          <p:nvPr/>
        </p:nvPicPr>
        <p:blipFill rotWithShape="1">
          <a:blip r:embed="rId3">
            <a:alphaModFix/>
          </a:blip>
          <a:srcRect b="17577" l="0" r="0" t="17297"/>
          <a:stretch/>
        </p:blipFill>
        <p:spPr>
          <a:xfrm>
            <a:off x="0" y="0"/>
            <a:ext cx="2119369" cy="78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1"/>
          <p:cNvSpPr/>
          <p:nvPr/>
        </p:nvSpPr>
        <p:spPr>
          <a:xfrm>
            <a:off x="0" y="845850"/>
            <a:ext cx="2639400" cy="528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1"/>
          <p:cNvSpPr txBox="1"/>
          <p:nvPr/>
        </p:nvSpPr>
        <p:spPr>
          <a:xfrm>
            <a:off x="2184150" y="130106"/>
            <a:ext cx="1659600" cy="50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s" sz="12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2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155" name="Google Shape;155;p21"/>
          <p:cNvSpPr/>
          <p:nvPr/>
        </p:nvSpPr>
        <p:spPr>
          <a:xfrm>
            <a:off x="2105625" y="205388"/>
            <a:ext cx="21300" cy="3393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1"/>
          <p:cNvSpPr txBox="1"/>
          <p:nvPr/>
        </p:nvSpPr>
        <p:spPr>
          <a:xfrm>
            <a:off x="5164275" y="0"/>
            <a:ext cx="3968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s" sz="1500" u="none" cap="none" strike="noStrike">
                <a:solidFill>
                  <a:srgbClr val="003870"/>
                </a:solidFill>
                <a:latin typeface="Trebuchet MS"/>
                <a:ea typeface="Trebuchet MS"/>
                <a:cs typeface="Trebuchet MS"/>
                <a:sym typeface="Trebuchet MS"/>
              </a:rPr>
              <a:t>Python</a:t>
            </a:r>
            <a:endParaRPr b="1" i="0" sz="1500" u="none" cap="none" strike="noStrike">
              <a:solidFill>
                <a:srgbClr val="00387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7" name="Google Shape;157;p21"/>
          <p:cNvSpPr/>
          <p:nvPr/>
        </p:nvSpPr>
        <p:spPr>
          <a:xfrm>
            <a:off x="6888806" y="4742270"/>
            <a:ext cx="2257996" cy="40172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1"/>
          <p:cNvSpPr/>
          <p:nvPr/>
        </p:nvSpPr>
        <p:spPr>
          <a:xfrm>
            <a:off x="6965655" y="4833749"/>
            <a:ext cx="219100" cy="219940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1"/>
          <p:cNvSpPr txBox="1"/>
          <p:nvPr/>
        </p:nvSpPr>
        <p:spPr>
          <a:xfrm>
            <a:off x="714225" y="1294069"/>
            <a:ext cx="74562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s" sz="1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Ingresa por teclado el nombre, CC, dirección, código postal, nivel educativo y estado civil de 50 usuarios, y muestra los datos.</a:t>
            </a:r>
            <a:endParaRPr b="0" i="0" sz="19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0" name="Google Shape;160;p21"/>
          <p:cNvSpPr/>
          <p:nvPr/>
        </p:nvSpPr>
        <p:spPr>
          <a:xfrm>
            <a:off x="5818726" y="637931"/>
            <a:ext cx="3380076" cy="2494800"/>
          </a:xfrm>
          <a:prstGeom prst="cloud">
            <a:avLst/>
          </a:prstGeom>
          <a:solidFill>
            <a:srgbClr val="FFE59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Ahora solo imagina hacer 350 variables para guardar y mostrarselas al usuario. Es inviable y acabas saturado</a:t>
            </a:r>
            <a:endParaRPr b="1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61" name="Google Shape;16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85000" y="2622901"/>
            <a:ext cx="2119369" cy="2119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2"/>
          <p:cNvSpPr/>
          <p:nvPr/>
        </p:nvSpPr>
        <p:spPr>
          <a:xfrm>
            <a:off x="0" y="1294208"/>
            <a:ext cx="182403" cy="3849529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2"/>
          <p:cNvSpPr/>
          <p:nvPr/>
        </p:nvSpPr>
        <p:spPr>
          <a:xfrm>
            <a:off x="5121938" y="-2"/>
            <a:ext cx="4026760" cy="382953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8" name="Google Shape;168;p22"/>
          <p:cNvPicPr preferRelativeResize="0"/>
          <p:nvPr/>
        </p:nvPicPr>
        <p:blipFill rotWithShape="1">
          <a:blip r:embed="rId3">
            <a:alphaModFix/>
          </a:blip>
          <a:srcRect b="17582" l="0" r="0" t="17296"/>
          <a:stretch/>
        </p:blipFill>
        <p:spPr>
          <a:xfrm>
            <a:off x="0" y="0"/>
            <a:ext cx="2119369" cy="78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2"/>
          <p:cNvSpPr/>
          <p:nvPr/>
        </p:nvSpPr>
        <p:spPr>
          <a:xfrm>
            <a:off x="0" y="845850"/>
            <a:ext cx="2639400" cy="528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2"/>
          <p:cNvSpPr txBox="1"/>
          <p:nvPr/>
        </p:nvSpPr>
        <p:spPr>
          <a:xfrm>
            <a:off x="2184150" y="130106"/>
            <a:ext cx="1659600" cy="50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s" sz="12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2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171" name="Google Shape;171;p22"/>
          <p:cNvSpPr/>
          <p:nvPr/>
        </p:nvSpPr>
        <p:spPr>
          <a:xfrm>
            <a:off x="2105625" y="205388"/>
            <a:ext cx="21300" cy="3393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2"/>
          <p:cNvSpPr txBox="1"/>
          <p:nvPr/>
        </p:nvSpPr>
        <p:spPr>
          <a:xfrm>
            <a:off x="5164275" y="0"/>
            <a:ext cx="3968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s" sz="1500" u="none" cap="none" strike="noStrike">
                <a:solidFill>
                  <a:srgbClr val="003870"/>
                </a:solidFill>
                <a:latin typeface="Trebuchet MS"/>
                <a:ea typeface="Trebuchet MS"/>
                <a:cs typeface="Trebuchet MS"/>
                <a:sym typeface="Trebuchet MS"/>
              </a:rPr>
              <a:t>Estructuras repetitivas</a:t>
            </a:r>
            <a:endParaRPr b="1" i="0" sz="1500" u="none" cap="none" strike="noStrike">
              <a:solidFill>
                <a:srgbClr val="00387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73" name="Google Shape;173;p22"/>
          <p:cNvSpPr/>
          <p:nvPr/>
        </p:nvSpPr>
        <p:spPr>
          <a:xfrm>
            <a:off x="6888806" y="4742270"/>
            <a:ext cx="2257996" cy="40172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2"/>
          <p:cNvSpPr/>
          <p:nvPr/>
        </p:nvSpPr>
        <p:spPr>
          <a:xfrm>
            <a:off x="6965655" y="4833749"/>
            <a:ext cx="219100" cy="219940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2"/>
          <p:cNvSpPr txBox="1"/>
          <p:nvPr>
            <p:ph type="title"/>
          </p:nvPr>
        </p:nvSpPr>
        <p:spPr>
          <a:xfrm>
            <a:off x="666844" y="1349569"/>
            <a:ext cx="4060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 sz="3000">
                <a:latin typeface="Trebuchet MS"/>
                <a:ea typeface="Trebuchet MS"/>
                <a:cs typeface="Trebuchet MS"/>
                <a:sym typeface="Trebuchet MS"/>
              </a:rPr>
              <a:t>Estructuras repetitivas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6" name="Google Shape;176;p22"/>
          <p:cNvSpPr txBox="1"/>
          <p:nvPr/>
        </p:nvSpPr>
        <p:spPr>
          <a:xfrm>
            <a:off x="596194" y="2014331"/>
            <a:ext cx="51213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s" sz="17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Los programas utilizados hasta este momento han examinado conceptos de programación, tales como entradas, salidas, asignaciones, expresiones y operaciones, sentencias secuenciales y de selección. Sin embargo, </a:t>
            </a:r>
            <a:r>
              <a:rPr b="1" i="0" lang="es" sz="17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muchos problemas requieren de características de repetición, en las que algunos cálculos o secuencia de instrucciones se repiten una y otra vez</a:t>
            </a:r>
            <a:r>
              <a:rPr b="0" i="0" lang="es" sz="17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, utilizando diferentes conjuntos de datos.</a:t>
            </a:r>
            <a:endParaRPr b="0" i="0" sz="1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77" name="Google Shape;17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31213" y="1427156"/>
            <a:ext cx="2757769" cy="27577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3"/>
          <p:cNvSpPr/>
          <p:nvPr/>
        </p:nvSpPr>
        <p:spPr>
          <a:xfrm>
            <a:off x="0" y="1294208"/>
            <a:ext cx="182403" cy="3849529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3"/>
          <p:cNvSpPr/>
          <p:nvPr/>
        </p:nvSpPr>
        <p:spPr>
          <a:xfrm>
            <a:off x="5121938" y="-2"/>
            <a:ext cx="4026760" cy="382953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4" name="Google Shape;184;p23"/>
          <p:cNvPicPr preferRelativeResize="0"/>
          <p:nvPr/>
        </p:nvPicPr>
        <p:blipFill rotWithShape="1">
          <a:blip r:embed="rId3">
            <a:alphaModFix/>
          </a:blip>
          <a:srcRect b="17582" l="0" r="0" t="17296"/>
          <a:stretch/>
        </p:blipFill>
        <p:spPr>
          <a:xfrm>
            <a:off x="0" y="0"/>
            <a:ext cx="2119369" cy="78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3"/>
          <p:cNvSpPr/>
          <p:nvPr/>
        </p:nvSpPr>
        <p:spPr>
          <a:xfrm>
            <a:off x="0" y="845850"/>
            <a:ext cx="2639400" cy="528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3"/>
          <p:cNvSpPr txBox="1"/>
          <p:nvPr/>
        </p:nvSpPr>
        <p:spPr>
          <a:xfrm>
            <a:off x="2184150" y="130106"/>
            <a:ext cx="1659600" cy="50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s" sz="12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2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187" name="Google Shape;187;p23"/>
          <p:cNvSpPr/>
          <p:nvPr/>
        </p:nvSpPr>
        <p:spPr>
          <a:xfrm>
            <a:off x="2105625" y="205388"/>
            <a:ext cx="21300" cy="3393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3"/>
          <p:cNvSpPr txBox="1"/>
          <p:nvPr/>
        </p:nvSpPr>
        <p:spPr>
          <a:xfrm>
            <a:off x="5164275" y="0"/>
            <a:ext cx="3968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s" sz="1500" u="none" cap="none" strike="noStrike">
                <a:solidFill>
                  <a:srgbClr val="003870"/>
                </a:solidFill>
                <a:latin typeface="Trebuchet MS"/>
                <a:ea typeface="Trebuchet MS"/>
                <a:cs typeface="Trebuchet MS"/>
                <a:sym typeface="Trebuchet MS"/>
              </a:rPr>
              <a:t>Estructuras repetitivas</a:t>
            </a:r>
            <a:endParaRPr b="1" i="0" sz="1500" u="none" cap="none" strike="noStrike">
              <a:solidFill>
                <a:srgbClr val="00387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89" name="Google Shape;189;p23"/>
          <p:cNvSpPr/>
          <p:nvPr/>
        </p:nvSpPr>
        <p:spPr>
          <a:xfrm>
            <a:off x="6888806" y="4742270"/>
            <a:ext cx="2257996" cy="40172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3"/>
          <p:cNvSpPr/>
          <p:nvPr/>
        </p:nvSpPr>
        <p:spPr>
          <a:xfrm>
            <a:off x="6965655" y="4833749"/>
            <a:ext cx="219100" cy="219940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3"/>
          <p:cNvSpPr txBox="1"/>
          <p:nvPr>
            <p:ph type="title"/>
          </p:nvPr>
        </p:nvSpPr>
        <p:spPr>
          <a:xfrm>
            <a:off x="561769" y="1375238"/>
            <a:ext cx="7784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 sz="3000">
                <a:latin typeface="Trebuchet MS"/>
                <a:ea typeface="Trebuchet MS"/>
                <a:cs typeface="Trebuchet MS"/>
                <a:sym typeface="Trebuchet MS"/>
              </a:rPr>
              <a:t>Ejemplo - Introducción a iteración y bucle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2" name="Google Shape;192;p23"/>
          <p:cNvSpPr txBox="1"/>
          <p:nvPr/>
        </p:nvSpPr>
        <p:spPr>
          <a:xfrm>
            <a:off x="678000" y="2126419"/>
            <a:ext cx="75984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s" sz="17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Supongamos que se desea sumar una lista de números escritos desde teclado, por ejemplo, calificaciones de los alumnos de una clase. </a:t>
            </a:r>
            <a:endParaRPr b="0" i="0" sz="1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s" sz="17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El medio conocido hasta ahora es leer los números y añadir sus valores a una variable </a:t>
            </a:r>
            <a:r>
              <a:rPr b="0" i="0" lang="es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SUMA </a:t>
            </a:r>
            <a:r>
              <a:rPr b="0" i="0" lang="es" sz="17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que contenga las sucesivas sumas parciales. El valor de </a:t>
            </a:r>
            <a:r>
              <a:rPr b="0" i="0" lang="es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SUMA </a:t>
            </a:r>
            <a:r>
              <a:rPr b="0" i="0" lang="es" sz="17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se incrementa cada vez que se lea un nuevo número.</a:t>
            </a:r>
            <a:endParaRPr b="0" i="0" sz="1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4"/>
          <p:cNvSpPr/>
          <p:nvPr/>
        </p:nvSpPr>
        <p:spPr>
          <a:xfrm>
            <a:off x="0" y="1294208"/>
            <a:ext cx="182403" cy="3849529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4"/>
          <p:cNvSpPr/>
          <p:nvPr/>
        </p:nvSpPr>
        <p:spPr>
          <a:xfrm>
            <a:off x="5121938" y="-2"/>
            <a:ext cx="4026760" cy="382953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9" name="Google Shape;199;p24"/>
          <p:cNvPicPr preferRelativeResize="0"/>
          <p:nvPr/>
        </p:nvPicPr>
        <p:blipFill rotWithShape="1">
          <a:blip r:embed="rId3">
            <a:alphaModFix/>
          </a:blip>
          <a:srcRect b="17582" l="0" r="0" t="17296"/>
          <a:stretch/>
        </p:blipFill>
        <p:spPr>
          <a:xfrm>
            <a:off x="0" y="0"/>
            <a:ext cx="2119369" cy="78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4"/>
          <p:cNvSpPr/>
          <p:nvPr/>
        </p:nvSpPr>
        <p:spPr>
          <a:xfrm>
            <a:off x="0" y="845850"/>
            <a:ext cx="2639400" cy="528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4"/>
          <p:cNvSpPr txBox="1"/>
          <p:nvPr/>
        </p:nvSpPr>
        <p:spPr>
          <a:xfrm>
            <a:off x="2184150" y="130106"/>
            <a:ext cx="1659600" cy="50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s" sz="12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2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202" name="Google Shape;202;p24"/>
          <p:cNvSpPr/>
          <p:nvPr/>
        </p:nvSpPr>
        <p:spPr>
          <a:xfrm>
            <a:off x="2105625" y="205388"/>
            <a:ext cx="21300" cy="3393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4"/>
          <p:cNvSpPr txBox="1"/>
          <p:nvPr/>
        </p:nvSpPr>
        <p:spPr>
          <a:xfrm>
            <a:off x="5164275" y="0"/>
            <a:ext cx="3968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s" sz="1500" u="none" cap="none" strike="noStrike">
                <a:solidFill>
                  <a:srgbClr val="003870"/>
                </a:solidFill>
                <a:latin typeface="Trebuchet MS"/>
                <a:ea typeface="Trebuchet MS"/>
                <a:cs typeface="Trebuchet MS"/>
                <a:sym typeface="Trebuchet MS"/>
              </a:rPr>
              <a:t>Estructuras repetitivas</a:t>
            </a:r>
            <a:endParaRPr b="0" i="0" sz="1500" u="none" cap="none" strike="noStrike">
              <a:solidFill>
                <a:srgbClr val="00387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04" name="Google Shape;204;p24"/>
          <p:cNvSpPr/>
          <p:nvPr/>
        </p:nvSpPr>
        <p:spPr>
          <a:xfrm>
            <a:off x="6888806" y="4742270"/>
            <a:ext cx="2257996" cy="40172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4"/>
          <p:cNvSpPr/>
          <p:nvPr/>
        </p:nvSpPr>
        <p:spPr>
          <a:xfrm>
            <a:off x="6965655" y="4833749"/>
            <a:ext cx="219100" cy="219940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4"/>
          <p:cNvSpPr txBox="1"/>
          <p:nvPr/>
        </p:nvSpPr>
        <p:spPr>
          <a:xfrm>
            <a:off x="4348575" y="954188"/>
            <a:ext cx="4232100" cy="21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s" sz="17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El algoritmo incrementa el valor de </a:t>
            </a:r>
            <a:r>
              <a:rPr b="0" i="0" lang="es" sz="17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SUMA </a:t>
            </a:r>
            <a:r>
              <a:rPr b="0" i="0" lang="es" sz="17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cada vez que se lee una variable </a:t>
            </a:r>
            <a:r>
              <a:rPr b="0" i="0" lang="es" sz="17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numero</a:t>
            </a:r>
            <a:r>
              <a:rPr b="0" i="0" lang="es" sz="17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" sz="17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En este algoritmo se repiten muchas veces las acciones:</a:t>
            </a:r>
            <a:endParaRPr b="0" i="0" sz="1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342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s" sz="15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leer(</a:t>
            </a:r>
            <a:r>
              <a:rPr b="0" i="0" lang="es" sz="15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numero</a:t>
            </a:r>
            <a:r>
              <a:rPr b="1" i="0" lang="es" sz="15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i="0" sz="1500" u="none" cap="none" strike="noStrike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s" sz="15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SUMA = SUMA + número</a:t>
            </a:r>
            <a:endParaRPr b="0" i="0" sz="1500" u="none" cap="none" strike="noStrike">
              <a:solidFill>
                <a:schemeClr val="dk1"/>
              </a:solidFill>
              <a:highlight>
                <a:schemeClr val="lt1"/>
              </a:highlight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07" name="Google Shape;207;p24"/>
          <p:cNvSpPr txBox="1"/>
          <p:nvPr/>
        </p:nvSpPr>
        <p:spPr>
          <a:xfrm>
            <a:off x="654263" y="1557769"/>
            <a:ext cx="3222600" cy="3140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s" sz="15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algoritmo </a:t>
            </a:r>
            <a:r>
              <a:rPr b="0" i="0" lang="es" sz="15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suma</a:t>
            </a:r>
            <a:endParaRPr b="0" i="0" sz="1500" u="none" cap="none" strike="noStrike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s" sz="15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var entero: </a:t>
            </a:r>
            <a:r>
              <a:rPr b="0" i="0" lang="es" sz="15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SUMA, numero</a:t>
            </a:r>
            <a:endParaRPr b="0" i="0" sz="1500" u="none" cap="none" strike="noStrike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s" sz="15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inicio</a:t>
            </a:r>
            <a:endParaRPr b="1" i="0" sz="1500" u="none" cap="none" strike="noStrike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s" sz="15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SUMA = 0</a:t>
            </a:r>
            <a:endParaRPr b="0" i="0" sz="1500" u="none" cap="none" strike="noStrike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s" sz="15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leer(</a:t>
            </a:r>
            <a:r>
              <a:rPr b="0" i="0" lang="es" sz="15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numero</a:t>
            </a:r>
            <a:r>
              <a:rPr b="1" i="0" lang="es" sz="15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i="0" sz="1500" u="none" cap="none" strike="noStrike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s" sz="15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SUMA = SUMA + numero</a:t>
            </a:r>
            <a:endParaRPr b="0" i="0" sz="1500" u="none" cap="none" strike="noStrike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s" sz="15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leer(</a:t>
            </a:r>
            <a:r>
              <a:rPr b="0" i="0" lang="es" sz="15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numero</a:t>
            </a:r>
            <a:r>
              <a:rPr b="1" i="0" lang="es" sz="15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i="0" sz="1500" u="none" cap="none" strike="noStrike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s" sz="15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SUMA = SUMA + numero</a:t>
            </a:r>
            <a:endParaRPr b="0" i="0" sz="1500" u="none" cap="none" strike="noStrike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s" sz="15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leer(</a:t>
            </a:r>
            <a:r>
              <a:rPr b="0" i="0" lang="es" sz="15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numero</a:t>
            </a:r>
            <a:r>
              <a:rPr b="1" i="0" lang="es" sz="15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i="0" sz="1500" u="none" cap="none" strike="noStrike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s" sz="15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SUMA = SUMA + número</a:t>
            </a:r>
            <a:endParaRPr b="0" i="0" sz="1500" u="none" cap="none" strike="noStrike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s" sz="15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leer(</a:t>
            </a:r>
            <a:r>
              <a:rPr b="0" i="0" lang="es" sz="15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numero</a:t>
            </a:r>
            <a:r>
              <a:rPr b="1" i="0" lang="es" sz="15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i="0" sz="1500" u="none" cap="none" strike="noStrike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s" sz="15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SUMA = SUMA + número</a:t>
            </a:r>
            <a:endParaRPr b="0" i="0" sz="1500" u="none" cap="none" strike="noStrike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s" sz="15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fin</a:t>
            </a:r>
            <a:endParaRPr b="1" i="0" sz="1500" u="none" cap="none" strike="noStrike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8" name="Google Shape;208;p24"/>
          <p:cNvSpPr txBox="1"/>
          <p:nvPr/>
        </p:nvSpPr>
        <p:spPr>
          <a:xfrm>
            <a:off x="654263" y="1106644"/>
            <a:ext cx="1823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s" sz="1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Pseudocodigo</a:t>
            </a:r>
            <a:endParaRPr b="0" i="1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5"/>
          <p:cNvSpPr/>
          <p:nvPr/>
        </p:nvSpPr>
        <p:spPr>
          <a:xfrm>
            <a:off x="0" y="1294208"/>
            <a:ext cx="182403" cy="3849529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5"/>
          <p:cNvSpPr/>
          <p:nvPr/>
        </p:nvSpPr>
        <p:spPr>
          <a:xfrm>
            <a:off x="5121938" y="-2"/>
            <a:ext cx="4026760" cy="382953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5" name="Google Shape;215;p25"/>
          <p:cNvPicPr preferRelativeResize="0"/>
          <p:nvPr/>
        </p:nvPicPr>
        <p:blipFill rotWithShape="1">
          <a:blip r:embed="rId3">
            <a:alphaModFix/>
          </a:blip>
          <a:srcRect b="17582" l="0" r="0" t="17296"/>
          <a:stretch/>
        </p:blipFill>
        <p:spPr>
          <a:xfrm>
            <a:off x="0" y="0"/>
            <a:ext cx="2119369" cy="78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5"/>
          <p:cNvSpPr/>
          <p:nvPr/>
        </p:nvSpPr>
        <p:spPr>
          <a:xfrm>
            <a:off x="0" y="845850"/>
            <a:ext cx="2639400" cy="528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5"/>
          <p:cNvSpPr txBox="1"/>
          <p:nvPr/>
        </p:nvSpPr>
        <p:spPr>
          <a:xfrm>
            <a:off x="2184150" y="130106"/>
            <a:ext cx="1659600" cy="50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s" sz="12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2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218" name="Google Shape;218;p25"/>
          <p:cNvSpPr/>
          <p:nvPr/>
        </p:nvSpPr>
        <p:spPr>
          <a:xfrm>
            <a:off x="2105625" y="205388"/>
            <a:ext cx="21300" cy="3393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5"/>
          <p:cNvSpPr txBox="1"/>
          <p:nvPr/>
        </p:nvSpPr>
        <p:spPr>
          <a:xfrm>
            <a:off x="5164275" y="0"/>
            <a:ext cx="3968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s" sz="1500" u="none" cap="none" strike="noStrike">
                <a:solidFill>
                  <a:srgbClr val="003870"/>
                </a:solidFill>
                <a:latin typeface="Trebuchet MS"/>
                <a:ea typeface="Trebuchet MS"/>
                <a:cs typeface="Trebuchet MS"/>
                <a:sym typeface="Trebuchet MS"/>
              </a:rPr>
              <a:t>Estructuras repetitivas</a:t>
            </a:r>
            <a:endParaRPr b="0" i="0" sz="1500" u="none" cap="none" strike="noStrike">
              <a:solidFill>
                <a:srgbClr val="00387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20" name="Google Shape;220;p25"/>
          <p:cNvSpPr/>
          <p:nvPr/>
        </p:nvSpPr>
        <p:spPr>
          <a:xfrm>
            <a:off x="6888806" y="4742270"/>
            <a:ext cx="2257996" cy="40172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5"/>
          <p:cNvSpPr/>
          <p:nvPr/>
        </p:nvSpPr>
        <p:spPr>
          <a:xfrm>
            <a:off x="6965655" y="4833749"/>
            <a:ext cx="219100" cy="219940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5"/>
          <p:cNvSpPr txBox="1"/>
          <p:nvPr/>
        </p:nvSpPr>
        <p:spPr>
          <a:xfrm>
            <a:off x="654263" y="1557769"/>
            <a:ext cx="3222600" cy="3140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s" sz="15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algoritmo </a:t>
            </a:r>
            <a:r>
              <a:rPr b="0" i="0" lang="es" sz="15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suma</a:t>
            </a:r>
            <a:endParaRPr b="0" i="0" sz="1500" u="none" cap="none" strike="noStrike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s" sz="15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var entero: </a:t>
            </a:r>
            <a:r>
              <a:rPr b="0" i="0" lang="es" sz="15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SUMA, numero</a:t>
            </a:r>
            <a:endParaRPr b="0" i="0" sz="1500" u="none" cap="none" strike="noStrike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s" sz="15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inicio</a:t>
            </a:r>
            <a:endParaRPr b="1" i="0" sz="1500" u="none" cap="none" strike="noStrike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s" sz="15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SUMA = 0</a:t>
            </a:r>
            <a:endParaRPr b="0" i="0" sz="1500" u="none" cap="none" strike="noStrike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s" sz="15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leer(</a:t>
            </a:r>
            <a:r>
              <a:rPr b="0" i="0" lang="es" sz="15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numero</a:t>
            </a:r>
            <a:r>
              <a:rPr b="1" i="0" lang="es" sz="15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i="0" sz="1500" u="none" cap="none" strike="noStrike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s" sz="15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SUMA = SUMA + numero</a:t>
            </a:r>
            <a:endParaRPr b="0" i="0" sz="1500" u="none" cap="none" strike="noStrike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s" sz="15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leer(</a:t>
            </a:r>
            <a:r>
              <a:rPr b="0" i="0" lang="es" sz="15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numero</a:t>
            </a:r>
            <a:r>
              <a:rPr b="1" i="0" lang="es" sz="15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i="0" sz="1500" u="none" cap="none" strike="noStrike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s" sz="15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SUMA = SUMA + numero</a:t>
            </a:r>
            <a:endParaRPr b="0" i="0" sz="1500" u="none" cap="none" strike="noStrike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s" sz="15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leer(</a:t>
            </a:r>
            <a:r>
              <a:rPr b="0" i="0" lang="es" sz="15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numero</a:t>
            </a:r>
            <a:r>
              <a:rPr b="1" i="0" lang="es" sz="15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i="0" sz="1500" u="none" cap="none" strike="noStrike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s" sz="15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SUMA = SUMA + número</a:t>
            </a:r>
            <a:endParaRPr b="0" i="0" sz="1500" u="none" cap="none" strike="noStrike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s" sz="15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leer(</a:t>
            </a:r>
            <a:r>
              <a:rPr b="0" i="0" lang="es" sz="15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numero</a:t>
            </a:r>
            <a:r>
              <a:rPr b="1" i="0" lang="es" sz="15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i="0" sz="1500" u="none" cap="none" strike="noStrike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s" sz="15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SUMA = SUMA + número</a:t>
            </a:r>
            <a:endParaRPr b="0" i="0" sz="1500" u="none" cap="none" strike="noStrike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s" sz="15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fin</a:t>
            </a:r>
            <a:endParaRPr b="1" i="0" sz="1500" u="none" cap="none" strike="noStrike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3" name="Google Shape;223;p25"/>
          <p:cNvSpPr txBox="1"/>
          <p:nvPr/>
        </p:nvSpPr>
        <p:spPr>
          <a:xfrm>
            <a:off x="4348575" y="3279506"/>
            <a:ext cx="4512600" cy="1293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Las estructuras que repiten una secuencia de instrucciones un número determinado de veces se denominan </a:t>
            </a:r>
            <a:r>
              <a:rPr b="1" i="0" lang="es" sz="15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bucles</a:t>
            </a:r>
            <a:r>
              <a:rPr b="0" i="0" lang="es" sz="15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y se denomina </a:t>
            </a:r>
            <a:r>
              <a:rPr b="1" i="0" lang="es" sz="15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iteración </a:t>
            </a:r>
            <a:r>
              <a:rPr b="0" i="0" lang="es" sz="15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al hecho de repetir la ejecución de una secuencia de acciones.</a:t>
            </a:r>
            <a:endParaRPr b="0" i="0" sz="15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24" name="Google Shape;224;p25"/>
          <p:cNvSpPr txBox="1"/>
          <p:nvPr/>
        </p:nvSpPr>
        <p:spPr>
          <a:xfrm>
            <a:off x="4348575" y="954188"/>
            <a:ext cx="4232100" cy="21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s" sz="17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El algoritmo incrementa el valor de </a:t>
            </a:r>
            <a:r>
              <a:rPr b="0" i="0" lang="es" sz="17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SUMA </a:t>
            </a:r>
            <a:r>
              <a:rPr b="0" i="0" lang="es" sz="17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cada vez que se lee una variable </a:t>
            </a:r>
            <a:r>
              <a:rPr b="0" i="0" lang="es" sz="17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numero</a:t>
            </a:r>
            <a:r>
              <a:rPr b="0" i="0" lang="es" sz="17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" sz="17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En este algoritmo se repiten muchas veces las acciones:</a:t>
            </a:r>
            <a:endParaRPr b="0" i="0" sz="1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342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s" sz="15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leer(</a:t>
            </a:r>
            <a:r>
              <a:rPr b="0" i="0" lang="es" sz="15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numero</a:t>
            </a:r>
            <a:r>
              <a:rPr b="1" i="0" lang="es" sz="15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i="0" sz="1500" u="none" cap="none" strike="noStrike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s" sz="15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SUMA = SUMA + número</a:t>
            </a:r>
            <a:endParaRPr b="0" i="0" sz="1500" u="none" cap="none" strike="noStrike">
              <a:solidFill>
                <a:schemeClr val="dk1"/>
              </a:solidFill>
              <a:highlight>
                <a:schemeClr val="lt1"/>
              </a:highlight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25" name="Google Shape;225;p25"/>
          <p:cNvSpPr txBox="1"/>
          <p:nvPr/>
        </p:nvSpPr>
        <p:spPr>
          <a:xfrm>
            <a:off x="654263" y="1106644"/>
            <a:ext cx="1823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s" sz="1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Pseudocodigo</a:t>
            </a:r>
            <a:endParaRPr b="0" i="1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